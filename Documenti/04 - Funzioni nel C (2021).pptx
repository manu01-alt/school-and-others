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8" r:id="rId1"/>
  </p:sldMasterIdLst>
  <p:notesMasterIdLst>
    <p:notesMasterId r:id="rId6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72" r:id="rId13"/>
    <p:sldId id="268" r:id="rId14"/>
    <p:sldId id="270" r:id="rId15"/>
    <p:sldId id="271" r:id="rId16"/>
    <p:sldId id="273" r:id="rId17"/>
    <p:sldId id="276" r:id="rId18"/>
    <p:sldId id="277" r:id="rId19"/>
    <p:sldId id="278" r:id="rId20"/>
    <p:sldId id="340" r:id="rId21"/>
    <p:sldId id="279" r:id="rId22"/>
    <p:sldId id="287" r:id="rId23"/>
    <p:sldId id="280" r:id="rId24"/>
    <p:sldId id="281" r:id="rId25"/>
    <p:sldId id="348" r:id="rId26"/>
    <p:sldId id="275" r:id="rId27"/>
    <p:sldId id="286" r:id="rId28"/>
    <p:sldId id="283" r:id="rId29"/>
    <p:sldId id="284" r:id="rId30"/>
    <p:sldId id="285" r:id="rId31"/>
    <p:sldId id="274" r:id="rId32"/>
    <p:sldId id="350" r:id="rId33"/>
    <p:sldId id="288" r:id="rId34"/>
    <p:sldId id="300" r:id="rId35"/>
    <p:sldId id="299" r:id="rId36"/>
    <p:sldId id="291" r:id="rId37"/>
    <p:sldId id="290" r:id="rId38"/>
    <p:sldId id="334" r:id="rId39"/>
    <p:sldId id="333" r:id="rId40"/>
    <p:sldId id="353" r:id="rId41"/>
    <p:sldId id="337" r:id="rId42"/>
    <p:sldId id="338" r:id="rId43"/>
    <p:sldId id="335" r:id="rId44"/>
    <p:sldId id="258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292" r:id="rId54"/>
    <p:sldId id="351" r:id="rId55"/>
    <p:sldId id="296" r:id="rId56"/>
    <p:sldId id="282" r:id="rId57"/>
    <p:sldId id="309" r:id="rId58"/>
    <p:sldId id="301" r:id="rId59"/>
    <p:sldId id="310" r:id="rId60"/>
    <p:sldId id="312" r:id="rId61"/>
    <p:sldId id="313" r:id="rId62"/>
    <p:sldId id="311" r:id="rId63"/>
    <p:sldId id="302" r:id="rId64"/>
    <p:sldId id="315" r:id="rId65"/>
    <p:sldId id="352" r:id="rId66"/>
  </p:sldIdLst>
  <p:sldSz cx="9144000" cy="6858000" type="screen4x3"/>
  <p:notesSz cx="7099300" cy="10234613"/>
  <p:custDataLst>
    <p:tags r:id="rId68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BFE8A"/>
    <a:srgbClr val="C8C8B1"/>
    <a:srgbClr val="7A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4660"/>
  </p:normalViewPr>
  <p:slideViewPr>
    <p:cSldViewPr>
      <p:cViewPr varScale="1">
        <p:scale>
          <a:sx n="135" d="100"/>
          <a:sy n="135" d="100"/>
        </p:scale>
        <p:origin x="-92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87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1E63F7-A846-4654-98AB-92F47C09A86D}" type="doc">
      <dgm:prSet loTypeId="urn:microsoft.com/office/officeart/2005/8/layout/lProcess3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it-IT"/>
        </a:p>
      </dgm:t>
    </dgm:pt>
    <dgm:pt modelId="{B6EE7587-0986-4C43-B3D7-3B339303289C}">
      <dgm:prSet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Scomposizione del problema</a:t>
          </a:r>
        </a:p>
      </dgm:t>
    </dgm:pt>
    <dgm:pt modelId="{364B4253-349D-4A1E-90CC-C26D76EBB68B}" type="parTrans" cxnId="{B1189A22-DA67-493B-989C-41BD7ADD252B}">
      <dgm:prSet/>
      <dgm:spPr/>
      <dgm:t>
        <a:bodyPr/>
        <a:lstStyle/>
        <a:p>
          <a:endParaRPr lang="it-IT"/>
        </a:p>
      </dgm:t>
    </dgm:pt>
    <dgm:pt modelId="{ADAC2257-03D3-4211-947F-E5CB0024C4C1}" type="sibTrans" cxnId="{B1189A22-DA67-493B-989C-41BD7ADD252B}">
      <dgm:prSet/>
      <dgm:spPr/>
      <dgm:t>
        <a:bodyPr/>
        <a:lstStyle/>
        <a:p>
          <a:endParaRPr lang="it-IT"/>
        </a:p>
      </dgm:t>
    </dgm:pt>
    <dgm:pt modelId="{78161170-6B51-46CF-860F-6A3CFB64B11F}">
      <dgm:prSet/>
      <dgm:spPr/>
      <dgm:t>
        <a:bodyPr/>
        <a:lstStyle/>
        <a:p>
          <a:r>
            <a:rPr lang="it-IT" dirty="0"/>
            <a:t>Riduzione della Ridondanza</a:t>
          </a:r>
        </a:p>
      </dgm:t>
    </dgm:pt>
    <dgm:pt modelId="{038AF733-70C2-4A82-9143-9B271EF4B39B}" type="parTrans" cxnId="{0FEC5434-55B4-47C2-9261-F4B2104E7ADA}">
      <dgm:prSet/>
      <dgm:spPr/>
      <dgm:t>
        <a:bodyPr/>
        <a:lstStyle/>
        <a:p>
          <a:endParaRPr lang="it-IT"/>
        </a:p>
      </dgm:t>
    </dgm:pt>
    <dgm:pt modelId="{34B61114-7B05-4771-BFA1-D1CF763684B4}" type="sibTrans" cxnId="{0FEC5434-55B4-47C2-9261-F4B2104E7ADA}">
      <dgm:prSet/>
      <dgm:spPr/>
      <dgm:t>
        <a:bodyPr/>
        <a:lstStyle/>
        <a:p>
          <a:endParaRPr lang="it-IT"/>
        </a:p>
      </dgm:t>
    </dgm:pt>
    <dgm:pt modelId="{37F58262-E116-4FFE-9135-900BCFBE2AE4}">
      <dgm:prSet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Semplificazione del codice</a:t>
          </a:r>
        </a:p>
      </dgm:t>
    </dgm:pt>
    <dgm:pt modelId="{522BF51A-3768-4C68-B85F-0F1DE87278C6}" type="parTrans" cxnId="{A943BD7A-ED2E-43B4-A3E8-E41B2184763C}">
      <dgm:prSet/>
      <dgm:spPr/>
      <dgm:t>
        <a:bodyPr/>
        <a:lstStyle/>
        <a:p>
          <a:endParaRPr lang="it-IT"/>
        </a:p>
      </dgm:t>
    </dgm:pt>
    <dgm:pt modelId="{ACA18000-E3A5-4C5B-B2D7-6D2745DE3459}" type="sibTrans" cxnId="{A943BD7A-ED2E-43B4-A3E8-E41B2184763C}">
      <dgm:prSet/>
      <dgm:spPr/>
      <dgm:t>
        <a:bodyPr/>
        <a:lstStyle/>
        <a:p>
          <a:endParaRPr lang="it-IT"/>
        </a:p>
      </dgm:t>
    </dgm:pt>
    <dgm:pt modelId="{10EE13F7-D791-4F4E-AEED-7765F7274C3A}">
      <dgm:prSet/>
      <dgm:spPr/>
      <dgm:t>
        <a:bodyPr/>
        <a:lstStyle/>
        <a:p>
          <a:r>
            <a:rPr lang="it-IT" dirty="0"/>
            <a:t>Miglior Leggibilità</a:t>
          </a:r>
        </a:p>
      </dgm:t>
    </dgm:pt>
    <dgm:pt modelId="{6F54A2CF-AD2A-4653-9444-1EC1E5B495F9}" type="parTrans" cxnId="{8F2F0BDD-2954-4607-8534-356A89CA1395}">
      <dgm:prSet/>
      <dgm:spPr/>
      <dgm:t>
        <a:bodyPr/>
        <a:lstStyle/>
        <a:p>
          <a:endParaRPr lang="it-IT"/>
        </a:p>
      </dgm:t>
    </dgm:pt>
    <dgm:pt modelId="{B0710F31-B16C-48C7-B702-020391C86472}" type="sibTrans" cxnId="{8F2F0BDD-2954-4607-8534-356A89CA1395}">
      <dgm:prSet/>
      <dgm:spPr/>
      <dgm:t>
        <a:bodyPr/>
        <a:lstStyle/>
        <a:p>
          <a:endParaRPr lang="it-IT"/>
        </a:p>
      </dgm:t>
    </dgm:pt>
    <dgm:pt modelId="{7E6C4A83-277D-4B1E-BD3C-467666F13B8C}">
      <dgm:prSet/>
      <dgm:spPr/>
      <dgm:t>
        <a:bodyPr/>
        <a:lstStyle/>
        <a:p>
          <a:r>
            <a:rPr lang="it-IT" dirty="0"/>
            <a:t>Miglior Manutenibilità</a:t>
          </a:r>
        </a:p>
      </dgm:t>
    </dgm:pt>
    <dgm:pt modelId="{DA34B8B4-2297-48EF-A57F-7008F8955972}" type="parTrans" cxnId="{11799514-DC87-42B5-AB51-E1B603CB4D39}">
      <dgm:prSet/>
      <dgm:spPr/>
      <dgm:t>
        <a:bodyPr/>
        <a:lstStyle/>
        <a:p>
          <a:endParaRPr lang="it-IT"/>
        </a:p>
      </dgm:t>
    </dgm:pt>
    <dgm:pt modelId="{3A8223D7-B75F-4B44-91F4-7D7B65D4824F}" type="sibTrans" cxnId="{11799514-DC87-42B5-AB51-E1B603CB4D39}">
      <dgm:prSet/>
      <dgm:spPr/>
      <dgm:t>
        <a:bodyPr/>
        <a:lstStyle/>
        <a:p>
          <a:endParaRPr lang="it-IT"/>
        </a:p>
      </dgm:t>
    </dgm:pt>
    <dgm:pt modelId="{0FCC7BCF-E367-49D4-BFD8-594F7674E739}">
      <dgm:prSet/>
      <dgm:spPr/>
      <dgm:t>
        <a:bodyPr/>
        <a:lstStyle/>
        <a:p>
          <a:r>
            <a:rPr lang="it-IT" dirty="0"/>
            <a:t>Analisi funzionale</a:t>
          </a:r>
        </a:p>
      </dgm:t>
    </dgm:pt>
    <dgm:pt modelId="{9D63C8E9-5517-4B83-AE25-990233EB6500}" type="parTrans" cxnId="{38433F48-6019-4EEF-A120-7BA4CB85EC49}">
      <dgm:prSet/>
      <dgm:spPr/>
      <dgm:t>
        <a:bodyPr/>
        <a:lstStyle/>
        <a:p>
          <a:endParaRPr lang="it-IT"/>
        </a:p>
      </dgm:t>
    </dgm:pt>
    <dgm:pt modelId="{DE720AC4-9DB7-42B1-AB69-1A6D7FC97BB7}" type="sibTrans" cxnId="{38433F48-6019-4EEF-A120-7BA4CB85EC49}">
      <dgm:prSet/>
      <dgm:spPr/>
      <dgm:t>
        <a:bodyPr/>
        <a:lstStyle/>
        <a:p>
          <a:endParaRPr lang="it-IT"/>
        </a:p>
      </dgm:t>
    </dgm:pt>
    <dgm:pt modelId="{14B617F8-BD6B-4780-9A4E-A77899A2521D}">
      <dgm:prSet/>
      <dgm:spPr/>
      <dgm:t>
        <a:bodyPr/>
        <a:lstStyle/>
        <a:p>
          <a:r>
            <a:rPr lang="it-IT" dirty="0"/>
            <a:t>Più problemi semplificati</a:t>
          </a:r>
        </a:p>
      </dgm:t>
    </dgm:pt>
    <dgm:pt modelId="{34B59BD7-1301-40E6-8BDA-FE6A4F0F4B9B}" type="parTrans" cxnId="{D9BC0B35-F24A-4586-830D-72A866D3A4EE}">
      <dgm:prSet/>
      <dgm:spPr/>
      <dgm:t>
        <a:bodyPr/>
        <a:lstStyle/>
        <a:p>
          <a:endParaRPr lang="it-IT"/>
        </a:p>
      </dgm:t>
    </dgm:pt>
    <dgm:pt modelId="{F3AD5B54-3F7C-4176-BF91-95712191096C}" type="sibTrans" cxnId="{D9BC0B35-F24A-4586-830D-72A866D3A4EE}">
      <dgm:prSet/>
      <dgm:spPr/>
      <dgm:t>
        <a:bodyPr/>
        <a:lstStyle/>
        <a:p>
          <a:endParaRPr lang="it-IT"/>
        </a:p>
      </dgm:t>
    </dgm:pt>
    <dgm:pt modelId="{EE40D963-E13D-4F4D-A9FA-3CDBA56648C7}">
      <dgm:prSet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Efficienza del codice</a:t>
          </a:r>
        </a:p>
      </dgm:t>
    </dgm:pt>
    <dgm:pt modelId="{F83EC810-374F-4B34-8684-A1B6F7D5D993}" type="parTrans" cxnId="{7D2B4C77-2C32-4B91-B68B-819F86310769}">
      <dgm:prSet/>
      <dgm:spPr/>
      <dgm:t>
        <a:bodyPr/>
        <a:lstStyle/>
        <a:p>
          <a:endParaRPr lang="it-IT"/>
        </a:p>
      </dgm:t>
    </dgm:pt>
    <dgm:pt modelId="{238AB6CA-F6A3-41AE-9032-9E4F8DA32F90}" type="sibTrans" cxnId="{7D2B4C77-2C32-4B91-B68B-819F86310769}">
      <dgm:prSet/>
      <dgm:spPr/>
      <dgm:t>
        <a:bodyPr/>
        <a:lstStyle/>
        <a:p>
          <a:endParaRPr lang="it-IT"/>
        </a:p>
      </dgm:t>
    </dgm:pt>
    <dgm:pt modelId="{0E5FA5FE-EBD4-4CBB-A141-B5E23F0F314A}">
      <dgm:prSet/>
      <dgm:spPr/>
      <dgm:t>
        <a:bodyPr/>
        <a:lstStyle/>
        <a:p>
          <a:r>
            <a:rPr lang="it-IT" dirty="0"/>
            <a:t>Maggior compattezza</a:t>
          </a:r>
        </a:p>
      </dgm:t>
    </dgm:pt>
    <dgm:pt modelId="{B1BD3CE7-8AE4-458F-9A40-5613D826D77E}" type="parTrans" cxnId="{42430F29-7B9E-4C40-80BE-C42A43BF8888}">
      <dgm:prSet/>
      <dgm:spPr/>
      <dgm:t>
        <a:bodyPr/>
        <a:lstStyle/>
        <a:p>
          <a:endParaRPr lang="it-IT"/>
        </a:p>
      </dgm:t>
    </dgm:pt>
    <dgm:pt modelId="{0308CCAF-F296-45E6-AD86-87F483BD0EF6}" type="sibTrans" cxnId="{42430F29-7B9E-4C40-80BE-C42A43BF8888}">
      <dgm:prSet/>
      <dgm:spPr/>
      <dgm:t>
        <a:bodyPr/>
        <a:lstStyle/>
        <a:p>
          <a:endParaRPr lang="it-IT"/>
        </a:p>
      </dgm:t>
    </dgm:pt>
    <dgm:pt modelId="{342210FB-D697-4198-87E9-2867FBF21826}">
      <dgm:prSet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Astrazione</a:t>
          </a:r>
        </a:p>
      </dgm:t>
    </dgm:pt>
    <dgm:pt modelId="{10FF580C-F663-449D-BAFB-617B5AD424E1}" type="parTrans" cxnId="{A7D43C38-1626-4428-A1D0-8AAEB59915A1}">
      <dgm:prSet/>
      <dgm:spPr/>
      <dgm:t>
        <a:bodyPr/>
        <a:lstStyle/>
        <a:p>
          <a:endParaRPr lang="it-IT"/>
        </a:p>
      </dgm:t>
    </dgm:pt>
    <dgm:pt modelId="{DDE4A08E-3281-4CDD-96AA-42359C1C7FC2}" type="sibTrans" cxnId="{A7D43C38-1626-4428-A1D0-8AAEB59915A1}">
      <dgm:prSet/>
      <dgm:spPr/>
      <dgm:t>
        <a:bodyPr/>
        <a:lstStyle/>
        <a:p>
          <a:endParaRPr lang="it-IT"/>
        </a:p>
      </dgm:t>
    </dgm:pt>
    <dgm:pt modelId="{E87AE25C-0775-4332-80AB-829261982D1C}">
      <dgm:prSet/>
      <dgm:spPr/>
      <dgm:t>
        <a:bodyPr/>
        <a:lstStyle/>
        <a:p>
          <a:r>
            <a:rPr lang="it-IT" dirty="0"/>
            <a:t>Riciclabile in altri programmi</a:t>
          </a:r>
        </a:p>
      </dgm:t>
    </dgm:pt>
    <dgm:pt modelId="{AF1B0005-4FF3-409D-AE65-19156FBC410B}" type="parTrans" cxnId="{EDA20CF7-7FC9-418A-B318-BB12BBE6E886}">
      <dgm:prSet/>
      <dgm:spPr/>
      <dgm:t>
        <a:bodyPr/>
        <a:lstStyle/>
        <a:p>
          <a:endParaRPr lang="it-IT"/>
        </a:p>
      </dgm:t>
    </dgm:pt>
    <dgm:pt modelId="{4F53BF44-C9F2-4FE7-99EB-A3EBCB2A4869}" type="sibTrans" cxnId="{EDA20CF7-7FC9-418A-B318-BB12BBE6E886}">
      <dgm:prSet/>
      <dgm:spPr/>
      <dgm:t>
        <a:bodyPr/>
        <a:lstStyle/>
        <a:p>
          <a:endParaRPr lang="it-IT"/>
        </a:p>
      </dgm:t>
    </dgm:pt>
    <dgm:pt modelId="{DCDA06A3-2FF1-45B3-92E0-4C79B8D2E27E}">
      <dgm:prSet/>
      <dgm:spPr/>
      <dgm:t>
        <a:bodyPr/>
        <a:lstStyle/>
        <a:p>
          <a:r>
            <a:rPr lang="it-IT" dirty="0"/>
            <a:t>Nascondere i dettagli del codice</a:t>
          </a:r>
        </a:p>
      </dgm:t>
    </dgm:pt>
    <dgm:pt modelId="{228BD866-9ECC-402C-ADF2-0C2DEC94E33E}" type="parTrans" cxnId="{514A81C6-F45E-4E96-BD24-79B92C7EEF4B}">
      <dgm:prSet/>
      <dgm:spPr/>
      <dgm:t>
        <a:bodyPr/>
        <a:lstStyle/>
        <a:p>
          <a:endParaRPr lang="it-IT"/>
        </a:p>
      </dgm:t>
    </dgm:pt>
    <dgm:pt modelId="{DD362BE8-9AA2-4E0D-A475-5B540E78DCBF}" type="sibTrans" cxnId="{514A81C6-F45E-4E96-BD24-79B92C7EEF4B}">
      <dgm:prSet/>
      <dgm:spPr/>
      <dgm:t>
        <a:bodyPr/>
        <a:lstStyle/>
        <a:p>
          <a:endParaRPr lang="it-IT"/>
        </a:p>
      </dgm:t>
    </dgm:pt>
    <dgm:pt modelId="{EF6C61E0-EC29-47D2-BBB0-B57FFF4AFA2F}">
      <dgm:prSet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Riuso</a:t>
          </a:r>
        </a:p>
      </dgm:t>
    </dgm:pt>
    <dgm:pt modelId="{6E170EEE-9DDB-45D8-B7F2-052F9A54FB81}" type="parTrans" cxnId="{0B1F67CB-259D-420C-AA81-069A6BF63065}">
      <dgm:prSet/>
      <dgm:spPr/>
      <dgm:t>
        <a:bodyPr/>
        <a:lstStyle/>
        <a:p>
          <a:endParaRPr lang="it-IT"/>
        </a:p>
      </dgm:t>
    </dgm:pt>
    <dgm:pt modelId="{6BF049B5-C9E0-4520-A060-35A46766AC8F}" type="sibTrans" cxnId="{0B1F67CB-259D-420C-AA81-069A6BF63065}">
      <dgm:prSet/>
      <dgm:spPr/>
      <dgm:t>
        <a:bodyPr/>
        <a:lstStyle/>
        <a:p>
          <a:endParaRPr lang="it-IT"/>
        </a:p>
      </dgm:t>
    </dgm:pt>
    <dgm:pt modelId="{1F9A82E5-04DA-4D0E-8D7C-1ECC080125E5}">
      <dgm:prSet/>
      <dgm:spPr/>
      <dgm:t>
        <a:bodyPr/>
        <a:lstStyle/>
        <a:p>
          <a:r>
            <a:rPr lang="it-IT" dirty="0"/>
            <a:t>Modificabilità</a:t>
          </a:r>
        </a:p>
      </dgm:t>
    </dgm:pt>
    <dgm:pt modelId="{E020234A-7AAD-45DE-BEDB-D704DA0CC67C}" type="parTrans" cxnId="{6FBB6BBD-D95C-49DF-983F-8D164AC17122}">
      <dgm:prSet/>
      <dgm:spPr/>
      <dgm:t>
        <a:bodyPr/>
        <a:lstStyle/>
        <a:p>
          <a:endParaRPr lang="it-IT"/>
        </a:p>
      </dgm:t>
    </dgm:pt>
    <dgm:pt modelId="{97993BA5-D3B0-481B-95D7-CF397F6C8BB3}" type="sibTrans" cxnId="{6FBB6BBD-D95C-49DF-983F-8D164AC17122}">
      <dgm:prSet/>
      <dgm:spPr/>
      <dgm:t>
        <a:bodyPr/>
        <a:lstStyle/>
        <a:p>
          <a:endParaRPr lang="it-IT"/>
        </a:p>
      </dgm:t>
    </dgm:pt>
    <dgm:pt modelId="{B4137E02-298E-40F8-A49B-A6682213B7FB}">
      <dgm:prSet/>
      <dgm:spPr/>
      <dgm:t>
        <a:bodyPr/>
        <a:lstStyle/>
        <a:p>
          <a:r>
            <a:rPr lang="it-IT" dirty="0"/>
            <a:t>Metodo Top-Down</a:t>
          </a:r>
        </a:p>
      </dgm:t>
    </dgm:pt>
    <dgm:pt modelId="{D748B71D-BB47-495C-BDA2-29C976F5D596}" type="parTrans" cxnId="{051BF346-AEE3-4FD8-A1F3-7EF8116362E0}">
      <dgm:prSet/>
      <dgm:spPr/>
      <dgm:t>
        <a:bodyPr/>
        <a:lstStyle/>
        <a:p>
          <a:endParaRPr lang="it-IT"/>
        </a:p>
      </dgm:t>
    </dgm:pt>
    <dgm:pt modelId="{6431FEC2-45C4-4D4B-AFE1-C77F7B69D1FC}" type="sibTrans" cxnId="{051BF346-AEE3-4FD8-A1F3-7EF8116362E0}">
      <dgm:prSet/>
      <dgm:spPr/>
      <dgm:t>
        <a:bodyPr/>
        <a:lstStyle/>
        <a:p>
          <a:endParaRPr lang="it-IT"/>
        </a:p>
      </dgm:t>
    </dgm:pt>
    <dgm:pt modelId="{CDA19C1A-B013-466A-95F5-36F1A3C77493}" type="pres">
      <dgm:prSet presAssocID="{B91E63F7-A846-4654-98AB-92F47C09A86D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it-IT"/>
        </a:p>
      </dgm:t>
    </dgm:pt>
    <dgm:pt modelId="{C74E2F7C-AA2B-45EF-A846-E5CA87AA3619}" type="pres">
      <dgm:prSet presAssocID="{B6EE7587-0986-4C43-B3D7-3B339303289C}" presName="horFlow" presStyleCnt="0"/>
      <dgm:spPr/>
    </dgm:pt>
    <dgm:pt modelId="{D0C7CF35-F355-4C72-8A59-332C9B9B84A4}" type="pres">
      <dgm:prSet presAssocID="{B6EE7587-0986-4C43-B3D7-3B339303289C}" presName="bigChev" presStyleLbl="node1" presStyleIdx="0" presStyleCnt="5"/>
      <dgm:spPr/>
      <dgm:t>
        <a:bodyPr/>
        <a:lstStyle/>
        <a:p>
          <a:endParaRPr lang="it-IT"/>
        </a:p>
      </dgm:t>
    </dgm:pt>
    <dgm:pt modelId="{D8E82694-FBFF-44E2-9F64-B6EDAC5DA8C6}" type="pres">
      <dgm:prSet presAssocID="{9D63C8E9-5517-4B83-AE25-990233EB6500}" presName="parTrans" presStyleCnt="0"/>
      <dgm:spPr/>
    </dgm:pt>
    <dgm:pt modelId="{9676E396-1E7D-4F34-9F65-085341222C1F}" type="pres">
      <dgm:prSet presAssocID="{0FCC7BCF-E367-49D4-BFD8-594F7674E739}" presName="node" presStyleLbl="alignAccFollowNode1" presStyleIdx="0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9CAEAE22-05F5-4349-B9F8-39521919492F}" type="pres">
      <dgm:prSet presAssocID="{DE720AC4-9DB7-42B1-AB69-1A6D7FC97BB7}" presName="sibTrans" presStyleCnt="0"/>
      <dgm:spPr/>
    </dgm:pt>
    <dgm:pt modelId="{1B86312B-8CAB-4655-91DA-880C273E7318}" type="pres">
      <dgm:prSet presAssocID="{B4137E02-298E-40F8-A49B-A6682213B7FB}" presName="node" presStyleLbl="alignAccFollowNode1" presStyleIdx="1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42DC48C7-F1F2-4CC3-8365-7F67FB1C4F60}" type="pres">
      <dgm:prSet presAssocID="{6431FEC2-45C4-4D4B-AFE1-C77F7B69D1FC}" presName="sibTrans" presStyleCnt="0"/>
      <dgm:spPr/>
    </dgm:pt>
    <dgm:pt modelId="{8CAFFE1B-9BAB-45A7-AA9F-8A3456AFC126}" type="pres">
      <dgm:prSet presAssocID="{14B617F8-BD6B-4780-9A4E-A77899A2521D}" presName="node" presStyleLbl="alignAccFollowNode1" presStyleIdx="2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371D1081-9810-4D07-89A0-354A6961D18C}" type="pres">
      <dgm:prSet presAssocID="{B6EE7587-0986-4C43-B3D7-3B339303289C}" presName="vSp" presStyleCnt="0"/>
      <dgm:spPr/>
    </dgm:pt>
    <dgm:pt modelId="{C67AA2A2-B69C-49AB-A173-1C4E6DD81BD0}" type="pres">
      <dgm:prSet presAssocID="{EE40D963-E13D-4F4D-A9FA-3CDBA56648C7}" presName="horFlow" presStyleCnt="0"/>
      <dgm:spPr/>
    </dgm:pt>
    <dgm:pt modelId="{2CA99BAA-9055-41E8-93A1-A0662504CB99}" type="pres">
      <dgm:prSet presAssocID="{EE40D963-E13D-4F4D-A9FA-3CDBA56648C7}" presName="bigChev" presStyleLbl="node1" presStyleIdx="1" presStyleCnt="5"/>
      <dgm:spPr/>
      <dgm:t>
        <a:bodyPr/>
        <a:lstStyle/>
        <a:p>
          <a:endParaRPr lang="it-IT"/>
        </a:p>
      </dgm:t>
    </dgm:pt>
    <dgm:pt modelId="{B4BB712C-2BEE-42D8-8C18-C715FC30246E}" type="pres">
      <dgm:prSet presAssocID="{038AF733-70C2-4A82-9143-9B271EF4B39B}" presName="parTrans" presStyleCnt="0"/>
      <dgm:spPr/>
    </dgm:pt>
    <dgm:pt modelId="{F9C12B81-A092-4D4E-A3C7-046A6EFD8971}" type="pres">
      <dgm:prSet presAssocID="{78161170-6B51-46CF-860F-6A3CFB64B11F}" presName="node" presStyleLbl="alignAccFollowNode1" presStyleIdx="3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8CB13068-11A8-4D7E-AF85-6D09AAAB9FCB}" type="pres">
      <dgm:prSet presAssocID="{34B61114-7B05-4771-BFA1-D1CF763684B4}" presName="sibTrans" presStyleCnt="0"/>
      <dgm:spPr/>
    </dgm:pt>
    <dgm:pt modelId="{295FCD7F-19E7-4587-82C4-C5853F63D39C}" type="pres">
      <dgm:prSet presAssocID="{1F9A82E5-04DA-4D0E-8D7C-1ECC080125E5}" presName="node" presStyleLbl="alignAccFollowNode1" presStyleIdx="4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49F78198-442C-467B-BA96-B56E63F7623C}" type="pres">
      <dgm:prSet presAssocID="{97993BA5-D3B0-481B-95D7-CF397F6C8BB3}" presName="sibTrans" presStyleCnt="0"/>
      <dgm:spPr/>
    </dgm:pt>
    <dgm:pt modelId="{71309930-08D1-4988-B9BB-3DE64EEC7C36}" type="pres">
      <dgm:prSet presAssocID="{0E5FA5FE-EBD4-4CBB-A141-B5E23F0F314A}" presName="node" presStyleLbl="alignAccFollowNode1" presStyleIdx="5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53FEF7A1-FFDE-420F-A785-6552383AD443}" type="pres">
      <dgm:prSet presAssocID="{EE40D963-E13D-4F4D-A9FA-3CDBA56648C7}" presName="vSp" presStyleCnt="0"/>
      <dgm:spPr/>
    </dgm:pt>
    <dgm:pt modelId="{1BBA549E-D071-49E5-9874-6ACEBE5356C1}" type="pres">
      <dgm:prSet presAssocID="{37F58262-E116-4FFE-9135-900BCFBE2AE4}" presName="horFlow" presStyleCnt="0"/>
      <dgm:spPr/>
    </dgm:pt>
    <dgm:pt modelId="{85ED48AE-911A-4F28-9FA4-7735C5F7AF49}" type="pres">
      <dgm:prSet presAssocID="{37F58262-E116-4FFE-9135-900BCFBE2AE4}" presName="bigChev" presStyleLbl="node1" presStyleIdx="2" presStyleCnt="5"/>
      <dgm:spPr/>
      <dgm:t>
        <a:bodyPr/>
        <a:lstStyle/>
        <a:p>
          <a:endParaRPr lang="it-IT"/>
        </a:p>
      </dgm:t>
    </dgm:pt>
    <dgm:pt modelId="{ECD8EC66-D323-4E1C-B78F-43CE12080E61}" type="pres">
      <dgm:prSet presAssocID="{6F54A2CF-AD2A-4653-9444-1EC1E5B495F9}" presName="parTrans" presStyleCnt="0"/>
      <dgm:spPr/>
    </dgm:pt>
    <dgm:pt modelId="{27E1BC62-3B98-45FE-BC4F-C2924F041FF2}" type="pres">
      <dgm:prSet presAssocID="{10EE13F7-D791-4F4E-AEED-7765F7274C3A}" presName="node" presStyleLbl="alignAccFollowNode1" presStyleIdx="6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67E9D095-1183-4A4E-8604-FB49425EC886}" type="pres">
      <dgm:prSet presAssocID="{B0710F31-B16C-48C7-B702-020391C86472}" presName="sibTrans" presStyleCnt="0"/>
      <dgm:spPr/>
    </dgm:pt>
    <dgm:pt modelId="{C1E14549-D3C3-4900-B513-005250963CFB}" type="pres">
      <dgm:prSet presAssocID="{7E6C4A83-277D-4B1E-BD3C-467666F13B8C}" presName="node" presStyleLbl="alignAccFollowNode1" presStyleIdx="7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BFEC13F1-10BA-4682-AC68-C197C9EF2FE9}" type="pres">
      <dgm:prSet presAssocID="{37F58262-E116-4FFE-9135-900BCFBE2AE4}" presName="vSp" presStyleCnt="0"/>
      <dgm:spPr/>
    </dgm:pt>
    <dgm:pt modelId="{DBEC862A-6DAF-4A9F-8C22-4071A65F6532}" type="pres">
      <dgm:prSet presAssocID="{342210FB-D697-4198-87E9-2867FBF21826}" presName="horFlow" presStyleCnt="0"/>
      <dgm:spPr/>
    </dgm:pt>
    <dgm:pt modelId="{4614032A-3D31-4DF8-8EA3-9204E0066C00}" type="pres">
      <dgm:prSet presAssocID="{342210FB-D697-4198-87E9-2867FBF21826}" presName="bigChev" presStyleLbl="node1" presStyleIdx="3" presStyleCnt="5"/>
      <dgm:spPr/>
      <dgm:t>
        <a:bodyPr/>
        <a:lstStyle/>
        <a:p>
          <a:endParaRPr lang="it-IT"/>
        </a:p>
      </dgm:t>
    </dgm:pt>
    <dgm:pt modelId="{E7E07783-1639-4ADF-88AD-F569FAEFC6C0}" type="pres">
      <dgm:prSet presAssocID="{228BD866-9ECC-402C-ADF2-0C2DEC94E33E}" presName="parTrans" presStyleCnt="0"/>
      <dgm:spPr/>
    </dgm:pt>
    <dgm:pt modelId="{4F01E90B-67EB-4635-AF1D-E387611D3F4B}" type="pres">
      <dgm:prSet presAssocID="{DCDA06A3-2FF1-45B3-92E0-4C79B8D2E27E}" presName="node" presStyleLbl="alignAccFollowNode1" presStyleIdx="8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B34D3BD6-BDCC-4053-A8EC-2B9D379219AD}" type="pres">
      <dgm:prSet presAssocID="{342210FB-D697-4198-87E9-2867FBF21826}" presName="vSp" presStyleCnt="0"/>
      <dgm:spPr/>
    </dgm:pt>
    <dgm:pt modelId="{D067DCD7-0698-4B9C-ACFD-BC932B3304B0}" type="pres">
      <dgm:prSet presAssocID="{EF6C61E0-EC29-47D2-BBB0-B57FFF4AFA2F}" presName="horFlow" presStyleCnt="0"/>
      <dgm:spPr/>
    </dgm:pt>
    <dgm:pt modelId="{B9A05E1E-CD29-4C26-BF31-8900A1117D7C}" type="pres">
      <dgm:prSet presAssocID="{EF6C61E0-EC29-47D2-BBB0-B57FFF4AFA2F}" presName="bigChev" presStyleLbl="node1" presStyleIdx="4" presStyleCnt="5"/>
      <dgm:spPr/>
      <dgm:t>
        <a:bodyPr/>
        <a:lstStyle/>
        <a:p>
          <a:endParaRPr lang="it-IT"/>
        </a:p>
      </dgm:t>
    </dgm:pt>
    <dgm:pt modelId="{390499F5-482E-4D37-A6A2-D185E96ACFFF}" type="pres">
      <dgm:prSet presAssocID="{AF1B0005-4FF3-409D-AE65-19156FBC410B}" presName="parTrans" presStyleCnt="0"/>
      <dgm:spPr/>
    </dgm:pt>
    <dgm:pt modelId="{2BE2FF8E-4D01-4547-A701-66E1EEE3F191}" type="pres">
      <dgm:prSet presAssocID="{E87AE25C-0775-4332-80AB-829261982D1C}" presName="node" presStyleLbl="alignAccFollowNode1" presStyleIdx="9" presStyleCnt="10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11799514-DC87-42B5-AB51-E1B603CB4D39}" srcId="{37F58262-E116-4FFE-9135-900BCFBE2AE4}" destId="{7E6C4A83-277D-4B1E-BD3C-467666F13B8C}" srcOrd="1" destOrd="0" parTransId="{DA34B8B4-2297-48EF-A57F-7008F8955972}" sibTransId="{3A8223D7-B75F-4B44-91F4-7D7B65D4824F}"/>
    <dgm:cxn modelId="{6183CD15-01EF-4305-A2EA-E17309C70C7B}" type="presOf" srcId="{0FCC7BCF-E367-49D4-BFD8-594F7674E739}" destId="{9676E396-1E7D-4F34-9F65-085341222C1F}" srcOrd="0" destOrd="0" presId="urn:microsoft.com/office/officeart/2005/8/layout/lProcess3"/>
    <dgm:cxn modelId="{2D9BC1B4-600A-4CB5-97C8-08B6930006BF}" type="presOf" srcId="{B91E63F7-A846-4654-98AB-92F47C09A86D}" destId="{CDA19C1A-B013-466A-95F5-36F1A3C77493}" srcOrd="0" destOrd="0" presId="urn:microsoft.com/office/officeart/2005/8/layout/lProcess3"/>
    <dgm:cxn modelId="{0B1F67CB-259D-420C-AA81-069A6BF63065}" srcId="{B91E63F7-A846-4654-98AB-92F47C09A86D}" destId="{EF6C61E0-EC29-47D2-BBB0-B57FFF4AFA2F}" srcOrd="4" destOrd="0" parTransId="{6E170EEE-9DDB-45D8-B7F2-052F9A54FB81}" sibTransId="{6BF049B5-C9E0-4520-A060-35A46766AC8F}"/>
    <dgm:cxn modelId="{2007A5F5-9117-43BF-B986-C2508AD2002A}" type="presOf" srcId="{7E6C4A83-277D-4B1E-BD3C-467666F13B8C}" destId="{C1E14549-D3C3-4900-B513-005250963CFB}" srcOrd="0" destOrd="0" presId="urn:microsoft.com/office/officeart/2005/8/layout/lProcess3"/>
    <dgm:cxn modelId="{7D2B4C77-2C32-4B91-B68B-819F86310769}" srcId="{B91E63F7-A846-4654-98AB-92F47C09A86D}" destId="{EE40D963-E13D-4F4D-A9FA-3CDBA56648C7}" srcOrd="1" destOrd="0" parTransId="{F83EC810-374F-4B34-8684-A1B6F7D5D993}" sibTransId="{238AB6CA-F6A3-41AE-9032-9E4F8DA32F90}"/>
    <dgm:cxn modelId="{033DE144-68C1-4EB0-8A9A-8BFCEC89154E}" type="presOf" srcId="{10EE13F7-D791-4F4E-AEED-7765F7274C3A}" destId="{27E1BC62-3B98-45FE-BC4F-C2924F041FF2}" srcOrd="0" destOrd="0" presId="urn:microsoft.com/office/officeart/2005/8/layout/lProcess3"/>
    <dgm:cxn modelId="{A943BD7A-ED2E-43B4-A3E8-E41B2184763C}" srcId="{B91E63F7-A846-4654-98AB-92F47C09A86D}" destId="{37F58262-E116-4FFE-9135-900BCFBE2AE4}" srcOrd="2" destOrd="0" parTransId="{522BF51A-3768-4C68-B85F-0F1DE87278C6}" sibTransId="{ACA18000-E3A5-4C5B-B2D7-6D2745DE3459}"/>
    <dgm:cxn modelId="{D099B347-56B9-4487-B50A-04C5BD664A55}" type="presOf" srcId="{B4137E02-298E-40F8-A49B-A6682213B7FB}" destId="{1B86312B-8CAB-4655-91DA-880C273E7318}" srcOrd="0" destOrd="0" presId="urn:microsoft.com/office/officeart/2005/8/layout/lProcess3"/>
    <dgm:cxn modelId="{EDA20CF7-7FC9-418A-B318-BB12BBE6E886}" srcId="{EF6C61E0-EC29-47D2-BBB0-B57FFF4AFA2F}" destId="{E87AE25C-0775-4332-80AB-829261982D1C}" srcOrd="0" destOrd="0" parTransId="{AF1B0005-4FF3-409D-AE65-19156FBC410B}" sibTransId="{4F53BF44-C9F2-4FE7-99EB-A3EBCB2A4869}"/>
    <dgm:cxn modelId="{38433F48-6019-4EEF-A120-7BA4CB85EC49}" srcId="{B6EE7587-0986-4C43-B3D7-3B339303289C}" destId="{0FCC7BCF-E367-49D4-BFD8-594F7674E739}" srcOrd="0" destOrd="0" parTransId="{9D63C8E9-5517-4B83-AE25-990233EB6500}" sibTransId="{DE720AC4-9DB7-42B1-AB69-1A6D7FC97BB7}"/>
    <dgm:cxn modelId="{A7D43C38-1626-4428-A1D0-8AAEB59915A1}" srcId="{B91E63F7-A846-4654-98AB-92F47C09A86D}" destId="{342210FB-D697-4198-87E9-2867FBF21826}" srcOrd="3" destOrd="0" parTransId="{10FF580C-F663-449D-BAFB-617B5AD424E1}" sibTransId="{DDE4A08E-3281-4CDD-96AA-42359C1C7FC2}"/>
    <dgm:cxn modelId="{514A81C6-F45E-4E96-BD24-79B92C7EEF4B}" srcId="{342210FB-D697-4198-87E9-2867FBF21826}" destId="{DCDA06A3-2FF1-45B3-92E0-4C79B8D2E27E}" srcOrd="0" destOrd="0" parTransId="{228BD866-9ECC-402C-ADF2-0C2DEC94E33E}" sibTransId="{DD362BE8-9AA2-4E0D-A475-5B540E78DCBF}"/>
    <dgm:cxn modelId="{C5C446E1-FC84-46EA-8F3D-DA87509A2EA2}" type="presOf" srcId="{EE40D963-E13D-4F4D-A9FA-3CDBA56648C7}" destId="{2CA99BAA-9055-41E8-93A1-A0662504CB99}" srcOrd="0" destOrd="0" presId="urn:microsoft.com/office/officeart/2005/8/layout/lProcess3"/>
    <dgm:cxn modelId="{FD80FE1E-75CD-46D1-8198-A6EF6D8E4F48}" type="presOf" srcId="{1F9A82E5-04DA-4D0E-8D7C-1ECC080125E5}" destId="{295FCD7F-19E7-4587-82C4-C5853F63D39C}" srcOrd="0" destOrd="0" presId="urn:microsoft.com/office/officeart/2005/8/layout/lProcess3"/>
    <dgm:cxn modelId="{C9CFE961-EC27-4223-9BD8-5562E8B71F44}" type="presOf" srcId="{342210FB-D697-4198-87E9-2867FBF21826}" destId="{4614032A-3D31-4DF8-8EA3-9204E0066C00}" srcOrd="0" destOrd="0" presId="urn:microsoft.com/office/officeart/2005/8/layout/lProcess3"/>
    <dgm:cxn modelId="{B523213E-C4EC-4F9E-95C1-4B0D56ECE50E}" type="presOf" srcId="{EF6C61E0-EC29-47D2-BBB0-B57FFF4AFA2F}" destId="{B9A05E1E-CD29-4C26-BF31-8900A1117D7C}" srcOrd="0" destOrd="0" presId="urn:microsoft.com/office/officeart/2005/8/layout/lProcess3"/>
    <dgm:cxn modelId="{42430F29-7B9E-4C40-80BE-C42A43BF8888}" srcId="{EE40D963-E13D-4F4D-A9FA-3CDBA56648C7}" destId="{0E5FA5FE-EBD4-4CBB-A141-B5E23F0F314A}" srcOrd="2" destOrd="0" parTransId="{B1BD3CE7-8AE4-458F-9A40-5613D826D77E}" sibTransId="{0308CCAF-F296-45E6-AD86-87F483BD0EF6}"/>
    <dgm:cxn modelId="{0FEC5434-55B4-47C2-9261-F4B2104E7ADA}" srcId="{EE40D963-E13D-4F4D-A9FA-3CDBA56648C7}" destId="{78161170-6B51-46CF-860F-6A3CFB64B11F}" srcOrd="0" destOrd="0" parTransId="{038AF733-70C2-4A82-9143-9B271EF4B39B}" sibTransId="{34B61114-7B05-4771-BFA1-D1CF763684B4}"/>
    <dgm:cxn modelId="{2BDC6623-395F-481E-93EA-99C64D6E09B5}" type="presOf" srcId="{E87AE25C-0775-4332-80AB-829261982D1C}" destId="{2BE2FF8E-4D01-4547-A701-66E1EEE3F191}" srcOrd="0" destOrd="0" presId="urn:microsoft.com/office/officeart/2005/8/layout/lProcess3"/>
    <dgm:cxn modelId="{3D21D211-26A6-49E1-8235-C68939B2B74E}" type="presOf" srcId="{14B617F8-BD6B-4780-9A4E-A77899A2521D}" destId="{8CAFFE1B-9BAB-45A7-AA9F-8A3456AFC126}" srcOrd="0" destOrd="0" presId="urn:microsoft.com/office/officeart/2005/8/layout/lProcess3"/>
    <dgm:cxn modelId="{C0152231-EBC5-4C5A-B3CB-4942E686ADD1}" type="presOf" srcId="{B6EE7587-0986-4C43-B3D7-3B339303289C}" destId="{D0C7CF35-F355-4C72-8A59-332C9B9B84A4}" srcOrd="0" destOrd="0" presId="urn:microsoft.com/office/officeart/2005/8/layout/lProcess3"/>
    <dgm:cxn modelId="{B1189A22-DA67-493B-989C-41BD7ADD252B}" srcId="{B91E63F7-A846-4654-98AB-92F47C09A86D}" destId="{B6EE7587-0986-4C43-B3D7-3B339303289C}" srcOrd="0" destOrd="0" parTransId="{364B4253-349D-4A1E-90CC-C26D76EBB68B}" sibTransId="{ADAC2257-03D3-4211-947F-E5CB0024C4C1}"/>
    <dgm:cxn modelId="{4CB07546-4690-4CEC-B4D9-7DADBD1B2810}" type="presOf" srcId="{0E5FA5FE-EBD4-4CBB-A141-B5E23F0F314A}" destId="{71309930-08D1-4988-B9BB-3DE64EEC7C36}" srcOrd="0" destOrd="0" presId="urn:microsoft.com/office/officeart/2005/8/layout/lProcess3"/>
    <dgm:cxn modelId="{051BF346-AEE3-4FD8-A1F3-7EF8116362E0}" srcId="{B6EE7587-0986-4C43-B3D7-3B339303289C}" destId="{B4137E02-298E-40F8-A49B-A6682213B7FB}" srcOrd="1" destOrd="0" parTransId="{D748B71D-BB47-495C-BDA2-29C976F5D596}" sibTransId="{6431FEC2-45C4-4D4B-AFE1-C77F7B69D1FC}"/>
    <dgm:cxn modelId="{8F2F0BDD-2954-4607-8534-356A89CA1395}" srcId="{37F58262-E116-4FFE-9135-900BCFBE2AE4}" destId="{10EE13F7-D791-4F4E-AEED-7765F7274C3A}" srcOrd="0" destOrd="0" parTransId="{6F54A2CF-AD2A-4653-9444-1EC1E5B495F9}" sibTransId="{B0710F31-B16C-48C7-B702-020391C86472}"/>
    <dgm:cxn modelId="{9CBECAD7-3B96-4C49-A934-E269A99BB35F}" type="presOf" srcId="{78161170-6B51-46CF-860F-6A3CFB64B11F}" destId="{F9C12B81-A092-4D4E-A3C7-046A6EFD8971}" srcOrd="0" destOrd="0" presId="urn:microsoft.com/office/officeart/2005/8/layout/lProcess3"/>
    <dgm:cxn modelId="{671038CB-2A10-4C42-AE97-CB34057248BE}" type="presOf" srcId="{DCDA06A3-2FF1-45B3-92E0-4C79B8D2E27E}" destId="{4F01E90B-67EB-4635-AF1D-E387611D3F4B}" srcOrd="0" destOrd="0" presId="urn:microsoft.com/office/officeart/2005/8/layout/lProcess3"/>
    <dgm:cxn modelId="{D9BC0B35-F24A-4586-830D-72A866D3A4EE}" srcId="{B6EE7587-0986-4C43-B3D7-3B339303289C}" destId="{14B617F8-BD6B-4780-9A4E-A77899A2521D}" srcOrd="2" destOrd="0" parTransId="{34B59BD7-1301-40E6-8BDA-FE6A4F0F4B9B}" sibTransId="{F3AD5B54-3F7C-4176-BF91-95712191096C}"/>
    <dgm:cxn modelId="{87660EBF-5DC9-4B1E-9233-A50FBAD66DD9}" type="presOf" srcId="{37F58262-E116-4FFE-9135-900BCFBE2AE4}" destId="{85ED48AE-911A-4F28-9FA4-7735C5F7AF49}" srcOrd="0" destOrd="0" presId="urn:microsoft.com/office/officeart/2005/8/layout/lProcess3"/>
    <dgm:cxn modelId="{6FBB6BBD-D95C-49DF-983F-8D164AC17122}" srcId="{EE40D963-E13D-4F4D-A9FA-3CDBA56648C7}" destId="{1F9A82E5-04DA-4D0E-8D7C-1ECC080125E5}" srcOrd="1" destOrd="0" parTransId="{E020234A-7AAD-45DE-BEDB-D704DA0CC67C}" sibTransId="{97993BA5-D3B0-481B-95D7-CF397F6C8BB3}"/>
    <dgm:cxn modelId="{422BDC28-47C2-4560-AEDA-ADE444511CE0}" type="presParOf" srcId="{CDA19C1A-B013-466A-95F5-36F1A3C77493}" destId="{C74E2F7C-AA2B-45EF-A846-E5CA87AA3619}" srcOrd="0" destOrd="0" presId="urn:microsoft.com/office/officeart/2005/8/layout/lProcess3"/>
    <dgm:cxn modelId="{D931528A-80CB-4C18-B0F1-91C98AD8BBCB}" type="presParOf" srcId="{C74E2F7C-AA2B-45EF-A846-E5CA87AA3619}" destId="{D0C7CF35-F355-4C72-8A59-332C9B9B84A4}" srcOrd="0" destOrd="0" presId="urn:microsoft.com/office/officeart/2005/8/layout/lProcess3"/>
    <dgm:cxn modelId="{A9366E5F-0BDE-4ED7-B346-92762796923D}" type="presParOf" srcId="{C74E2F7C-AA2B-45EF-A846-E5CA87AA3619}" destId="{D8E82694-FBFF-44E2-9F64-B6EDAC5DA8C6}" srcOrd="1" destOrd="0" presId="urn:microsoft.com/office/officeart/2005/8/layout/lProcess3"/>
    <dgm:cxn modelId="{AEB8A21B-B5E1-4F00-9DB4-BF9DBB9C19CE}" type="presParOf" srcId="{C74E2F7C-AA2B-45EF-A846-E5CA87AA3619}" destId="{9676E396-1E7D-4F34-9F65-085341222C1F}" srcOrd="2" destOrd="0" presId="urn:microsoft.com/office/officeart/2005/8/layout/lProcess3"/>
    <dgm:cxn modelId="{7C96D190-2914-427C-9A09-29F60889B2C0}" type="presParOf" srcId="{C74E2F7C-AA2B-45EF-A846-E5CA87AA3619}" destId="{9CAEAE22-05F5-4349-B9F8-39521919492F}" srcOrd="3" destOrd="0" presId="urn:microsoft.com/office/officeart/2005/8/layout/lProcess3"/>
    <dgm:cxn modelId="{BE51F61D-43DD-435E-B97B-6D03D230430F}" type="presParOf" srcId="{C74E2F7C-AA2B-45EF-A846-E5CA87AA3619}" destId="{1B86312B-8CAB-4655-91DA-880C273E7318}" srcOrd="4" destOrd="0" presId="urn:microsoft.com/office/officeart/2005/8/layout/lProcess3"/>
    <dgm:cxn modelId="{47DAFF10-FB4C-45E4-B58C-025264A6E40F}" type="presParOf" srcId="{C74E2F7C-AA2B-45EF-A846-E5CA87AA3619}" destId="{42DC48C7-F1F2-4CC3-8365-7F67FB1C4F60}" srcOrd="5" destOrd="0" presId="urn:microsoft.com/office/officeart/2005/8/layout/lProcess3"/>
    <dgm:cxn modelId="{A7E7D8DA-7D62-4F06-A11C-EC4E0A425712}" type="presParOf" srcId="{C74E2F7C-AA2B-45EF-A846-E5CA87AA3619}" destId="{8CAFFE1B-9BAB-45A7-AA9F-8A3456AFC126}" srcOrd="6" destOrd="0" presId="urn:microsoft.com/office/officeart/2005/8/layout/lProcess3"/>
    <dgm:cxn modelId="{90A38696-EB2A-47C6-A332-2A6D524C6E9F}" type="presParOf" srcId="{CDA19C1A-B013-466A-95F5-36F1A3C77493}" destId="{371D1081-9810-4D07-89A0-354A6961D18C}" srcOrd="1" destOrd="0" presId="urn:microsoft.com/office/officeart/2005/8/layout/lProcess3"/>
    <dgm:cxn modelId="{38CE9564-61B0-41EF-9F07-74F5987F0D0F}" type="presParOf" srcId="{CDA19C1A-B013-466A-95F5-36F1A3C77493}" destId="{C67AA2A2-B69C-49AB-A173-1C4E6DD81BD0}" srcOrd="2" destOrd="0" presId="urn:microsoft.com/office/officeart/2005/8/layout/lProcess3"/>
    <dgm:cxn modelId="{5E79813C-4828-4C05-BE16-9420D8F569DB}" type="presParOf" srcId="{C67AA2A2-B69C-49AB-A173-1C4E6DD81BD0}" destId="{2CA99BAA-9055-41E8-93A1-A0662504CB99}" srcOrd="0" destOrd="0" presId="urn:microsoft.com/office/officeart/2005/8/layout/lProcess3"/>
    <dgm:cxn modelId="{97BD8E12-2271-4B99-AE5A-6875A7D7C4BC}" type="presParOf" srcId="{C67AA2A2-B69C-49AB-A173-1C4E6DD81BD0}" destId="{B4BB712C-2BEE-42D8-8C18-C715FC30246E}" srcOrd="1" destOrd="0" presId="urn:microsoft.com/office/officeart/2005/8/layout/lProcess3"/>
    <dgm:cxn modelId="{B82C6827-97C2-44A6-8CC2-699AAF45752E}" type="presParOf" srcId="{C67AA2A2-B69C-49AB-A173-1C4E6DD81BD0}" destId="{F9C12B81-A092-4D4E-A3C7-046A6EFD8971}" srcOrd="2" destOrd="0" presId="urn:microsoft.com/office/officeart/2005/8/layout/lProcess3"/>
    <dgm:cxn modelId="{63A5A207-B14A-4F61-BC29-9B6404E73903}" type="presParOf" srcId="{C67AA2A2-B69C-49AB-A173-1C4E6DD81BD0}" destId="{8CB13068-11A8-4D7E-AF85-6D09AAAB9FCB}" srcOrd="3" destOrd="0" presId="urn:microsoft.com/office/officeart/2005/8/layout/lProcess3"/>
    <dgm:cxn modelId="{01F87BC5-88F5-4619-AC5E-8F091A56C6DD}" type="presParOf" srcId="{C67AA2A2-B69C-49AB-A173-1C4E6DD81BD0}" destId="{295FCD7F-19E7-4587-82C4-C5853F63D39C}" srcOrd="4" destOrd="0" presId="urn:microsoft.com/office/officeart/2005/8/layout/lProcess3"/>
    <dgm:cxn modelId="{44306DA8-065F-4BC7-B30F-D406714B44CE}" type="presParOf" srcId="{C67AA2A2-B69C-49AB-A173-1C4E6DD81BD0}" destId="{49F78198-442C-467B-BA96-B56E63F7623C}" srcOrd="5" destOrd="0" presId="urn:microsoft.com/office/officeart/2005/8/layout/lProcess3"/>
    <dgm:cxn modelId="{17EFFB8C-4050-4BAE-8B2C-D21453517D6E}" type="presParOf" srcId="{C67AA2A2-B69C-49AB-A173-1C4E6DD81BD0}" destId="{71309930-08D1-4988-B9BB-3DE64EEC7C36}" srcOrd="6" destOrd="0" presId="urn:microsoft.com/office/officeart/2005/8/layout/lProcess3"/>
    <dgm:cxn modelId="{A5A403EA-6699-45D7-830A-58ED1184BD87}" type="presParOf" srcId="{CDA19C1A-B013-466A-95F5-36F1A3C77493}" destId="{53FEF7A1-FFDE-420F-A785-6552383AD443}" srcOrd="3" destOrd="0" presId="urn:microsoft.com/office/officeart/2005/8/layout/lProcess3"/>
    <dgm:cxn modelId="{F112CC58-8DFE-4628-81D2-5967CA66E2A2}" type="presParOf" srcId="{CDA19C1A-B013-466A-95F5-36F1A3C77493}" destId="{1BBA549E-D071-49E5-9874-6ACEBE5356C1}" srcOrd="4" destOrd="0" presId="urn:microsoft.com/office/officeart/2005/8/layout/lProcess3"/>
    <dgm:cxn modelId="{43C15F72-7687-4F3D-80BC-33F179381759}" type="presParOf" srcId="{1BBA549E-D071-49E5-9874-6ACEBE5356C1}" destId="{85ED48AE-911A-4F28-9FA4-7735C5F7AF49}" srcOrd="0" destOrd="0" presId="urn:microsoft.com/office/officeart/2005/8/layout/lProcess3"/>
    <dgm:cxn modelId="{0FAE1B2B-6FA3-4528-8155-CE7F90A56066}" type="presParOf" srcId="{1BBA549E-D071-49E5-9874-6ACEBE5356C1}" destId="{ECD8EC66-D323-4E1C-B78F-43CE12080E61}" srcOrd="1" destOrd="0" presId="urn:microsoft.com/office/officeart/2005/8/layout/lProcess3"/>
    <dgm:cxn modelId="{1BE7A688-4C0E-4514-97F1-349A2BB940C7}" type="presParOf" srcId="{1BBA549E-D071-49E5-9874-6ACEBE5356C1}" destId="{27E1BC62-3B98-45FE-BC4F-C2924F041FF2}" srcOrd="2" destOrd="0" presId="urn:microsoft.com/office/officeart/2005/8/layout/lProcess3"/>
    <dgm:cxn modelId="{4F1AF541-8C2A-4DD5-A0F6-1ED04A7969DD}" type="presParOf" srcId="{1BBA549E-D071-49E5-9874-6ACEBE5356C1}" destId="{67E9D095-1183-4A4E-8604-FB49425EC886}" srcOrd="3" destOrd="0" presId="urn:microsoft.com/office/officeart/2005/8/layout/lProcess3"/>
    <dgm:cxn modelId="{0CDBF6BD-3FC6-4756-9652-8CE86FC6C9B0}" type="presParOf" srcId="{1BBA549E-D071-49E5-9874-6ACEBE5356C1}" destId="{C1E14549-D3C3-4900-B513-005250963CFB}" srcOrd="4" destOrd="0" presId="urn:microsoft.com/office/officeart/2005/8/layout/lProcess3"/>
    <dgm:cxn modelId="{B317237D-66A9-4636-B804-FB3715F95530}" type="presParOf" srcId="{CDA19C1A-B013-466A-95F5-36F1A3C77493}" destId="{BFEC13F1-10BA-4682-AC68-C197C9EF2FE9}" srcOrd="5" destOrd="0" presId="urn:microsoft.com/office/officeart/2005/8/layout/lProcess3"/>
    <dgm:cxn modelId="{6B05B915-2800-4517-9AF5-D5AD052B920B}" type="presParOf" srcId="{CDA19C1A-B013-466A-95F5-36F1A3C77493}" destId="{DBEC862A-6DAF-4A9F-8C22-4071A65F6532}" srcOrd="6" destOrd="0" presId="urn:microsoft.com/office/officeart/2005/8/layout/lProcess3"/>
    <dgm:cxn modelId="{FA493E85-480E-4A13-9B9C-8D3B19DDE801}" type="presParOf" srcId="{DBEC862A-6DAF-4A9F-8C22-4071A65F6532}" destId="{4614032A-3D31-4DF8-8EA3-9204E0066C00}" srcOrd="0" destOrd="0" presId="urn:microsoft.com/office/officeart/2005/8/layout/lProcess3"/>
    <dgm:cxn modelId="{B5A9826C-3937-4E9F-93E5-32E40F10FC80}" type="presParOf" srcId="{DBEC862A-6DAF-4A9F-8C22-4071A65F6532}" destId="{E7E07783-1639-4ADF-88AD-F569FAEFC6C0}" srcOrd="1" destOrd="0" presId="urn:microsoft.com/office/officeart/2005/8/layout/lProcess3"/>
    <dgm:cxn modelId="{60AD5AEC-2B9D-4C8E-8FC5-074EED9978FF}" type="presParOf" srcId="{DBEC862A-6DAF-4A9F-8C22-4071A65F6532}" destId="{4F01E90B-67EB-4635-AF1D-E387611D3F4B}" srcOrd="2" destOrd="0" presId="urn:microsoft.com/office/officeart/2005/8/layout/lProcess3"/>
    <dgm:cxn modelId="{E5727504-3978-4C0C-9A3E-C71832FC4895}" type="presParOf" srcId="{CDA19C1A-B013-466A-95F5-36F1A3C77493}" destId="{B34D3BD6-BDCC-4053-A8EC-2B9D379219AD}" srcOrd="7" destOrd="0" presId="urn:microsoft.com/office/officeart/2005/8/layout/lProcess3"/>
    <dgm:cxn modelId="{09C10A65-C5BF-4439-BEDE-00E8D0BD394B}" type="presParOf" srcId="{CDA19C1A-B013-466A-95F5-36F1A3C77493}" destId="{D067DCD7-0698-4B9C-ACFD-BC932B3304B0}" srcOrd="8" destOrd="0" presId="urn:microsoft.com/office/officeart/2005/8/layout/lProcess3"/>
    <dgm:cxn modelId="{69D0121E-C66A-483F-9579-6328D7DE1117}" type="presParOf" srcId="{D067DCD7-0698-4B9C-ACFD-BC932B3304B0}" destId="{B9A05E1E-CD29-4C26-BF31-8900A1117D7C}" srcOrd="0" destOrd="0" presId="urn:microsoft.com/office/officeart/2005/8/layout/lProcess3"/>
    <dgm:cxn modelId="{A6056E09-5C13-4A57-8B61-A244C745D61B}" type="presParOf" srcId="{D067DCD7-0698-4B9C-ACFD-BC932B3304B0}" destId="{390499F5-482E-4D37-A6A2-D185E96ACFFF}" srcOrd="1" destOrd="0" presId="urn:microsoft.com/office/officeart/2005/8/layout/lProcess3"/>
    <dgm:cxn modelId="{DADFE19C-6263-4425-9CE8-02F1EE59C3F7}" type="presParOf" srcId="{D067DCD7-0698-4B9C-ACFD-BC932B3304B0}" destId="{2BE2FF8E-4D01-4547-A701-66E1EEE3F191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0801C0-67F8-48DC-80E2-0DED65E021E7}" type="doc">
      <dgm:prSet loTypeId="urn:microsoft.com/office/officeart/2005/8/layout/list1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it-IT"/>
        </a:p>
      </dgm:t>
    </dgm:pt>
    <dgm:pt modelId="{F1E5F670-1A41-49E1-A715-518046336D6F}">
      <dgm:prSet phldrT="[Testo]"/>
      <dgm:spPr/>
      <dgm:t>
        <a:bodyPr/>
        <a:lstStyle/>
        <a:p>
          <a:r>
            <a:rPr lang="it-IT" dirty="0"/>
            <a:t>Procedure</a:t>
          </a:r>
        </a:p>
      </dgm:t>
    </dgm:pt>
    <dgm:pt modelId="{BF03BF68-A0DF-4089-B0C5-DBBD1422ED2F}" type="parTrans" cxnId="{FE13DD60-B063-4CF1-AE02-C9E83E0AF4D1}">
      <dgm:prSet/>
      <dgm:spPr/>
      <dgm:t>
        <a:bodyPr/>
        <a:lstStyle/>
        <a:p>
          <a:endParaRPr lang="it-IT"/>
        </a:p>
      </dgm:t>
    </dgm:pt>
    <dgm:pt modelId="{4F12B938-1BB2-4D42-8CE9-4F627AA7075E}" type="sibTrans" cxnId="{FE13DD60-B063-4CF1-AE02-C9E83E0AF4D1}">
      <dgm:prSet/>
      <dgm:spPr/>
      <dgm:t>
        <a:bodyPr/>
        <a:lstStyle/>
        <a:p>
          <a:endParaRPr lang="it-IT"/>
        </a:p>
      </dgm:t>
    </dgm:pt>
    <dgm:pt modelId="{F43C69EE-EB53-4F19-B4C5-12141FEA5BBB}">
      <dgm:prSet phldrT="[Testo]"/>
      <dgm:spPr/>
      <dgm:t>
        <a:bodyPr/>
        <a:lstStyle/>
        <a:p>
          <a:r>
            <a:rPr lang="it-IT" dirty="0"/>
            <a:t>Funzioni</a:t>
          </a:r>
        </a:p>
      </dgm:t>
    </dgm:pt>
    <dgm:pt modelId="{68362480-3657-440E-86CC-3D6FBBF8A859}" type="parTrans" cxnId="{D11CDC42-40B6-4D1E-A284-C269358DD03E}">
      <dgm:prSet/>
      <dgm:spPr/>
      <dgm:t>
        <a:bodyPr/>
        <a:lstStyle/>
        <a:p>
          <a:endParaRPr lang="it-IT"/>
        </a:p>
      </dgm:t>
    </dgm:pt>
    <dgm:pt modelId="{A01194A0-7558-4471-AF25-7B0CCB376225}" type="sibTrans" cxnId="{D11CDC42-40B6-4D1E-A284-C269358DD03E}">
      <dgm:prSet/>
      <dgm:spPr/>
      <dgm:t>
        <a:bodyPr/>
        <a:lstStyle/>
        <a:p>
          <a:endParaRPr lang="it-IT"/>
        </a:p>
      </dgm:t>
    </dgm:pt>
    <dgm:pt modelId="{3A38A3B9-0783-46DF-90C5-3AC4C9DE63DF}">
      <dgm:prSet phldrT="[Testo]"/>
      <dgm:spPr/>
      <dgm:t>
        <a:bodyPr/>
        <a:lstStyle/>
        <a:p>
          <a:r>
            <a:rPr lang="it-IT" dirty="0"/>
            <a:t>Astrazione di operazioni </a:t>
          </a:r>
          <a:r>
            <a:rPr lang="it-IT" dirty="0">
              <a:sym typeface="Wingdings" pitchFamily="2" charset="2"/>
            </a:rPr>
            <a:t> non restituiscono nulla (ma fanno qualcosa)</a:t>
          </a:r>
          <a:endParaRPr lang="it-IT" dirty="0"/>
        </a:p>
      </dgm:t>
    </dgm:pt>
    <dgm:pt modelId="{6234356A-2FCE-46F1-86B7-B9347E5A3F47}" type="parTrans" cxnId="{C07FE0DF-7396-4E41-B341-619F0F2B1D15}">
      <dgm:prSet/>
      <dgm:spPr/>
      <dgm:t>
        <a:bodyPr/>
        <a:lstStyle/>
        <a:p>
          <a:endParaRPr lang="it-IT"/>
        </a:p>
      </dgm:t>
    </dgm:pt>
    <dgm:pt modelId="{1E653DCA-0095-4DF0-B20B-F27791C30C89}" type="sibTrans" cxnId="{C07FE0DF-7396-4E41-B341-619F0F2B1D15}">
      <dgm:prSet/>
      <dgm:spPr/>
      <dgm:t>
        <a:bodyPr/>
        <a:lstStyle/>
        <a:p>
          <a:endParaRPr lang="it-IT"/>
        </a:p>
      </dgm:t>
    </dgm:pt>
    <dgm:pt modelId="{B8F4BDC2-BDFD-4219-AA63-55CF6AEB0141}">
      <dgm:prSet phldrT="[Testo]"/>
      <dgm:spPr/>
      <dgm:t>
        <a:bodyPr/>
        <a:lstStyle/>
        <a:p>
          <a:r>
            <a:rPr lang="it-IT" dirty="0"/>
            <a:t>Es: </a:t>
          </a:r>
          <a:r>
            <a:rPr lang="it-IT" dirty="0" err="1"/>
            <a:t>printf</a:t>
          </a:r>
          <a:r>
            <a:rPr lang="it-IT" dirty="0"/>
            <a:t>()</a:t>
          </a:r>
        </a:p>
      </dgm:t>
    </dgm:pt>
    <dgm:pt modelId="{5BFE25B5-1C46-40EF-9501-AE1EF6798029}" type="parTrans" cxnId="{B0C2097D-BDAC-41FE-AD1B-883A2DDBB354}">
      <dgm:prSet/>
      <dgm:spPr/>
      <dgm:t>
        <a:bodyPr/>
        <a:lstStyle/>
        <a:p>
          <a:endParaRPr lang="it-IT"/>
        </a:p>
      </dgm:t>
    </dgm:pt>
    <dgm:pt modelId="{FFFC975E-D3AF-4297-AC9A-B42DFA8E64CE}" type="sibTrans" cxnId="{B0C2097D-BDAC-41FE-AD1B-883A2DDBB354}">
      <dgm:prSet/>
      <dgm:spPr/>
      <dgm:t>
        <a:bodyPr/>
        <a:lstStyle/>
        <a:p>
          <a:endParaRPr lang="it-IT"/>
        </a:p>
      </dgm:t>
    </dgm:pt>
    <dgm:pt modelId="{93BC49E3-0855-48CD-9169-50D28EF2CAC1}">
      <dgm:prSet phldrT="[Testo]"/>
      <dgm:spPr/>
      <dgm:t>
        <a:bodyPr/>
        <a:lstStyle/>
        <a:p>
          <a:r>
            <a:rPr lang="it-IT" dirty="0"/>
            <a:t>Astrazione di valore </a:t>
          </a:r>
          <a:r>
            <a:rPr lang="it-IT" dirty="0">
              <a:sym typeface="Wingdings" pitchFamily="2" charset="2"/>
            </a:rPr>
            <a:t> Restituiscono un risultato</a:t>
          </a:r>
          <a:endParaRPr lang="it-IT" dirty="0"/>
        </a:p>
      </dgm:t>
    </dgm:pt>
    <dgm:pt modelId="{700CE17E-4B05-4B09-88D5-3AD6D3C53377}" type="parTrans" cxnId="{F7E5733D-1554-41B5-85AC-BC5B2F5EEB2C}">
      <dgm:prSet/>
      <dgm:spPr/>
      <dgm:t>
        <a:bodyPr/>
        <a:lstStyle/>
        <a:p>
          <a:endParaRPr lang="it-IT"/>
        </a:p>
      </dgm:t>
    </dgm:pt>
    <dgm:pt modelId="{ABC06ADD-39E6-4AC0-8EFC-F1830663575A}" type="sibTrans" cxnId="{F7E5733D-1554-41B5-85AC-BC5B2F5EEB2C}">
      <dgm:prSet/>
      <dgm:spPr/>
      <dgm:t>
        <a:bodyPr/>
        <a:lstStyle/>
        <a:p>
          <a:endParaRPr lang="it-IT"/>
        </a:p>
      </dgm:t>
    </dgm:pt>
    <dgm:pt modelId="{2A9F248F-FFF4-4A9A-87E4-5F1A3CE1A915}">
      <dgm:prSet phldrT="[Testo]"/>
      <dgm:spPr/>
      <dgm:t>
        <a:bodyPr/>
        <a:lstStyle/>
        <a:p>
          <a:r>
            <a:rPr lang="it-IT" dirty="0"/>
            <a:t>Es: </a:t>
          </a:r>
          <a:r>
            <a:rPr lang="it-IT" dirty="0" err="1"/>
            <a:t>pow</a:t>
          </a:r>
          <a:r>
            <a:rPr lang="it-IT" dirty="0"/>
            <a:t>()</a:t>
          </a:r>
        </a:p>
      </dgm:t>
    </dgm:pt>
    <dgm:pt modelId="{B630D320-0F59-4EC5-8E82-8BC7564340EC}" type="parTrans" cxnId="{B08AD488-68EC-4A6F-AF90-2399242541FC}">
      <dgm:prSet/>
      <dgm:spPr/>
      <dgm:t>
        <a:bodyPr/>
        <a:lstStyle/>
        <a:p>
          <a:endParaRPr lang="it-IT"/>
        </a:p>
      </dgm:t>
    </dgm:pt>
    <dgm:pt modelId="{4E0D811B-90D6-48CB-AAFE-39FF148E837E}" type="sibTrans" cxnId="{B08AD488-68EC-4A6F-AF90-2399242541FC}">
      <dgm:prSet/>
      <dgm:spPr/>
      <dgm:t>
        <a:bodyPr/>
        <a:lstStyle/>
        <a:p>
          <a:endParaRPr lang="it-IT"/>
        </a:p>
      </dgm:t>
    </dgm:pt>
    <dgm:pt modelId="{479CF640-AEE5-4DA2-987B-567EE274DC3A}" type="pres">
      <dgm:prSet presAssocID="{F30801C0-67F8-48DC-80E2-0DED65E021E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EE31C07B-8262-4D0A-97F8-499FD06B6FC2}" type="pres">
      <dgm:prSet presAssocID="{F1E5F670-1A41-49E1-A715-518046336D6F}" presName="parentLin" presStyleCnt="0"/>
      <dgm:spPr/>
    </dgm:pt>
    <dgm:pt modelId="{B7313B70-A8A5-4AF3-A71C-5C2E01022153}" type="pres">
      <dgm:prSet presAssocID="{F1E5F670-1A41-49E1-A715-518046336D6F}" presName="parentLeftMargin" presStyleLbl="node1" presStyleIdx="0" presStyleCnt="2"/>
      <dgm:spPr/>
      <dgm:t>
        <a:bodyPr/>
        <a:lstStyle/>
        <a:p>
          <a:endParaRPr lang="it-IT"/>
        </a:p>
      </dgm:t>
    </dgm:pt>
    <dgm:pt modelId="{FED6115E-5DFB-437B-975B-75347A532CAC}" type="pres">
      <dgm:prSet presAssocID="{F1E5F670-1A41-49E1-A715-518046336D6F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DB91B4DF-9432-43D6-AF82-3B41B08F1BD8}" type="pres">
      <dgm:prSet presAssocID="{F1E5F670-1A41-49E1-A715-518046336D6F}" presName="negativeSpace" presStyleCnt="0"/>
      <dgm:spPr/>
    </dgm:pt>
    <dgm:pt modelId="{342AE070-F73D-41E6-8E9D-C59A91C8E345}" type="pres">
      <dgm:prSet presAssocID="{F1E5F670-1A41-49E1-A715-518046336D6F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03CB7CBE-E752-4DE1-9255-E9331EED44A4}" type="pres">
      <dgm:prSet presAssocID="{4F12B938-1BB2-4D42-8CE9-4F627AA7075E}" presName="spaceBetweenRectangles" presStyleCnt="0"/>
      <dgm:spPr/>
    </dgm:pt>
    <dgm:pt modelId="{B1AC1DE0-C4EB-408A-BEE4-17A30D7BFDEE}" type="pres">
      <dgm:prSet presAssocID="{F43C69EE-EB53-4F19-B4C5-12141FEA5BBB}" presName="parentLin" presStyleCnt="0"/>
      <dgm:spPr/>
    </dgm:pt>
    <dgm:pt modelId="{EF8F3DB1-CDE3-42AA-AE91-7CADF9BECF53}" type="pres">
      <dgm:prSet presAssocID="{F43C69EE-EB53-4F19-B4C5-12141FEA5BBB}" presName="parentLeftMargin" presStyleLbl="node1" presStyleIdx="0" presStyleCnt="2"/>
      <dgm:spPr/>
      <dgm:t>
        <a:bodyPr/>
        <a:lstStyle/>
        <a:p>
          <a:endParaRPr lang="it-IT"/>
        </a:p>
      </dgm:t>
    </dgm:pt>
    <dgm:pt modelId="{B78807AE-3602-4074-A8DC-DFB53DE8F337}" type="pres">
      <dgm:prSet presAssocID="{F43C69EE-EB53-4F19-B4C5-12141FEA5BBB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108DA792-6FC6-48F7-83F6-1B00F5349C34}" type="pres">
      <dgm:prSet presAssocID="{F43C69EE-EB53-4F19-B4C5-12141FEA5BBB}" presName="negativeSpace" presStyleCnt="0"/>
      <dgm:spPr/>
    </dgm:pt>
    <dgm:pt modelId="{FCBDE692-7789-4E6D-81F8-B60316749D9B}" type="pres">
      <dgm:prSet presAssocID="{F43C69EE-EB53-4F19-B4C5-12141FEA5BBB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D11CDC42-40B6-4D1E-A284-C269358DD03E}" srcId="{F30801C0-67F8-48DC-80E2-0DED65E021E7}" destId="{F43C69EE-EB53-4F19-B4C5-12141FEA5BBB}" srcOrd="1" destOrd="0" parTransId="{68362480-3657-440E-86CC-3D6FBBF8A859}" sibTransId="{A01194A0-7558-4471-AF25-7B0CCB376225}"/>
    <dgm:cxn modelId="{763CD3BA-D1BF-45CA-870D-D314283DB919}" type="presOf" srcId="{F1E5F670-1A41-49E1-A715-518046336D6F}" destId="{FED6115E-5DFB-437B-975B-75347A532CAC}" srcOrd="1" destOrd="0" presId="urn:microsoft.com/office/officeart/2005/8/layout/list1"/>
    <dgm:cxn modelId="{553B97CB-41F0-4D9D-929D-EC79F85A4186}" type="presOf" srcId="{3A38A3B9-0783-46DF-90C5-3AC4C9DE63DF}" destId="{342AE070-F73D-41E6-8E9D-C59A91C8E345}" srcOrd="0" destOrd="0" presId="urn:microsoft.com/office/officeart/2005/8/layout/list1"/>
    <dgm:cxn modelId="{B08AD488-68EC-4A6F-AF90-2399242541FC}" srcId="{F43C69EE-EB53-4F19-B4C5-12141FEA5BBB}" destId="{2A9F248F-FFF4-4A9A-87E4-5F1A3CE1A915}" srcOrd="1" destOrd="0" parTransId="{B630D320-0F59-4EC5-8E82-8BC7564340EC}" sibTransId="{4E0D811B-90D6-48CB-AAFE-39FF148E837E}"/>
    <dgm:cxn modelId="{ED6437A1-BBF2-4FFE-9806-E8503A22B799}" type="presOf" srcId="{F1E5F670-1A41-49E1-A715-518046336D6F}" destId="{B7313B70-A8A5-4AF3-A71C-5C2E01022153}" srcOrd="0" destOrd="0" presId="urn:microsoft.com/office/officeart/2005/8/layout/list1"/>
    <dgm:cxn modelId="{F7E5733D-1554-41B5-85AC-BC5B2F5EEB2C}" srcId="{F43C69EE-EB53-4F19-B4C5-12141FEA5BBB}" destId="{93BC49E3-0855-48CD-9169-50D28EF2CAC1}" srcOrd="0" destOrd="0" parTransId="{700CE17E-4B05-4B09-88D5-3AD6D3C53377}" sibTransId="{ABC06ADD-39E6-4AC0-8EFC-F1830663575A}"/>
    <dgm:cxn modelId="{FE13DD60-B063-4CF1-AE02-C9E83E0AF4D1}" srcId="{F30801C0-67F8-48DC-80E2-0DED65E021E7}" destId="{F1E5F670-1A41-49E1-A715-518046336D6F}" srcOrd="0" destOrd="0" parTransId="{BF03BF68-A0DF-4089-B0C5-DBBD1422ED2F}" sibTransId="{4F12B938-1BB2-4D42-8CE9-4F627AA7075E}"/>
    <dgm:cxn modelId="{CD4457E6-2466-46FD-9772-03E282ED8FF1}" type="presOf" srcId="{2A9F248F-FFF4-4A9A-87E4-5F1A3CE1A915}" destId="{FCBDE692-7789-4E6D-81F8-B60316749D9B}" srcOrd="0" destOrd="1" presId="urn:microsoft.com/office/officeart/2005/8/layout/list1"/>
    <dgm:cxn modelId="{4529DE7D-676D-484F-A6AB-2FCBED1A3D70}" type="presOf" srcId="{93BC49E3-0855-48CD-9169-50D28EF2CAC1}" destId="{FCBDE692-7789-4E6D-81F8-B60316749D9B}" srcOrd="0" destOrd="0" presId="urn:microsoft.com/office/officeart/2005/8/layout/list1"/>
    <dgm:cxn modelId="{75557E39-62E7-4217-9FEC-F227EF52DCEF}" type="presOf" srcId="{F43C69EE-EB53-4F19-B4C5-12141FEA5BBB}" destId="{B78807AE-3602-4074-A8DC-DFB53DE8F337}" srcOrd="1" destOrd="0" presId="urn:microsoft.com/office/officeart/2005/8/layout/list1"/>
    <dgm:cxn modelId="{71E08505-89BC-4E0A-A094-E96550584B82}" type="presOf" srcId="{F30801C0-67F8-48DC-80E2-0DED65E021E7}" destId="{479CF640-AEE5-4DA2-987B-567EE274DC3A}" srcOrd="0" destOrd="0" presId="urn:microsoft.com/office/officeart/2005/8/layout/list1"/>
    <dgm:cxn modelId="{B0C2097D-BDAC-41FE-AD1B-883A2DDBB354}" srcId="{F1E5F670-1A41-49E1-A715-518046336D6F}" destId="{B8F4BDC2-BDFD-4219-AA63-55CF6AEB0141}" srcOrd="1" destOrd="0" parTransId="{5BFE25B5-1C46-40EF-9501-AE1EF6798029}" sibTransId="{FFFC975E-D3AF-4297-AC9A-B42DFA8E64CE}"/>
    <dgm:cxn modelId="{728F857F-FD91-44A9-9285-2DE01592AA93}" type="presOf" srcId="{F43C69EE-EB53-4F19-B4C5-12141FEA5BBB}" destId="{EF8F3DB1-CDE3-42AA-AE91-7CADF9BECF53}" srcOrd="0" destOrd="0" presId="urn:microsoft.com/office/officeart/2005/8/layout/list1"/>
    <dgm:cxn modelId="{C07FE0DF-7396-4E41-B341-619F0F2B1D15}" srcId="{F1E5F670-1A41-49E1-A715-518046336D6F}" destId="{3A38A3B9-0783-46DF-90C5-3AC4C9DE63DF}" srcOrd="0" destOrd="0" parTransId="{6234356A-2FCE-46F1-86B7-B9347E5A3F47}" sibTransId="{1E653DCA-0095-4DF0-B20B-F27791C30C89}"/>
    <dgm:cxn modelId="{29367455-E3EE-4490-B382-DFF9AB0B485E}" type="presOf" srcId="{B8F4BDC2-BDFD-4219-AA63-55CF6AEB0141}" destId="{342AE070-F73D-41E6-8E9D-C59A91C8E345}" srcOrd="0" destOrd="1" presId="urn:microsoft.com/office/officeart/2005/8/layout/list1"/>
    <dgm:cxn modelId="{8507A107-E899-4CF8-837C-58FAD586B171}" type="presParOf" srcId="{479CF640-AEE5-4DA2-987B-567EE274DC3A}" destId="{EE31C07B-8262-4D0A-97F8-499FD06B6FC2}" srcOrd="0" destOrd="0" presId="urn:microsoft.com/office/officeart/2005/8/layout/list1"/>
    <dgm:cxn modelId="{1864C0AA-ECF9-482A-AA70-4FAF6EB3243A}" type="presParOf" srcId="{EE31C07B-8262-4D0A-97F8-499FD06B6FC2}" destId="{B7313B70-A8A5-4AF3-A71C-5C2E01022153}" srcOrd="0" destOrd="0" presId="urn:microsoft.com/office/officeart/2005/8/layout/list1"/>
    <dgm:cxn modelId="{78B60A83-06EE-4C3E-A970-C1B9913FCB6D}" type="presParOf" srcId="{EE31C07B-8262-4D0A-97F8-499FD06B6FC2}" destId="{FED6115E-5DFB-437B-975B-75347A532CAC}" srcOrd="1" destOrd="0" presId="urn:microsoft.com/office/officeart/2005/8/layout/list1"/>
    <dgm:cxn modelId="{FE87E64D-A08D-4845-8974-EAEF75BFEFF0}" type="presParOf" srcId="{479CF640-AEE5-4DA2-987B-567EE274DC3A}" destId="{DB91B4DF-9432-43D6-AF82-3B41B08F1BD8}" srcOrd="1" destOrd="0" presId="urn:microsoft.com/office/officeart/2005/8/layout/list1"/>
    <dgm:cxn modelId="{D9A59411-3AC8-4687-826A-B7D3B491BADA}" type="presParOf" srcId="{479CF640-AEE5-4DA2-987B-567EE274DC3A}" destId="{342AE070-F73D-41E6-8E9D-C59A91C8E345}" srcOrd="2" destOrd="0" presId="urn:microsoft.com/office/officeart/2005/8/layout/list1"/>
    <dgm:cxn modelId="{F2FAEA94-175E-4AD3-BC59-EA4036190C1A}" type="presParOf" srcId="{479CF640-AEE5-4DA2-987B-567EE274DC3A}" destId="{03CB7CBE-E752-4DE1-9255-E9331EED44A4}" srcOrd="3" destOrd="0" presId="urn:microsoft.com/office/officeart/2005/8/layout/list1"/>
    <dgm:cxn modelId="{0BAA7FCD-012C-4CA9-91AF-B0EDA4CB4571}" type="presParOf" srcId="{479CF640-AEE5-4DA2-987B-567EE274DC3A}" destId="{B1AC1DE0-C4EB-408A-BEE4-17A30D7BFDEE}" srcOrd="4" destOrd="0" presId="urn:microsoft.com/office/officeart/2005/8/layout/list1"/>
    <dgm:cxn modelId="{F7BC3832-859C-49BE-83F7-BC8496AC6471}" type="presParOf" srcId="{B1AC1DE0-C4EB-408A-BEE4-17A30D7BFDEE}" destId="{EF8F3DB1-CDE3-42AA-AE91-7CADF9BECF53}" srcOrd="0" destOrd="0" presId="urn:microsoft.com/office/officeart/2005/8/layout/list1"/>
    <dgm:cxn modelId="{C2C66503-2476-4316-B5CA-CA20854F130D}" type="presParOf" srcId="{B1AC1DE0-C4EB-408A-BEE4-17A30D7BFDEE}" destId="{B78807AE-3602-4074-A8DC-DFB53DE8F337}" srcOrd="1" destOrd="0" presId="urn:microsoft.com/office/officeart/2005/8/layout/list1"/>
    <dgm:cxn modelId="{C8DF1D1F-DC25-4B59-95AB-E9339DF5A551}" type="presParOf" srcId="{479CF640-AEE5-4DA2-987B-567EE274DC3A}" destId="{108DA792-6FC6-48F7-83F6-1B00F5349C34}" srcOrd="5" destOrd="0" presId="urn:microsoft.com/office/officeart/2005/8/layout/list1"/>
    <dgm:cxn modelId="{A1298C1C-2FEF-44D8-BFD7-1E44A5B66F39}" type="presParOf" srcId="{479CF640-AEE5-4DA2-987B-567EE274DC3A}" destId="{FCBDE692-7789-4E6D-81F8-B60316749D9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0FE9F0-19F9-4F5D-9D88-F7B639504FDD}" type="doc">
      <dgm:prSet loTypeId="urn:microsoft.com/office/officeart/2005/8/layout/hProcess4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it-IT"/>
        </a:p>
      </dgm:t>
    </dgm:pt>
    <dgm:pt modelId="{120709F2-B570-4C4B-AA73-D056D90DAB84}">
      <dgm:prSet phldrT="[Testo]"/>
      <dgm:spPr/>
      <dgm:t>
        <a:bodyPr/>
        <a:lstStyle/>
        <a:p>
          <a:r>
            <a:rPr lang="it-IT" dirty="0"/>
            <a:t>Dichiarazione del Prototipo</a:t>
          </a:r>
        </a:p>
      </dgm:t>
    </dgm:pt>
    <dgm:pt modelId="{C016EA9C-9F16-4CAF-927D-8DE9821784FA}" type="parTrans" cxnId="{84FA3539-A4DB-4287-9157-8D4B7D7A34B9}">
      <dgm:prSet/>
      <dgm:spPr/>
      <dgm:t>
        <a:bodyPr/>
        <a:lstStyle/>
        <a:p>
          <a:endParaRPr lang="it-IT"/>
        </a:p>
      </dgm:t>
    </dgm:pt>
    <dgm:pt modelId="{624A07DF-46F8-409C-BEC4-4DA7EAB2A6C4}" type="sibTrans" cxnId="{84FA3539-A4DB-4287-9157-8D4B7D7A34B9}">
      <dgm:prSet/>
      <dgm:spPr/>
      <dgm:t>
        <a:bodyPr/>
        <a:lstStyle/>
        <a:p>
          <a:endParaRPr lang="it-IT"/>
        </a:p>
      </dgm:t>
    </dgm:pt>
    <dgm:pt modelId="{719E4D49-242B-4AF1-B139-BAF33E03CBF3}">
      <dgm:prSet phldrT="[Testo]"/>
      <dgm:spPr/>
      <dgm:t>
        <a:bodyPr/>
        <a:lstStyle/>
        <a:p>
          <a:r>
            <a:rPr lang="it-IT" dirty="0"/>
            <a:t>Firma della funzione</a:t>
          </a:r>
        </a:p>
      </dgm:t>
    </dgm:pt>
    <dgm:pt modelId="{3E4D490B-2036-4CF5-82D3-75471314117A}" type="parTrans" cxnId="{98485D3E-C619-48D4-9228-227EAB2E48A4}">
      <dgm:prSet/>
      <dgm:spPr/>
      <dgm:t>
        <a:bodyPr/>
        <a:lstStyle/>
        <a:p>
          <a:endParaRPr lang="it-IT"/>
        </a:p>
      </dgm:t>
    </dgm:pt>
    <dgm:pt modelId="{65F0A651-9D9A-4442-B142-901CEA40BA2E}" type="sibTrans" cxnId="{98485D3E-C619-48D4-9228-227EAB2E48A4}">
      <dgm:prSet/>
      <dgm:spPr/>
      <dgm:t>
        <a:bodyPr/>
        <a:lstStyle/>
        <a:p>
          <a:endParaRPr lang="it-IT"/>
        </a:p>
      </dgm:t>
    </dgm:pt>
    <dgm:pt modelId="{24BCB833-0265-4BC7-8DB0-F73FFBA60B50}">
      <dgm:prSet phldrT="[Testo]"/>
      <dgm:spPr/>
      <dgm:t>
        <a:bodyPr/>
        <a:lstStyle/>
        <a:p>
          <a:r>
            <a:rPr lang="it-IT" dirty="0"/>
            <a:t>Spiega la sintassi della funzione al compilatore</a:t>
          </a:r>
        </a:p>
      </dgm:t>
    </dgm:pt>
    <dgm:pt modelId="{EA40CD55-8C20-4A8F-9BE1-54599ACC10D5}" type="parTrans" cxnId="{E397704D-BB89-4621-9E03-72755606FB37}">
      <dgm:prSet/>
      <dgm:spPr/>
      <dgm:t>
        <a:bodyPr/>
        <a:lstStyle/>
        <a:p>
          <a:endParaRPr lang="it-IT"/>
        </a:p>
      </dgm:t>
    </dgm:pt>
    <dgm:pt modelId="{EC4B8EA9-93EB-4C93-81F9-618468A90817}" type="sibTrans" cxnId="{E397704D-BB89-4621-9E03-72755606FB37}">
      <dgm:prSet/>
      <dgm:spPr/>
      <dgm:t>
        <a:bodyPr/>
        <a:lstStyle/>
        <a:p>
          <a:endParaRPr lang="it-IT"/>
        </a:p>
      </dgm:t>
    </dgm:pt>
    <dgm:pt modelId="{CF8C18EC-F6D5-4461-8E78-C9936206F016}">
      <dgm:prSet phldrT="[Testo]"/>
      <dgm:spPr/>
      <dgm:t>
        <a:bodyPr/>
        <a:lstStyle/>
        <a:p>
          <a:r>
            <a:rPr lang="it-IT" dirty="0"/>
            <a:t>Definizione</a:t>
          </a:r>
        </a:p>
      </dgm:t>
    </dgm:pt>
    <dgm:pt modelId="{62C0F7E0-8C4D-4CF4-8394-89302902FC5D}" type="parTrans" cxnId="{E43F77F2-109E-410A-B6C0-E3FFE3B9F8D9}">
      <dgm:prSet/>
      <dgm:spPr/>
      <dgm:t>
        <a:bodyPr/>
        <a:lstStyle/>
        <a:p>
          <a:endParaRPr lang="it-IT"/>
        </a:p>
      </dgm:t>
    </dgm:pt>
    <dgm:pt modelId="{28C9AA02-81CA-488B-8D4E-E0F6611A5A61}" type="sibTrans" cxnId="{E43F77F2-109E-410A-B6C0-E3FFE3B9F8D9}">
      <dgm:prSet/>
      <dgm:spPr/>
      <dgm:t>
        <a:bodyPr/>
        <a:lstStyle/>
        <a:p>
          <a:endParaRPr lang="it-IT"/>
        </a:p>
      </dgm:t>
    </dgm:pt>
    <dgm:pt modelId="{E969D4FF-2F86-48DD-A0AC-B22B4EE36F9B}">
      <dgm:prSet phldrT="[Testo]"/>
      <dgm:spPr/>
      <dgm:t>
        <a:bodyPr/>
        <a:lstStyle/>
        <a:p>
          <a:r>
            <a:rPr lang="it-IT" dirty="0"/>
            <a:t>Contiene le istruzioni che la funzione esegue</a:t>
          </a:r>
        </a:p>
      </dgm:t>
    </dgm:pt>
    <dgm:pt modelId="{8BC6F64C-67A0-40B5-80FE-4C1BB79955C6}" type="parTrans" cxnId="{EF6669AA-3D77-47D0-A8AB-AA5AA83EAD00}">
      <dgm:prSet/>
      <dgm:spPr/>
      <dgm:t>
        <a:bodyPr/>
        <a:lstStyle/>
        <a:p>
          <a:endParaRPr lang="it-IT"/>
        </a:p>
      </dgm:t>
    </dgm:pt>
    <dgm:pt modelId="{9FE4E04D-C194-4875-9C2C-46E4BF655654}" type="sibTrans" cxnId="{EF6669AA-3D77-47D0-A8AB-AA5AA83EAD00}">
      <dgm:prSet/>
      <dgm:spPr/>
      <dgm:t>
        <a:bodyPr/>
        <a:lstStyle/>
        <a:p>
          <a:endParaRPr lang="it-IT"/>
        </a:p>
      </dgm:t>
    </dgm:pt>
    <dgm:pt modelId="{9E71BF2C-4145-470D-9E21-E2A6C0F2EC29}">
      <dgm:prSet phldrT="[Testo]"/>
      <dgm:spPr/>
      <dgm:t>
        <a:bodyPr/>
        <a:lstStyle/>
        <a:p>
          <a:r>
            <a:rPr lang="it-IT" dirty="0"/>
            <a:t>Chiamata o Invocazione</a:t>
          </a:r>
        </a:p>
      </dgm:t>
    </dgm:pt>
    <dgm:pt modelId="{F0EE959F-F357-4C0A-9720-214BF087D7E6}" type="parTrans" cxnId="{7EA3D2D2-F47B-430C-93F7-B681D118AE6E}">
      <dgm:prSet/>
      <dgm:spPr/>
      <dgm:t>
        <a:bodyPr/>
        <a:lstStyle/>
        <a:p>
          <a:endParaRPr lang="it-IT"/>
        </a:p>
      </dgm:t>
    </dgm:pt>
    <dgm:pt modelId="{9893A937-94B1-48A0-A8CB-7682395FB839}" type="sibTrans" cxnId="{7EA3D2D2-F47B-430C-93F7-B681D118AE6E}">
      <dgm:prSet/>
      <dgm:spPr/>
      <dgm:t>
        <a:bodyPr/>
        <a:lstStyle/>
        <a:p>
          <a:endParaRPr lang="it-IT"/>
        </a:p>
      </dgm:t>
    </dgm:pt>
    <dgm:pt modelId="{B9FD5058-1DE9-4514-B3DE-C5670F6E4FA3}">
      <dgm:prSet phldrT="[Testo]"/>
      <dgm:spPr/>
      <dgm:t>
        <a:bodyPr/>
        <a:lstStyle/>
        <a:p>
          <a:r>
            <a:rPr lang="it-IT" dirty="0"/>
            <a:t>È il momento in cui la funzione viene «lanciata» ed eseguita dal programma chiamante.</a:t>
          </a:r>
        </a:p>
      </dgm:t>
    </dgm:pt>
    <dgm:pt modelId="{71330B05-F217-47AA-8C50-EA9E9C13648E}" type="parTrans" cxnId="{A2632B94-8779-4B7E-B75D-CD583025E1BB}">
      <dgm:prSet/>
      <dgm:spPr/>
      <dgm:t>
        <a:bodyPr/>
        <a:lstStyle/>
        <a:p>
          <a:endParaRPr lang="it-IT"/>
        </a:p>
      </dgm:t>
    </dgm:pt>
    <dgm:pt modelId="{ECB3CFF9-5E5E-444E-BFF9-48DB772DF252}" type="sibTrans" cxnId="{A2632B94-8779-4B7E-B75D-CD583025E1BB}">
      <dgm:prSet/>
      <dgm:spPr/>
      <dgm:t>
        <a:bodyPr/>
        <a:lstStyle/>
        <a:p>
          <a:endParaRPr lang="it-IT"/>
        </a:p>
      </dgm:t>
    </dgm:pt>
    <dgm:pt modelId="{505AFCA4-C389-48E4-9D58-D66E76151A00}" type="pres">
      <dgm:prSet presAssocID="{2E0FE9F0-19F9-4F5D-9D88-F7B639504FD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C72DB336-C94D-4330-A04A-577F4DC29258}" type="pres">
      <dgm:prSet presAssocID="{2E0FE9F0-19F9-4F5D-9D88-F7B639504FDD}" presName="tSp" presStyleCnt="0"/>
      <dgm:spPr/>
    </dgm:pt>
    <dgm:pt modelId="{A8C3218B-6695-46DE-AD1F-3436A510C93F}" type="pres">
      <dgm:prSet presAssocID="{2E0FE9F0-19F9-4F5D-9D88-F7B639504FDD}" presName="bSp" presStyleCnt="0"/>
      <dgm:spPr/>
    </dgm:pt>
    <dgm:pt modelId="{06774B28-7859-487D-9A93-A503CD249D98}" type="pres">
      <dgm:prSet presAssocID="{2E0FE9F0-19F9-4F5D-9D88-F7B639504FDD}" presName="process" presStyleCnt="0"/>
      <dgm:spPr/>
    </dgm:pt>
    <dgm:pt modelId="{C064FEED-7B75-4699-BFAD-6EBA5FB87D3E}" type="pres">
      <dgm:prSet presAssocID="{120709F2-B570-4C4B-AA73-D056D90DAB84}" presName="composite1" presStyleCnt="0"/>
      <dgm:spPr/>
    </dgm:pt>
    <dgm:pt modelId="{585CCC8A-14FB-4D0D-A4BD-C624F42BD45D}" type="pres">
      <dgm:prSet presAssocID="{120709F2-B570-4C4B-AA73-D056D90DAB84}" presName="dummyNode1" presStyleLbl="node1" presStyleIdx="0" presStyleCnt="3"/>
      <dgm:spPr/>
    </dgm:pt>
    <dgm:pt modelId="{B98A8954-E9C5-48D3-9C8E-70FC19EC353E}" type="pres">
      <dgm:prSet presAssocID="{120709F2-B570-4C4B-AA73-D056D90DAB84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40056AB9-5C9D-4A1A-9107-79C1FB1D3ACD}" type="pres">
      <dgm:prSet presAssocID="{120709F2-B570-4C4B-AA73-D056D90DAB84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D843C75C-1EFE-4ECD-AFE7-649406AE64F4}" type="pres">
      <dgm:prSet presAssocID="{120709F2-B570-4C4B-AA73-D056D90DAB84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1910278F-E0AF-4C1D-9781-86A5E263632E}" type="pres">
      <dgm:prSet presAssocID="{120709F2-B570-4C4B-AA73-D056D90DAB84}" presName="connSite1" presStyleCnt="0"/>
      <dgm:spPr/>
    </dgm:pt>
    <dgm:pt modelId="{99F19C3D-1A21-4454-93F0-36750E9D5BDA}" type="pres">
      <dgm:prSet presAssocID="{624A07DF-46F8-409C-BEC4-4DA7EAB2A6C4}" presName="Name9" presStyleLbl="sibTrans2D1" presStyleIdx="0" presStyleCnt="2"/>
      <dgm:spPr/>
      <dgm:t>
        <a:bodyPr/>
        <a:lstStyle/>
        <a:p>
          <a:endParaRPr lang="it-IT"/>
        </a:p>
      </dgm:t>
    </dgm:pt>
    <dgm:pt modelId="{C62EF08B-55B7-49AD-ABF7-3562A5930D5B}" type="pres">
      <dgm:prSet presAssocID="{CF8C18EC-F6D5-4461-8E78-C9936206F016}" presName="composite2" presStyleCnt="0"/>
      <dgm:spPr/>
    </dgm:pt>
    <dgm:pt modelId="{CE8183B5-EFEC-413D-B706-10EA9346F432}" type="pres">
      <dgm:prSet presAssocID="{CF8C18EC-F6D5-4461-8E78-C9936206F016}" presName="dummyNode2" presStyleLbl="node1" presStyleIdx="0" presStyleCnt="3"/>
      <dgm:spPr/>
    </dgm:pt>
    <dgm:pt modelId="{5CDEB552-3F3E-448D-B907-66882EBE350B}" type="pres">
      <dgm:prSet presAssocID="{CF8C18EC-F6D5-4461-8E78-C9936206F016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D0A283EA-F3D5-435B-BBAD-DE535AE27000}" type="pres">
      <dgm:prSet presAssocID="{CF8C18EC-F6D5-4461-8E78-C9936206F016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C1D440EA-2BAE-46C2-9A6E-354BD51547D7}" type="pres">
      <dgm:prSet presAssocID="{CF8C18EC-F6D5-4461-8E78-C9936206F016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B547C523-0BCE-4C5D-A82F-48D5FA65A57D}" type="pres">
      <dgm:prSet presAssocID="{CF8C18EC-F6D5-4461-8E78-C9936206F016}" presName="connSite2" presStyleCnt="0"/>
      <dgm:spPr/>
    </dgm:pt>
    <dgm:pt modelId="{753FD8D0-0216-4429-A3DA-FA350CD1FF01}" type="pres">
      <dgm:prSet presAssocID="{28C9AA02-81CA-488B-8D4E-E0F6611A5A61}" presName="Name18" presStyleLbl="sibTrans2D1" presStyleIdx="1" presStyleCnt="2"/>
      <dgm:spPr/>
      <dgm:t>
        <a:bodyPr/>
        <a:lstStyle/>
        <a:p>
          <a:endParaRPr lang="it-IT"/>
        </a:p>
      </dgm:t>
    </dgm:pt>
    <dgm:pt modelId="{8DF8373D-CC66-4B81-B599-DE0F9A3F4263}" type="pres">
      <dgm:prSet presAssocID="{9E71BF2C-4145-470D-9E21-E2A6C0F2EC29}" presName="composite1" presStyleCnt="0"/>
      <dgm:spPr/>
    </dgm:pt>
    <dgm:pt modelId="{9F02D03D-CE62-4178-BF54-FD9674381C84}" type="pres">
      <dgm:prSet presAssocID="{9E71BF2C-4145-470D-9E21-E2A6C0F2EC29}" presName="dummyNode1" presStyleLbl="node1" presStyleIdx="1" presStyleCnt="3"/>
      <dgm:spPr/>
    </dgm:pt>
    <dgm:pt modelId="{3BF0125D-7022-4A00-8CB4-5A4CE5209A25}" type="pres">
      <dgm:prSet presAssocID="{9E71BF2C-4145-470D-9E21-E2A6C0F2EC29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1B733692-FACC-4D4A-9BF6-848268DC913B}" type="pres">
      <dgm:prSet presAssocID="{9E71BF2C-4145-470D-9E21-E2A6C0F2EC29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82F347E8-5F77-4357-9E1A-0F46CCBEE9F5}" type="pres">
      <dgm:prSet presAssocID="{9E71BF2C-4145-470D-9E21-E2A6C0F2EC29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CC99BED1-2834-47D0-BB52-B0E1ED7F6828}" type="pres">
      <dgm:prSet presAssocID="{9E71BF2C-4145-470D-9E21-E2A6C0F2EC29}" presName="connSite1" presStyleCnt="0"/>
      <dgm:spPr/>
    </dgm:pt>
  </dgm:ptLst>
  <dgm:cxnLst>
    <dgm:cxn modelId="{3DA016E6-A945-49DD-ABDF-F710F583FB9C}" type="presOf" srcId="{120709F2-B570-4C4B-AA73-D056D90DAB84}" destId="{D843C75C-1EFE-4ECD-AFE7-649406AE64F4}" srcOrd="0" destOrd="0" presId="urn:microsoft.com/office/officeart/2005/8/layout/hProcess4"/>
    <dgm:cxn modelId="{F3476D77-AEAA-482A-BE9E-F61B026FAAD3}" type="presOf" srcId="{E969D4FF-2F86-48DD-A0AC-B22B4EE36F9B}" destId="{5CDEB552-3F3E-448D-B907-66882EBE350B}" srcOrd="0" destOrd="0" presId="urn:microsoft.com/office/officeart/2005/8/layout/hProcess4"/>
    <dgm:cxn modelId="{7676F495-DF3F-475B-9C78-62902A626BA2}" type="presOf" srcId="{719E4D49-242B-4AF1-B139-BAF33E03CBF3}" destId="{40056AB9-5C9D-4A1A-9107-79C1FB1D3ACD}" srcOrd="1" destOrd="0" presId="urn:microsoft.com/office/officeart/2005/8/layout/hProcess4"/>
    <dgm:cxn modelId="{84FA3539-A4DB-4287-9157-8D4B7D7A34B9}" srcId="{2E0FE9F0-19F9-4F5D-9D88-F7B639504FDD}" destId="{120709F2-B570-4C4B-AA73-D056D90DAB84}" srcOrd="0" destOrd="0" parTransId="{C016EA9C-9F16-4CAF-927D-8DE9821784FA}" sibTransId="{624A07DF-46F8-409C-BEC4-4DA7EAB2A6C4}"/>
    <dgm:cxn modelId="{0481644C-F33F-4E28-8B0E-D934571E66BF}" type="presOf" srcId="{2E0FE9F0-19F9-4F5D-9D88-F7B639504FDD}" destId="{505AFCA4-C389-48E4-9D58-D66E76151A00}" srcOrd="0" destOrd="0" presId="urn:microsoft.com/office/officeart/2005/8/layout/hProcess4"/>
    <dgm:cxn modelId="{DDF0BD58-9864-4E98-9FDC-78595467607C}" type="presOf" srcId="{24BCB833-0265-4BC7-8DB0-F73FFBA60B50}" destId="{B98A8954-E9C5-48D3-9C8E-70FC19EC353E}" srcOrd="0" destOrd="1" presId="urn:microsoft.com/office/officeart/2005/8/layout/hProcess4"/>
    <dgm:cxn modelId="{E43F77F2-109E-410A-B6C0-E3FFE3B9F8D9}" srcId="{2E0FE9F0-19F9-4F5D-9D88-F7B639504FDD}" destId="{CF8C18EC-F6D5-4461-8E78-C9936206F016}" srcOrd="1" destOrd="0" parTransId="{62C0F7E0-8C4D-4CF4-8394-89302902FC5D}" sibTransId="{28C9AA02-81CA-488B-8D4E-E0F6611A5A61}"/>
    <dgm:cxn modelId="{98485D3E-C619-48D4-9228-227EAB2E48A4}" srcId="{120709F2-B570-4C4B-AA73-D056D90DAB84}" destId="{719E4D49-242B-4AF1-B139-BAF33E03CBF3}" srcOrd="0" destOrd="0" parTransId="{3E4D490B-2036-4CF5-82D3-75471314117A}" sibTransId="{65F0A651-9D9A-4442-B142-901CEA40BA2E}"/>
    <dgm:cxn modelId="{EF6669AA-3D77-47D0-A8AB-AA5AA83EAD00}" srcId="{CF8C18EC-F6D5-4461-8E78-C9936206F016}" destId="{E969D4FF-2F86-48DD-A0AC-B22B4EE36F9B}" srcOrd="0" destOrd="0" parTransId="{8BC6F64C-67A0-40B5-80FE-4C1BB79955C6}" sibTransId="{9FE4E04D-C194-4875-9C2C-46E4BF655654}"/>
    <dgm:cxn modelId="{FBDFF7FD-1072-4F85-8446-794660A18B87}" type="presOf" srcId="{719E4D49-242B-4AF1-B139-BAF33E03CBF3}" destId="{B98A8954-E9C5-48D3-9C8E-70FC19EC353E}" srcOrd="0" destOrd="0" presId="urn:microsoft.com/office/officeart/2005/8/layout/hProcess4"/>
    <dgm:cxn modelId="{5670068F-8659-47CE-A211-90F1B684FF16}" type="presOf" srcId="{B9FD5058-1DE9-4514-B3DE-C5670F6E4FA3}" destId="{1B733692-FACC-4D4A-9BF6-848268DC913B}" srcOrd="1" destOrd="0" presId="urn:microsoft.com/office/officeart/2005/8/layout/hProcess4"/>
    <dgm:cxn modelId="{1C2DFAF6-B193-4295-BCA8-94CCB18C92D9}" type="presOf" srcId="{CF8C18EC-F6D5-4461-8E78-C9936206F016}" destId="{C1D440EA-2BAE-46C2-9A6E-354BD51547D7}" srcOrd="0" destOrd="0" presId="urn:microsoft.com/office/officeart/2005/8/layout/hProcess4"/>
    <dgm:cxn modelId="{A2632B94-8779-4B7E-B75D-CD583025E1BB}" srcId="{9E71BF2C-4145-470D-9E21-E2A6C0F2EC29}" destId="{B9FD5058-1DE9-4514-B3DE-C5670F6E4FA3}" srcOrd="0" destOrd="0" parTransId="{71330B05-F217-47AA-8C50-EA9E9C13648E}" sibTransId="{ECB3CFF9-5E5E-444E-BFF9-48DB772DF252}"/>
    <dgm:cxn modelId="{E397704D-BB89-4621-9E03-72755606FB37}" srcId="{120709F2-B570-4C4B-AA73-D056D90DAB84}" destId="{24BCB833-0265-4BC7-8DB0-F73FFBA60B50}" srcOrd="1" destOrd="0" parTransId="{EA40CD55-8C20-4A8F-9BE1-54599ACC10D5}" sibTransId="{EC4B8EA9-93EB-4C93-81F9-618468A90817}"/>
    <dgm:cxn modelId="{7926569C-5EEB-4B02-B876-53B7755D991A}" type="presOf" srcId="{E969D4FF-2F86-48DD-A0AC-B22B4EE36F9B}" destId="{D0A283EA-F3D5-435B-BBAD-DE535AE27000}" srcOrd="1" destOrd="0" presId="urn:microsoft.com/office/officeart/2005/8/layout/hProcess4"/>
    <dgm:cxn modelId="{0445F74A-525A-4BD4-BD05-18E45DE3DA59}" type="presOf" srcId="{624A07DF-46F8-409C-BEC4-4DA7EAB2A6C4}" destId="{99F19C3D-1A21-4454-93F0-36750E9D5BDA}" srcOrd="0" destOrd="0" presId="urn:microsoft.com/office/officeart/2005/8/layout/hProcess4"/>
    <dgm:cxn modelId="{8EDF4D80-4D1D-493F-A329-135B1773552F}" type="presOf" srcId="{24BCB833-0265-4BC7-8DB0-F73FFBA60B50}" destId="{40056AB9-5C9D-4A1A-9107-79C1FB1D3ACD}" srcOrd="1" destOrd="1" presId="urn:microsoft.com/office/officeart/2005/8/layout/hProcess4"/>
    <dgm:cxn modelId="{B1DEDF3E-222F-432C-969F-B5B71ED37588}" type="presOf" srcId="{28C9AA02-81CA-488B-8D4E-E0F6611A5A61}" destId="{753FD8D0-0216-4429-A3DA-FA350CD1FF01}" srcOrd="0" destOrd="0" presId="urn:microsoft.com/office/officeart/2005/8/layout/hProcess4"/>
    <dgm:cxn modelId="{2847572A-2253-4A41-A59E-6E4ECC616686}" type="presOf" srcId="{B9FD5058-1DE9-4514-B3DE-C5670F6E4FA3}" destId="{3BF0125D-7022-4A00-8CB4-5A4CE5209A25}" srcOrd="0" destOrd="0" presId="urn:microsoft.com/office/officeart/2005/8/layout/hProcess4"/>
    <dgm:cxn modelId="{7EA3D2D2-F47B-430C-93F7-B681D118AE6E}" srcId="{2E0FE9F0-19F9-4F5D-9D88-F7B639504FDD}" destId="{9E71BF2C-4145-470D-9E21-E2A6C0F2EC29}" srcOrd="2" destOrd="0" parTransId="{F0EE959F-F357-4C0A-9720-214BF087D7E6}" sibTransId="{9893A937-94B1-48A0-A8CB-7682395FB839}"/>
    <dgm:cxn modelId="{50B36805-1A6F-4131-9171-CA91105E576B}" type="presOf" srcId="{9E71BF2C-4145-470D-9E21-E2A6C0F2EC29}" destId="{82F347E8-5F77-4357-9E1A-0F46CCBEE9F5}" srcOrd="0" destOrd="0" presId="urn:microsoft.com/office/officeart/2005/8/layout/hProcess4"/>
    <dgm:cxn modelId="{EA577A60-D176-4046-9E2B-0EFD78DAF584}" type="presParOf" srcId="{505AFCA4-C389-48E4-9D58-D66E76151A00}" destId="{C72DB336-C94D-4330-A04A-577F4DC29258}" srcOrd="0" destOrd="0" presId="urn:microsoft.com/office/officeart/2005/8/layout/hProcess4"/>
    <dgm:cxn modelId="{2EB7CFF2-A5B0-4FA8-B3B4-6F4703592FB2}" type="presParOf" srcId="{505AFCA4-C389-48E4-9D58-D66E76151A00}" destId="{A8C3218B-6695-46DE-AD1F-3436A510C93F}" srcOrd="1" destOrd="0" presId="urn:microsoft.com/office/officeart/2005/8/layout/hProcess4"/>
    <dgm:cxn modelId="{EBDA8DD9-BBE9-45AD-8A90-3015D2D045F5}" type="presParOf" srcId="{505AFCA4-C389-48E4-9D58-D66E76151A00}" destId="{06774B28-7859-487D-9A93-A503CD249D98}" srcOrd="2" destOrd="0" presId="urn:microsoft.com/office/officeart/2005/8/layout/hProcess4"/>
    <dgm:cxn modelId="{FB4272F7-4C2A-4999-B15B-2339315C7695}" type="presParOf" srcId="{06774B28-7859-487D-9A93-A503CD249D98}" destId="{C064FEED-7B75-4699-BFAD-6EBA5FB87D3E}" srcOrd="0" destOrd="0" presId="urn:microsoft.com/office/officeart/2005/8/layout/hProcess4"/>
    <dgm:cxn modelId="{AC7C6607-08EA-4A7F-A040-17CE87CF1FE7}" type="presParOf" srcId="{C064FEED-7B75-4699-BFAD-6EBA5FB87D3E}" destId="{585CCC8A-14FB-4D0D-A4BD-C624F42BD45D}" srcOrd="0" destOrd="0" presId="urn:microsoft.com/office/officeart/2005/8/layout/hProcess4"/>
    <dgm:cxn modelId="{91CD1ECA-0320-4FF5-B3C1-12CCA2B62EAC}" type="presParOf" srcId="{C064FEED-7B75-4699-BFAD-6EBA5FB87D3E}" destId="{B98A8954-E9C5-48D3-9C8E-70FC19EC353E}" srcOrd="1" destOrd="0" presId="urn:microsoft.com/office/officeart/2005/8/layout/hProcess4"/>
    <dgm:cxn modelId="{C18812EB-8D9D-4664-A074-C2D3768E956B}" type="presParOf" srcId="{C064FEED-7B75-4699-BFAD-6EBA5FB87D3E}" destId="{40056AB9-5C9D-4A1A-9107-79C1FB1D3ACD}" srcOrd="2" destOrd="0" presId="urn:microsoft.com/office/officeart/2005/8/layout/hProcess4"/>
    <dgm:cxn modelId="{D4F278CF-3DD8-4EA9-880A-C94C57749E3A}" type="presParOf" srcId="{C064FEED-7B75-4699-BFAD-6EBA5FB87D3E}" destId="{D843C75C-1EFE-4ECD-AFE7-649406AE64F4}" srcOrd="3" destOrd="0" presId="urn:microsoft.com/office/officeart/2005/8/layout/hProcess4"/>
    <dgm:cxn modelId="{626290C3-EC9C-4730-BCFF-44137E6608AB}" type="presParOf" srcId="{C064FEED-7B75-4699-BFAD-6EBA5FB87D3E}" destId="{1910278F-E0AF-4C1D-9781-86A5E263632E}" srcOrd="4" destOrd="0" presId="urn:microsoft.com/office/officeart/2005/8/layout/hProcess4"/>
    <dgm:cxn modelId="{E55B8070-8AAE-4142-937F-5C0FAE94DFC9}" type="presParOf" srcId="{06774B28-7859-487D-9A93-A503CD249D98}" destId="{99F19C3D-1A21-4454-93F0-36750E9D5BDA}" srcOrd="1" destOrd="0" presId="urn:microsoft.com/office/officeart/2005/8/layout/hProcess4"/>
    <dgm:cxn modelId="{3A12F67F-92B8-46C8-BAC2-323948BA7141}" type="presParOf" srcId="{06774B28-7859-487D-9A93-A503CD249D98}" destId="{C62EF08B-55B7-49AD-ABF7-3562A5930D5B}" srcOrd="2" destOrd="0" presId="urn:microsoft.com/office/officeart/2005/8/layout/hProcess4"/>
    <dgm:cxn modelId="{45C1453C-9167-4B1D-9D90-1E0C277B0D02}" type="presParOf" srcId="{C62EF08B-55B7-49AD-ABF7-3562A5930D5B}" destId="{CE8183B5-EFEC-413D-B706-10EA9346F432}" srcOrd="0" destOrd="0" presId="urn:microsoft.com/office/officeart/2005/8/layout/hProcess4"/>
    <dgm:cxn modelId="{B95D24A6-C304-44D8-980B-8C5BFF87E493}" type="presParOf" srcId="{C62EF08B-55B7-49AD-ABF7-3562A5930D5B}" destId="{5CDEB552-3F3E-448D-B907-66882EBE350B}" srcOrd="1" destOrd="0" presId="urn:microsoft.com/office/officeart/2005/8/layout/hProcess4"/>
    <dgm:cxn modelId="{3546E90E-E6F6-4C2D-B772-0BB48943E3D2}" type="presParOf" srcId="{C62EF08B-55B7-49AD-ABF7-3562A5930D5B}" destId="{D0A283EA-F3D5-435B-BBAD-DE535AE27000}" srcOrd="2" destOrd="0" presId="urn:microsoft.com/office/officeart/2005/8/layout/hProcess4"/>
    <dgm:cxn modelId="{E8859343-9A98-4686-9BB0-47F0F69418FA}" type="presParOf" srcId="{C62EF08B-55B7-49AD-ABF7-3562A5930D5B}" destId="{C1D440EA-2BAE-46C2-9A6E-354BD51547D7}" srcOrd="3" destOrd="0" presId="urn:microsoft.com/office/officeart/2005/8/layout/hProcess4"/>
    <dgm:cxn modelId="{2A287ED1-879F-4930-919A-57E59EE95452}" type="presParOf" srcId="{C62EF08B-55B7-49AD-ABF7-3562A5930D5B}" destId="{B547C523-0BCE-4C5D-A82F-48D5FA65A57D}" srcOrd="4" destOrd="0" presId="urn:microsoft.com/office/officeart/2005/8/layout/hProcess4"/>
    <dgm:cxn modelId="{30138DD8-88D3-44A2-87D3-58626F32ED15}" type="presParOf" srcId="{06774B28-7859-487D-9A93-A503CD249D98}" destId="{753FD8D0-0216-4429-A3DA-FA350CD1FF01}" srcOrd="3" destOrd="0" presId="urn:microsoft.com/office/officeart/2005/8/layout/hProcess4"/>
    <dgm:cxn modelId="{5CEE9A2F-5990-44F7-A95C-C13E52667FAF}" type="presParOf" srcId="{06774B28-7859-487D-9A93-A503CD249D98}" destId="{8DF8373D-CC66-4B81-B599-DE0F9A3F4263}" srcOrd="4" destOrd="0" presId="urn:microsoft.com/office/officeart/2005/8/layout/hProcess4"/>
    <dgm:cxn modelId="{BC97935B-19DE-4BF0-BFEE-136F7BCB52FE}" type="presParOf" srcId="{8DF8373D-CC66-4B81-B599-DE0F9A3F4263}" destId="{9F02D03D-CE62-4178-BF54-FD9674381C84}" srcOrd="0" destOrd="0" presId="urn:microsoft.com/office/officeart/2005/8/layout/hProcess4"/>
    <dgm:cxn modelId="{06529184-58EF-4781-9204-A0FDC5958920}" type="presParOf" srcId="{8DF8373D-CC66-4B81-B599-DE0F9A3F4263}" destId="{3BF0125D-7022-4A00-8CB4-5A4CE5209A25}" srcOrd="1" destOrd="0" presId="urn:microsoft.com/office/officeart/2005/8/layout/hProcess4"/>
    <dgm:cxn modelId="{A122B3F8-36A9-47EC-AAFB-DF937D399738}" type="presParOf" srcId="{8DF8373D-CC66-4B81-B599-DE0F9A3F4263}" destId="{1B733692-FACC-4D4A-9BF6-848268DC913B}" srcOrd="2" destOrd="0" presId="urn:microsoft.com/office/officeart/2005/8/layout/hProcess4"/>
    <dgm:cxn modelId="{FB81D638-185D-48F1-9224-0B4A0FFCE4F7}" type="presParOf" srcId="{8DF8373D-CC66-4B81-B599-DE0F9A3F4263}" destId="{82F347E8-5F77-4357-9E1A-0F46CCBEE9F5}" srcOrd="3" destOrd="0" presId="urn:microsoft.com/office/officeart/2005/8/layout/hProcess4"/>
    <dgm:cxn modelId="{CC9E6630-573D-4089-8A6C-1EC1BAB3012C}" type="presParOf" srcId="{8DF8373D-CC66-4B81-B599-DE0F9A3F4263}" destId="{CC99BED1-2834-47D0-BB52-B0E1ED7F6828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0E8EB4-1372-47AF-AC61-73831C6DCE09}" type="doc">
      <dgm:prSet loTypeId="urn:microsoft.com/office/officeart/2005/8/layout/hList1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it-IT"/>
        </a:p>
      </dgm:t>
    </dgm:pt>
    <dgm:pt modelId="{893C1667-71C0-4B58-BC03-E5CCEA809F08}">
      <dgm:prSet phldrT="[Testo]"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Formali</a:t>
          </a:r>
        </a:p>
      </dgm:t>
    </dgm:pt>
    <dgm:pt modelId="{11999EA5-F80F-4934-8A23-BC8C43BD8C9B}" type="parTrans" cxnId="{9DE4C0DC-20FD-49AD-A559-7A74537CAA5C}">
      <dgm:prSet/>
      <dgm:spPr/>
      <dgm:t>
        <a:bodyPr/>
        <a:lstStyle/>
        <a:p>
          <a:endParaRPr lang="it-IT"/>
        </a:p>
      </dgm:t>
    </dgm:pt>
    <dgm:pt modelId="{09609DD6-9F79-4735-817C-5E359CE04D69}" type="sibTrans" cxnId="{9DE4C0DC-20FD-49AD-A559-7A74537CAA5C}">
      <dgm:prSet/>
      <dgm:spPr/>
      <dgm:t>
        <a:bodyPr/>
        <a:lstStyle/>
        <a:p>
          <a:endParaRPr lang="it-IT"/>
        </a:p>
      </dgm:t>
    </dgm:pt>
    <dgm:pt modelId="{620A1630-EC29-4F5A-BF53-52B2CC0D9085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2000" dirty="0"/>
            <a:t>Riferimento simbolico ad oggetti usati nella funzione</a:t>
          </a:r>
        </a:p>
      </dgm:t>
    </dgm:pt>
    <dgm:pt modelId="{C7DE2771-0910-4860-B717-BAD6462BF967}" type="parTrans" cxnId="{78691527-B710-4DD4-BC60-385392C1B204}">
      <dgm:prSet/>
      <dgm:spPr/>
      <dgm:t>
        <a:bodyPr/>
        <a:lstStyle/>
        <a:p>
          <a:endParaRPr lang="it-IT"/>
        </a:p>
      </dgm:t>
    </dgm:pt>
    <dgm:pt modelId="{B61BC51E-B69F-4117-A9F9-32BCC98D4B83}" type="sibTrans" cxnId="{78691527-B710-4DD4-BC60-385392C1B204}">
      <dgm:prSet/>
      <dgm:spPr/>
      <dgm:t>
        <a:bodyPr/>
        <a:lstStyle/>
        <a:p>
          <a:endParaRPr lang="it-IT"/>
        </a:p>
      </dgm:t>
    </dgm:pt>
    <dgm:pt modelId="{128783D1-2E80-44C3-935E-AF4FA62B86AD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2000" dirty="0"/>
            <a:t>Nella funzione sono variabili </a:t>
          </a:r>
          <a:r>
            <a:rPr lang="it-IT" sz="2000" b="1" dirty="0"/>
            <a:t>locali</a:t>
          </a:r>
        </a:p>
      </dgm:t>
    </dgm:pt>
    <dgm:pt modelId="{FF5216FE-47CE-4351-8929-FA6DB10A0235}" type="parTrans" cxnId="{4CF26CAB-A19B-46AA-A84F-8F9CC9750D9E}">
      <dgm:prSet/>
      <dgm:spPr/>
      <dgm:t>
        <a:bodyPr/>
        <a:lstStyle/>
        <a:p>
          <a:endParaRPr lang="it-IT"/>
        </a:p>
      </dgm:t>
    </dgm:pt>
    <dgm:pt modelId="{AF9A6C5D-FB70-46ED-8F63-751663F654D6}" type="sibTrans" cxnId="{4CF26CAB-A19B-46AA-A84F-8F9CC9750D9E}">
      <dgm:prSet/>
      <dgm:spPr/>
      <dgm:t>
        <a:bodyPr/>
        <a:lstStyle/>
        <a:p>
          <a:endParaRPr lang="it-IT"/>
        </a:p>
      </dgm:t>
    </dgm:pt>
    <dgm:pt modelId="{B664D0DB-5E1C-489C-9C94-1E4A03752B09}">
      <dgm:prSet phldrT="[Testo]"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Attuali</a:t>
          </a:r>
        </a:p>
      </dgm:t>
    </dgm:pt>
    <dgm:pt modelId="{99EB77D6-C452-4F18-95EE-07B810180BBF}" type="parTrans" cxnId="{D32E4C8B-27C6-4608-86E2-029A65162A68}">
      <dgm:prSet/>
      <dgm:spPr/>
      <dgm:t>
        <a:bodyPr/>
        <a:lstStyle/>
        <a:p>
          <a:endParaRPr lang="it-IT"/>
        </a:p>
      </dgm:t>
    </dgm:pt>
    <dgm:pt modelId="{F369930F-7C90-4297-A9DE-71B1ACE578EC}" type="sibTrans" cxnId="{D32E4C8B-27C6-4608-86E2-029A65162A68}">
      <dgm:prSet/>
      <dgm:spPr/>
      <dgm:t>
        <a:bodyPr/>
        <a:lstStyle/>
        <a:p>
          <a:endParaRPr lang="it-IT"/>
        </a:p>
      </dgm:t>
    </dgm:pt>
    <dgm:pt modelId="{059BE078-7CC9-4FF2-9368-8A96D3388408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dirty="0"/>
            <a:t>Sono quelli specificati al momento della chiamata</a:t>
          </a:r>
        </a:p>
      </dgm:t>
    </dgm:pt>
    <dgm:pt modelId="{929B4384-D556-4FC6-B908-E79F77608FC5}" type="parTrans" cxnId="{FD9EFE65-E245-4F3C-880B-DA743650D36A}">
      <dgm:prSet/>
      <dgm:spPr/>
      <dgm:t>
        <a:bodyPr/>
        <a:lstStyle/>
        <a:p>
          <a:endParaRPr lang="it-IT"/>
        </a:p>
      </dgm:t>
    </dgm:pt>
    <dgm:pt modelId="{6035F8C1-445D-4196-8F4C-0E29982E655B}" type="sibTrans" cxnId="{FD9EFE65-E245-4F3C-880B-DA743650D36A}">
      <dgm:prSet/>
      <dgm:spPr/>
      <dgm:t>
        <a:bodyPr/>
        <a:lstStyle/>
        <a:p>
          <a:endParaRPr lang="it-IT"/>
        </a:p>
      </dgm:t>
    </dgm:pt>
    <dgm:pt modelId="{76BAF31E-9907-4E56-97F3-2E4822BE035A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2000" dirty="0"/>
            <a:t>Vengono inizializzati nell’invocazione della funzione con i parametri attuali</a:t>
          </a:r>
        </a:p>
      </dgm:t>
    </dgm:pt>
    <dgm:pt modelId="{40C84204-9F22-4A7D-903B-5DF7259DB46C}" type="parTrans" cxnId="{93DD2D93-C0B0-48CB-A1A5-3BF4142ABA7A}">
      <dgm:prSet/>
      <dgm:spPr/>
      <dgm:t>
        <a:bodyPr/>
        <a:lstStyle/>
        <a:p>
          <a:endParaRPr lang="it-IT"/>
        </a:p>
      </dgm:t>
    </dgm:pt>
    <dgm:pt modelId="{B259AF56-565E-4F9F-BEE1-5DAC28CC7ACA}" type="sibTrans" cxnId="{93DD2D93-C0B0-48CB-A1A5-3BF4142ABA7A}">
      <dgm:prSet/>
      <dgm:spPr/>
      <dgm:t>
        <a:bodyPr/>
        <a:lstStyle/>
        <a:p>
          <a:endParaRPr lang="it-IT"/>
        </a:p>
      </dgm:t>
    </dgm:pt>
    <dgm:pt modelId="{788F40EC-8068-492B-8696-0EB0DC499DFE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dirty="0"/>
            <a:t>Durante la chiamata vengono </a:t>
          </a:r>
          <a:r>
            <a:rPr lang="it-IT" sz="1800" b="1" dirty="0"/>
            <a:t>COPIATI </a:t>
          </a:r>
          <a:r>
            <a:rPr lang="it-IT" sz="1800" dirty="0"/>
            <a:t>nei parametri formali</a:t>
          </a:r>
        </a:p>
      </dgm:t>
    </dgm:pt>
    <dgm:pt modelId="{95C6F44A-3F5C-4411-AB34-0CFA549A765F}" type="parTrans" cxnId="{48B6D8DF-5B81-4693-8731-DD4BC15737ED}">
      <dgm:prSet/>
      <dgm:spPr/>
      <dgm:t>
        <a:bodyPr/>
        <a:lstStyle/>
        <a:p>
          <a:endParaRPr lang="it-IT"/>
        </a:p>
      </dgm:t>
    </dgm:pt>
    <dgm:pt modelId="{5C1CDBD3-EC80-45AC-BE30-8A2DBF48959D}" type="sibTrans" cxnId="{48B6D8DF-5B81-4693-8731-DD4BC15737ED}">
      <dgm:prSet/>
      <dgm:spPr/>
      <dgm:t>
        <a:bodyPr/>
        <a:lstStyle/>
        <a:p>
          <a:endParaRPr lang="it-IT"/>
        </a:p>
      </dgm:t>
    </dgm:pt>
    <dgm:pt modelId="{2609A05C-E33A-477F-9571-89BD2EEE91D0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b="1" dirty="0"/>
            <a:t>Devono corrispondere </a:t>
          </a:r>
          <a:r>
            <a:rPr lang="it-IT" sz="1800" dirty="0"/>
            <a:t>per ordine e tipo ai parametri formali</a:t>
          </a:r>
        </a:p>
      </dgm:t>
    </dgm:pt>
    <dgm:pt modelId="{EA176EFC-5077-43CE-A108-788D4B671AC8}" type="parTrans" cxnId="{D7AC995A-1CB6-4C38-965B-39BABABB34E0}">
      <dgm:prSet/>
      <dgm:spPr/>
      <dgm:t>
        <a:bodyPr/>
        <a:lstStyle/>
        <a:p>
          <a:endParaRPr lang="it-IT"/>
        </a:p>
      </dgm:t>
    </dgm:pt>
    <dgm:pt modelId="{7BBD35E4-EC66-413D-907A-743EE8B98A9B}" type="sibTrans" cxnId="{D7AC995A-1CB6-4C38-965B-39BABABB34E0}">
      <dgm:prSet/>
      <dgm:spPr/>
      <dgm:t>
        <a:bodyPr/>
        <a:lstStyle/>
        <a:p>
          <a:endParaRPr lang="it-IT"/>
        </a:p>
      </dgm:t>
    </dgm:pt>
    <dgm:pt modelId="{70ADE3C8-F655-4EFB-9FC1-2FA126703A03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dirty="0"/>
            <a:t>Possono essere costanti, variabili o espressioni definite nel chiamante</a:t>
          </a:r>
        </a:p>
      </dgm:t>
    </dgm:pt>
    <dgm:pt modelId="{F1EFFC50-CFCB-4E4D-961B-1F1B71E8544E}" type="parTrans" cxnId="{1A786C7E-B938-4352-BA2B-26FD52BBA6CB}">
      <dgm:prSet/>
      <dgm:spPr/>
      <dgm:t>
        <a:bodyPr/>
        <a:lstStyle/>
        <a:p>
          <a:endParaRPr lang="it-IT"/>
        </a:p>
      </dgm:t>
    </dgm:pt>
    <dgm:pt modelId="{26BD68D2-8229-47A6-8BB7-AAF7207929FB}" type="sibTrans" cxnId="{1A786C7E-B938-4352-BA2B-26FD52BBA6CB}">
      <dgm:prSet/>
      <dgm:spPr/>
      <dgm:t>
        <a:bodyPr/>
        <a:lstStyle/>
        <a:p>
          <a:endParaRPr lang="it-IT"/>
        </a:p>
      </dgm:t>
    </dgm:pt>
    <dgm:pt modelId="{7FE9AD30-AF02-45F3-B5A8-F6A60E9D2203}" type="pres">
      <dgm:prSet presAssocID="{210E8EB4-1372-47AF-AC61-73831C6DCE0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A4F7DFFF-A105-457F-8929-881EDF22CF1C}" type="pres">
      <dgm:prSet presAssocID="{893C1667-71C0-4B58-BC03-E5CCEA809F08}" presName="composite" presStyleCnt="0"/>
      <dgm:spPr/>
    </dgm:pt>
    <dgm:pt modelId="{765D0A33-CD8D-4655-81AF-B36D6CEF2892}" type="pres">
      <dgm:prSet presAssocID="{893C1667-71C0-4B58-BC03-E5CCEA809F0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973AB6D1-459D-4F22-BD75-5F29A326C090}" type="pres">
      <dgm:prSet presAssocID="{893C1667-71C0-4B58-BC03-E5CCEA809F08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DEF3D3D0-40B9-4286-BF0D-46C0375A47EF}" type="pres">
      <dgm:prSet presAssocID="{09609DD6-9F79-4735-817C-5E359CE04D69}" presName="space" presStyleCnt="0"/>
      <dgm:spPr/>
    </dgm:pt>
    <dgm:pt modelId="{61FBFCCD-768C-49B5-A131-E9B0B3B87953}" type="pres">
      <dgm:prSet presAssocID="{B664D0DB-5E1C-489C-9C94-1E4A03752B09}" presName="composite" presStyleCnt="0"/>
      <dgm:spPr/>
    </dgm:pt>
    <dgm:pt modelId="{B7B14DEF-DB0B-4BF5-8830-0B9A1294B0E6}" type="pres">
      <dgm:prSet presAssocID="{B664D0DB-5E1C-489C-9C94-1E4A03752B0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996527FA-8BC2-47B4-9333-BE2FB9FE2EB4}" type="pres">
      <dgm:prSet presAssocID="{B664D0DB-5E1C-489C-9C94-1E4A03752B09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AF0C2609-863F-42A6-BE20-039684CE2A3A}" type="presOf" srcId="{620A1630-EC29-4F5A-BF53-52B2CC0D9085}" destId="{973AB6D1-459D-4F22-BD75-5F29A326C090}" srcOrd="0" destOrd="0" presId="urn:microsoft.com/office/officeart/2005/8/layout/hList1"/>
    <dgm:cxn modelId="{52451BB2-BC8B-493B-AEB3-C37DEBD79D4C}" type="presOf" srcId="{893C1667-71C0-4B58-BC03-E5CCEA809F08}" destId="{765D0A33-CD8D-4655-81AF-B36D6CEF2892}" srcOrd="0" destOrd="0" presId="urn:microsoft.com/office/officeart/2005/8/layout/hList1"/>
    <dgm:cxn modelId="{8FB1AF90-18D0-4B79-BB3B-C5A423F1B7B2}" type="presOf" srcId="{128783D1-2E80-44C3-935E-AF4FA62B86AD}" destId="{973AB6D1-459D-4F22-BD75-5F29A326C090}" srcOrd="0" destOrd="1" presId="urn:microsoft.com/office/officeart/2005/8/layout/hList1"/>
    <dgm:cxn modelId="{59A53C2F-262F-4897-8350-5EA730CAC489}" type="presOf" srcId="{059BE078-7CC9-4FF2-9368-8A96D3388408}" destId="{996527FA-8BC2-47B4-9333-BE2FB9FE2EB4}" srcOrd="0" destOrd="0" presId="urn:microsoft.com/office/officeart/2005/8/layout/hList1"/>
    <dgm:cxn modelId="{FD9EFE65-E245-4F3C-880B-DA743650D36A}" srcId="{B664D0DB-5E1C-489C-9C94-1E4A03752B09}" destId="{059BE078-7CC9-4FF2-9368-8A96D3388408}" srcOrd="0" destOrd="0" parTransId="{929B4384-D556-4FC6-B908-E79F77608FC5}" sibTransId="{6035F8C1-445D-4196-8F4C-0E29982E655B}"/>
    <dgm:cxn modelId="{9DE4C0DC-20FD-49AD-A559-7A74537CAA5C}" srcId="{210E8EB4-1372-47AF-AC61-73831C6DCE09}" destId="{893C1667-71C0-4B58-BC03-E5CCEA809F08}" srcOrd="0" destOrd="0" parTransId="{11999EA5-F80F-4934-8A23-BC8C43BD8C9B}" sibTransId="{09609DD6-9F79-4735-817C-5E359CE04D69}"/>
    <dgm:cxn modelId="{1A786C7E-B938-4352-BA2B-26FD52BBA6CB}" srcId="{B664D0DB-5E1C-489C-9C94-1E4A03752B09}" destId="{70ADE3C8-F655-4EFB-9FC1-2FA126703A03}" srcOrd="3" destOrd="0" parTransId="{F1EFFC50-CFCB-4E4D-961B-1F1B71E8544E}" sibTransId="{26BD68D2-8229-47A6-8BB7-AAF7207929FB}"/>
    <dgm:cxn modelId="{EB682CBB-B6BC-4853-9EC8-A88AEECB375C}" type="presOf" srcId="{210E8EB4-1372-47AF-AC61-73831C6DCE09}" destId="{7FE9AD30-AF02-45F3-B5A8-F6A60E9D2203}" srcOrd="0" destOrd="0" presId="urn:microsoft.com/office/officeart/2005/8/layout/hList1"/>
    <dgm:cxn modelId="{4CF26CAB-A19B-46AA-A84F-8F9CC9750D9E}" srcId="{893C1667-71C0-4B58-BC03-E5CCEA809F08}" destId="{128783D1-2E80-44C3-935E-AF4FA62B86AD}" srcOrd="1" destOrd="0" parTransId="{FF5216FE-47CE-4351-8929-FA6DB10A0235}" sibTransId="{AF9A6C5D-FB70-46ED-8F63-751663F654D6}"/>
    <dgm:cxn modelId="{78691527-B710-4DD4-BC60-385392C1B204}" srcId="{893C1667-71C0-4B58-BC03-E5CCEA809F08}" destId="{620A1630-EC29-4F5A-BF53-52B2CC0D9085}" srcOrd="0" destOrd="0" parTransId="{C7DE2771-0910-4860-B717-BAD6462BF967}" sibTransId="{B61BC51E-B69F-4117-A9F9-32BCC98D4B83}"/>
    <dgm:cxn modelId="{3DA574CE-E362-48A5-8FF8-646FDD27F4DC}" type="presOf" srcId="{2609A05C-E33A-477F-9571-89BD2EEE91D0}" destId="{996527FA-8BC2-47B4-9333-BE2FB9FE2EB4}" srcOrd="0" destOrd="2" presId="urn:microsoft.com/office/officeart/2005/8/layout/hList1"/>
    <dgm:cxn modelId="{AC59C83D-83CC-4408-A6B2-A713554C2BC0}" type="presOf" srcId="{70ADE3C8-F655-4EFB-9FC1-2FA126703A03}" destId="{996527FA-8BC2-47B4-9333-BE2FB9FE2EB4}" srcOrd="0" destOrd="3" presId="urn:microsoft.com/office/officeart/2005/8/layout/hList1"/>
    <dgm:cxn modelId="{D4CF34AC-9410-410D-8145-16138FAE2353}" type="presOf" srcId="{788F40EC-8068-492B-8696-0EB0DC499DFE}" destId="{996527FA-8BC2-47B4-9333-BE2FB9FE2EB4}" srcOrd="0" destOrd="1" presId="urn:microsoft.com/office/officeart/2005/8/layout/hList1"/>
    <dgm:cxn modelId="{93DD2D93-C0B0-48CB-A1A5-3BF4142ABA7A}" srcId="{893C1667-71C0-4B58-BC03-E5CCEA809F08}" destId="{76BAF31E-9907-4E56-97F3-2E4822BE035A}" srcOrd="2" destOrd="0" parTransId="{40C84204-9F22-4A7D-903B-5DF7259DB46C}" sibTransId="{B259AF56-565E-4F9F-BEE1-5DAC28CC7ACA}"/>
    <dgm:cxn modelId="{896A5BED-560C-47A5-98E3-9B325E4B682A}" type="presOf" srcId="{76BAF31E-9907-4E56-97F3-2E4822BE035A}" destId="{973AB6D1-459D-4F22-BD75-5F29A326C090}" srcOrd="0" destOrd="2" presId="urn:microsoft.com/office/officeart/2005/8/layout/hList1"/>
    <dgm:cxn modelId="{48B6D8DF-5B81-4693-8731-DD4BC15737ED}" srcId="{B664D0DB-5E1C-489C-9C94-1E4A03752B09}" destId="{788F40EC-8068-492B-8696-0EB0DC499DFE}" srcOrd="1" destOrd="0" parTransId="{95C6F44A-3F5C-4411-AB34-0CFA549A765F}" sibTransId="{5C1CDBD3-EC80-45AC-BE30-8A2DBF48959D}"/>
    <dgm:cxn modelId="{D32E4C8B-27C6-4608-86E2-029A65162A68}" srcId="{210E8EB4-1372-47AF-AC61-73831C6DCE09}" destId="{B664D0DB-5E1C-489C-9C94-1E4A03752B09}" srcOrd="1" destOrd="0" parTransId="{99EB77D6-C452-4F18-95EE-07B810180BBF}" sibTransId="{F369930F-7C90-4297-A9DE-71B1ACE578EC}"/>
    <dgm:cxn modelId="{D7AC995A-1CB6-4C38-965B-39BABABB34E0}" srcId="{B664D0DB-5E1C-489C-9C94-1E4A03752B09}" destId="{2609A05C-E33A-477F-9571-89BD2EEE91D0}" srcOrd="2" destOrd="0" parTransId="{EA176EFC-5077-43CE-A108-788D4B671AC8}" sibTransId="{7BBD35E4-EC66-413D-907A-743EE8B98A9B}"/>
    <dgm:cxn modelId="{74E608EE-8D1A-41EF-9D5D-EABC05196B0F}" type="presOf" srcId="{B664D0DB-5E1C-489C-9C94-1E4A03752B09}" destId="{B7B14DEF-DB0B-4BF5-8830-0B9A1294B0E6}" srcOrd="0" destOrd="0" presId="urn:microsoft.com/office/officeart/2005/8/layout/hList1"/>
    <dgm:cxn modelId="{BAC383E4-3BEA-439D-9EE0-57EBC95A4C15}" type="presParOf" srcId="{7FE9AD30-AF02-45F3-B5A8-F6A60E9D2203}" destId="{A4F7DFFF-A105-457F-8929-881EDF22CF1C}" srcOrd="0" destOrd="0" presId="urn:microsoft.com/office/officeart/2005/8/layout/hList1"/>
    <dgm:cxn modelId="{EC2F2EDE-4DD8-4C1F-A15E-756F75DAAE82}" type="presParOf" srcId="{A4F7DFFF-A105-457F-8929-881EDF22CF1C}" destId="{765D0A33-CD8D-4655-81AF-B36D6CEF2892}" srcOrd="0" destOrd="0" presId="urn:microsoft.com/office/officeart/2005/8/layout/hList1"/>
    <dgm:cxn modelId="{E3EACB8A-9374-4098-984C-AAAB2E6CB168}" type="presParOf" srcId="{A4F7DFFF-A105-457F-8929-881EDF22CF1C}" destId="{973AB6D1-459D-4F22-BD75-5F29A326C090}" srcOrd="1" destOrd="0" presId="urn:microsoft.com/office/officeart/2005/8/layout/hList1"/>
    <dgm:cxn modelId="{D158C8A4-6088-4789-9D63-94390BC097FF}" type="presParOf" srcId="{7FE9AD30-AF02-45F3-B5A8-F6A60E9D2203}" destId="{DEF3D3D0-40B9-4286-BF0D-46C0375A47EF}" srcOrd="1" destOrd="0" presId="urn:microsoft.com/office/officeart/2005/8/layout/hList1"/>
    <dgm:cxn modelId="{AC7EAE4B-075A-4A02-93A3-4DA9816C0E3D}" type="presParOf" srcId="{7FE9AD30-AF02-45F3-B5A8-F6A60E9D2203}" destId="{61FBFCCD-768C-49B5-A131-E9B0B3B87953}" srcOrd="2" destOrd="0" presId="urn:microsoft.com/office/officeart/2005/8/layout/hList1"/>
    <dgm:cxn modelId="{A4F5931C-DC79-4334-9F39-5214C3FA4085}" type="presParOf" srcId="{61FBFCCD-768C-49B5-A131-E9B0B3B87953}" destId="{B7B14DEF-DB0B-4BF5-8830-0B9A1294B0E6}" srcOrd="0" destOrd="0" presId="urn:microsoft.com/office/officeart/2005/8/layout/hList1"/>
    <dgm:cxn modelId="{796C2F68-3235-410E-BF01-959E916A6489}" type="presParOf" srcId="{61FBFCCD-768C-49B5-A131-E9B0B3B87953}" destId="{996527FA-8BC2-47B4-9333-BE2FB9FE2EB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0E8EB4-1372-47AF-AC61-73831C6DCE09}" type="doc">
      <dgm:prSet loTypeId="urn:microsoft.com/office/officeart/2005/8/layout/hList1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it-IT"/>
        </a:p>
      </dgm:t>
    </dgm:pt>
    <dgm:pt modelId="{893C1667-71C0-4B58-BC03-E5CCEA809F08}">
      <dgm:prSet phldrT="[Testo]"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Formali</a:t>
          </a:r>
        </a:p>
      </dgm:t>
    </dgm:pt>
    <dgm:pt modelId="{11999EA5-F80F-4934-8A23-BC8C43BD8C9B}" type="parTrans" cxnId="{9DE4C0DC-20FD-49AD-A559-7A74537CAA5C}">
      <dgm:prSet/>
      <dgm:spPr/>
      <dgm:t>
        <a:bodyPr/>
        <a:lstStyle/>
        <a:p>
          <a:endParaRPr lang="it-IT"/>
        </a:p>
      </dgm:t>
    </dgm:pt>
    <dgm:pt modelId="{09609DD6-9F79-4735-817C-5E359CE04D69}" type="sibTrans" cxnId="{9DE4C0DC-20FD-49AD-A559-7A74537CAA5C}">
      <dgm:prSet/>
      <dgm:spPr/>
      <dgm:t>
        <a:bodyPr/>
        <a:lstStyle/>
        <a:p>
          <a:endParaRPr lang="it-IT"/>
        </a:p>
      </dgm:t>
    </dgm:pt>
    <dgm:pt modelId="{620A1630-EC29-4F5A-BF53-52B2CC0D9085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2000" dirty="0"/>
            <a:t>Riferimento simbolico ad oggetti usati nella funzione</a:t>
          </a:r>
        </a:p>
      </dgm:t>
    </dgm:pt>
    <dgm:pt modelId="{C7DE2771-0910-4860-B717-BAD6462BF967}" type="parTrans" cxnId="{78691527-B710-4DD4-BC60-385392C1B204}">
      <dgm:prSet/>
      <dgm:spPr/>
      <dgm:t>
        <a:bodyPr/>
        <a:lstStyle/>
        <a:p>
          <a:endParaRPr lang="it-IT"/>
        </a:p>
      </dgm:t>
    </dgm:pt>
    <dgm:pt modelId="{B61BC51E-B69F-4117-A9F9-32BCC98D4B83}" type="sibTrans" cxnId="{78691527-B710-4DD4-BC60-385392C1B204}">
      <dgm:prSet/>
      <dgm:spPr/>
      <dgm:t>
        <a:bodyPr/>
        <a:lstStyle/>
        <a:p>
          <a:endParaRPr lang="it-IT"/>
        </a:p>
      </dgm:t>
    </dgm:pt>
    <dgm:pt modelId="{128783D1-2E80-44C3-935E-AF4FA62B86AD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2000" dirty="0"/>
            <a:t>Nella funzione sono variabili </a:t>
          </a:r>
          <a:r>
            <a:rPr lang="it-IT" sz="2000" b="1" dirty="0"/>
            <a:t>locali</a:t>
          </a:r>
        </a:p>
      </dgm:t>
    </dgm:pt>
    <dgm:pt modelId="{FF5216FE-47CE-4351-8929-FA6DB10A0235}" type="parTrans" cxnId="{4CF26CAB-A19B-46AA-A84F-8F9CC9750D9E}">
      <dgm:prSet/>
      <dgm:spPr/>
      <dgm:t>
        <a:bodyPr/>
        <a:lstStyle/>
        <a:p>
          <a:endParaRPr lang="it-IT"/>
        </a:p>
      </dgm:t>
    </dgm:pt>
    <dgm:pt modelId="{AF9A6C5D-FB70-46ED-8F63-751663F654D6}" type="sibTrans" cxnId="{4CF26CAB-A19B-46AA-A84F-8F9CC9750D9E}">
      <dgm:prSet/>
      <dgm:spPr/>
      <dgm:t>
        <a:bodyPr/>
        <a:lstStyle/>
        <a:p>
          <a:endParaRPr lang="it-IT"/>
        </a:p>
      </dgm:t>
    </dgm:pt>
    <dgm:pt modelId="{B664D0DB-5E1C-489C-9C94-1E4A03752B09}">
      <dgm:prSet phldrT="[Testo]"/>
      <dgm:spPr/>
      <dgm:t>
        <a:bodyPr/>
        <a:lstStyle/>
        <a:p>
          <a:r>
            <a: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Attuali</a:t>
          </a:r>
        </a:p>
      </dgm:t>
    </dgm:pt>
    <dgm:pt modelId="{99EB77D6-C452-4F18-95EE-07B810180BBF}" type="parTrans" cxnId="{D32E4C8B-27C6-4608-86E2-029A65162A68}">
      <dgm:prSet/>
      <dgm:spPr/>
      <dgm:t>
        <a:bodyPr/>
        <a:lstStyle/>
        <a:p>
          <a:endParaRPr lang="it-IT"/>
        </a:p>
      </dgm:t>
    </dgm:pt>
    <dgm:pt modelId="{F369930F-7C90-4297-A9DE-71B1ACE578EC}" type="sibTrans" cxnId="{D32E4C8B-27C6-4608-86E2-029A65162A68}">
      <dgm:prSet/>
      <dgm:spPr/>
      <dgm:t>
        <a:bodyPr/>
        <a:lstStyle/>
        <a:p>
          <a:endParaRPr lang="it-IT"/>
        </a:p>
      </dgm:t>
    </dgm:pt>
    <dgm:pt modelId="{059BE078-7CC9-4FF2-9368-8A96D3388408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dirty="0"/>
            <a:t>Sono quelli specificati al momento della chiamata</a:t>
          </a:r>
        </a:p>
      </dgm:t>
    </dgm:pt>
    <dgm:pt modelId="{929B4384-D556-4FC6-B908-E79F77608FC5}" type="parTrans" cxnId="{FD9EFE65-E245-4F3C-880B-DA743650D36A}">
      <dgm:prSet/>
      <dgm:spPr/>
      <dgm:t>
        <a:bodyPr/>
        <a:lstStyle/>
        <a:p>
          <a:endParaRPr lang="it-IT"/>
        </a:p>
      </dgm:t>
    </dgm:pt>
    <dgm:pt modelId="{6035F8C1-445D-4196-8F4C-0E29982E655B}" type="sibTrans" cxnId="{FD9EFE65-E245-4F3C-880B-DA743650D36A}">
      <dgm:prSet/>
      <dgm:spPr/>
      <dgm:t>
        <a:bodyPr/>
        <a:lstStyle/>
        <a:p>
          <a:endParaRPr lang="it-IT"/>
        </a:p>
      </dgm:t>
    </dgm:pt>
    <dgm:pt modelId="{76BAF31E-9907-4E56-97F3-2E4822BE035A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2000" dirty="0"/>
            <a:t>Vengono inizializzati nell’invocazione della funzione con i parametri attuali</a:t>
          </a:r>
        </a:p>
      </dgm:t>
    </dgm:pt>
    <dgm:pt modelId="{40C84204-9F22-4A7D-903B-5DF7259DB46C}" type="parTrans" cxnId="{93DD2D93-C0B0-48CB-A1A5-3BF4142ABA7A}">
      <dgm:prSet/>
      <dgm:spPr/>
      <dgm:t>
        <a:bodyPr/>
        <a:lstStyle/>
        <a:p>
          <a:endParaRPr lang="it-IT"/>
        </a:p>
      </dgm:t>
    </dgm:pt>
    <dgm:pt modelId="{B259AF56-565E-4F9F-BEE1-5DAC28CC7ACA}" type="sibTrans" cxnId="{93DD2D93-C0B0-48CB-A1A5-3BF4142ABA7A}">
      <dgm:prSet/>
      <dgm:spPr/>
      <dgm:t>
        <a:bodyPr/>
        <a:lstStyle/>
        <a:p>
          <a:endParaRPr lang="it-IT"/>
        </a:p>
      </dgm:t>
    </dgm:pt>
    <dgm:pt modelId="{788F40EC-8068-492B-8696-0EB0DC499DFE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dirty="0"/>
            <a:t>Durante la chiamata vengono </a:t>
          </a:r>
          <a:r>
            <a:rPr lang="it-IT" sz="1800" b="1" dirty="0"/>
            <a:t>assegnati </a:t>
          </a:r>
          <a:r>
            <a:rPr lang="it-IT" sz="1800" dirty="0"/>
            <a:t>ai parametri formali</a:t>
          </a:r>
        </a:p>
      </dgm:t>
    </dgm:pt>
    <dgm:pt modelId="{95C6F44A-3F5C-4411-AB34-0CFA549A765F}" type="parTrans" cxnId="{48B6D8DF-5B81-4693-8731-DD4BC15737ED}">
      <dgm:prSet/>
      <dgm:spPr/>
      <dgm:t>
        <a:bodyPr/>
        <a:lstStyle/>
        <a:p>
          <a:endParaRPr lang="it-IT"/>
        </a:p>
      </dgm:t>
    </dgm:pt>
    <dgm:pt modelId="{5C1CDBD3-EC80-45AC-BE30-8A2DBF48959D}" type="sibTrans" cxnId="{48B6D8DF-5B81-4693-8731-DD4BC15737ED}">
      <dgm:prSet/>
      <dgm:spPr/>
      <dgm:t>
        <a:bodyPr/>
        <a:lstStyle/>
        <a:p>
          <a:endParaRPr lang="it-IT"/>
        </a:p>
      </dgm:t>
    </dgm:pt>
    <dgm:pt modelId="{2609A05C-E33A-477F-9571-89BD2EEE91D0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b="1" dirty="0"/>
            <a:t>Devono corrispondere </a:t>
          </a:r>
          <a:r>
            <a:rPr lang="it-IT" sz="1800" dirty="0"/>
            <a:t>per ordine e tipo ai parametri formali</a:t>
          </a:r>
        </a:p>
      </dgm:t>
    </dgm:pt>
    <dgm:pt modelId="{EA176EFC-5077-43CE-A108-788D4B671AC8}" type="parTrans" cxnId="{D7AC995A-1CB6-4C38-965B-39BABABB34E0}">
      <dgm:prSet/>
      <dgm:spPr/>
      <dgm:t>
        <a:bodyPr/>
        <a:lstStyle/>
        <a:p>
          <a:endParaRPr lang="it-IT"/>
        </a:p>
      </dgm:t>
    </dgm:pt>
    <dgm:pt modelId="{7BBD35E4-EC66-413D-907A-743EE8B98A9B}" type="sibTrans" cxnId="{D7AC995A-1CB6-4C38-965B-39BABABB34E0}">
      <dgm:prSet/>
      <dgm:spPr/>
      <dgm:t>
        <a:bodyPr/>
        <a:lstStyle/>
        <a:p>
          <a:endParaRPr lang="it-IT"/>
        </a:p>
      </dgm:t>
    </dgm:pt>
    <dgm:pt modelId="{70ADE3C8-F655-4EFB-9FC1-2FA126703A03}">
      <dgm:prSet phldrT="[Tes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it-IT" sz="1800" dirty="0"/>
            <a:t>Possono essere costanti, variabili o espressioni definite nel chiamante</a:t>
          </a:r>
        </a:p>
      </dgm:t>
    </dgm:pt>
    <dgm:pt modelId="{F1EFFC50-CFCB-4E4D-961B-1F1B71E8544E}" type="parTrans" cxnId="{1A786C7E-B938-4352-BA2B-26FD52BBA6CB}">
      <dgm:prSet/>
      <dgm:spPr/>
      <dgm:t>
        <a:bodyPr/>
        <a:lstStyle/>
        <a:p>
          <a:endParaRPr lang="it-IT"/>
        </a:p>
      </dgm:t>
    </dgm:pt>
    <dgm:pt modelId="{26BD68D2-8229-47A6-8BB7-AAF7207929FB}" type="sibTrans" cxnId="{1A786C7E-B938-4352-BA2B-26FD52BBA6CB}">
      <dgm:prSet/>
      <dgm:spPr/>
      <dgm:t>
        <a:bodyPr/>
        <a:lstStyle/>
        <a:p>
          <a:endParaRPr lang="it-IT"/>
        </a:p>
      </dgm:t>
    </dgm:pt>
    <dgm:pt modelId="{7FE9AD30-AF02-45F3-B5A8-F6A60E9D2203}" type="pres">
      <dgm:prSet presAssocID="{210E8EB4-1372-47AF-AC61-73831C6DCE0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A4F7DFFF-A105-457F-8929-881EDF22CF1C}" type="pres">
      <dgm:prSet presAssocID="{893C1667-71C0-4B58-BC03-E5CCEA809F08}" presName="composite" presStyleCnt="0"/>
      <dgm:spPr/>
    </dgm:pt>
    <dgm:pt modelId="{765D0A33-CD8D-4655-81AF-B36D6CEF2892}" type="pres">
      <dgm:prSet presAssocID="{893C1667-71C0-4B58-BC03-E5CCEA809F0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973AB6D1-459D-4F22-BD75-5F29A326C090}" type="pres">
      <dgm:prSet presAssocID="{893C1667-71C0-4B58-BC03-E5CCEA809F08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DEF3D3D0-40B9-4286-BF0D-46C0375A47EF}" type="pres">
      <dgm:prSet presAssocID="{09609DD6-9F79-4735-817C-5E359CE04D69}" presName="space" presStyleCnt="0"/>
      <dgm:spPr/>
    </dgm:pt>
    <dgm:pt modelId="{61FBFCCD-768C-49B5-A131-E9B0B3B87953}" type="pres">
      <dgm:prSet presAssocID="{B664D0DB-5E1C-489C-9C94-1E4A03752B09}" presName="composite" presStyleCnt="0"/>
      <dgm:spPr/>
    </dgm:pt>
    <dgm:pt modelId="{B7B14DEF-DB0B-4BF5-8830-0B9A1294B0E6}" type="pres">
      <dgm:prSet presAssocID="{B664D0DB-5E1C-489C-9C94-1E4A03752B0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996527FA-8BC2-47B4-9333-BE2FB9FE2EB4}" type="pres">
      <dgm:prSet presAssocID="{B664D0DB-5E1C-489C-9C94-1E4A03752B09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78691527-B710-4DD4-BC60-385392C1B204}" srcId="{893C1667-71C0-4B58-BC03-E5CCEA809F08}" destId="{620A1630-EC29-4F5A-BF53-52B2CC0D9085}" srcOrd="0" destOrd="0" parTransId="{C7DE2771-0910-4860-B717-BAD6462BF967}" sibTransId="{B61BC51E-B69F-4117-A9F9-32BCC98D4B83}"/>
    <dgm:cxn modelId="{9D2895CB-DED1-4E5C-90BF-1A263C15A813}" type="presOf" srcId="{893C1667-71C0-4B58-BC03-E5CCEA809F08}" destId="{765D0A33-CD8D-4655-81AF-B36D6CEF2892}" srcOrd="0" destOrd="0" presId="urn:microsoft.com/office/officeart/2005/8/layout/hList1"/>
    <dgm:cxn modelId="{73F45AE9-F5FD-4365-8E8C-A6B0847F043D}" type="presOf" srcId="{70ADE3C8-F655-4EFB-9FC1-2FA126703A03}" destId="{996527FA-8BC2-47B4-9333-BE2FB9FE2EB4}" srcOrd="0" destOrd="3" presId="urn:microsoft.com/office/officeart/2005/8/layout/hList1"/>
    <dgm:cxn modelId="{4BD18EBB-EDA0-45C1-B937-DC20AD9E03FF}" type="presOf" srcId="{128783D1-2E80-44C3-935E-AF4FA62B86AD}" destId="{973AB6D1-459D-4F22-BD75-5F29A326C090}" srcOrd="0" destOrd="1" presId="urn:microsoft.com/office/officeart/2005/8/layout/hList1"/>
    <dgm:cxn modelId="{C06780B9-C6A2-48D1-B307-1BA30290AC29}" type="presOf" srcId="{2609A05C-E33A-477F-9571-89BD2EEE91D0}" destId="{996527FA-8BC2-47B4-9333-BE2FB9FE2EB4}" srcOrd="0" destOrd="2" presId="urn:microsoft.com/office/officeart/2005/8/layout/hList1"/>
    <dgm:cxn modelId="{FD9EFE65-E245-4F3C-880B-DA743650D36A}" srcId="{B664D0DB-5E1C-489C-9C94-1E4A03752B09}" destId="{059BE078-7CC9-4FF2-9368-8A96D3388408}" srcOrd="0" destOrd="0" parTransId="{929B4384-D556-4FC6-B908-E79F77608FC5}" sibTransId="{6035F8C1-445D-4196-8F4C-0E29982E655B}"/>
    <dgm:cxn modelId="{1AD8B3E0-1D91-45AF-9CEC-30D244132872}" type="presOf" srcId="{788F40EC-8068-492B-8696-0EB0DC499DFE}" destId="{996527FA-8BC2-47B4-9333-BE2FB9FE2EB4}" srcOrd="0" destOrd="1" presId="urn:microsoft.com/office/officeart/2005/8/layout/hList1"/>
    <dgm:cxn modelId="{D7AC995A-1CB6-4C38-965B-39BABABB34E0}" srcId="{B664D0DB-5E1C-489C-9C94-1E4A03752B09}" destId="{2609A05C-E33A-477F-9571-89BD2EEE91D0}" srcOrd="2" destOrd="0" parTransId="{EA176EFC-5077-43CE-A108-788D4B671AC8}" sibTransId="{7BBD35E4-EC66-413D-907A-743EE8B98A9B}"/>
    <dgm:cxn modelId="{48B6D8DF-5B81-4693-8731-DD4BC15737ED}" srcId="{B664D0DB-5E1C-489C-9C94-1E4A03752B09}" destId="{788F40EC-8068-492B-8696-0EB0DC499DFE}" srcOrd="1" destOrd="0" parTransId="{95C6F44A-3F5C-4411-AB34-0CFA549A765F}" sibTransId="{5C1CDBD3-EC80-45AC-BE30-8A2DBF48959D}"/>
    <dgm:cxn modelId="{45128659-83BF-45FC-9132-5A722AFB95F1}" type="presOf" srcId="{620A1630-EC29-4F5A-BF53-52B2CC0D9085}" destId="{973AB6D1-459D-4F22-BD75-5F29A326C090}" srcOrd="0" destOrd="0" presId="urn:microsoft.com/office/officeart/2005/8/layout/hList1"/>
    <dgm:cxn modelId="{4CF26CAB-A19B-46AA-A84F-8F9CC9750D9E}" srcId="{893C1667-71C0-4B58-BC03-E5CCEA809F08}" destId="{128783D1-2E80-44C3-935E-AF4FA62B86AD}" srcOrd="1" destOrd="0" parTransId="{FF5216FE-47CE-4351-8929-FA6DB10A0235}" sibTransId="{AF9A6C5D-FB70-46ED-8F63-751663F654D6}"/>
    <dgm:cxn modelId="{69BE3263-6FD1-413D-97B2-24D5583F5FDC}" type="presOf" srcId="{B664D0DB-5E1C-489C-9C94-1E4A03752B09}" destId="{B7B14DEF-DB0B-4BF5-8830-0B9A1294B0E6}" srcOrd="0" destOrd="0" presId="urn:microsoft.com/office/officeart/2005/8/layout/hList1"/>
    <dgm:cxn modelId="{9DE4C0DC-20FD-49AD-A559-7A74537CAA5C}" srcId="{210E8EB4-1372-47AF-AC61-73831C6DCE09}" destId="{893C1667-71C0-4B58-BC03-E5CCEA809F08}" srcOrd="0" destOrd="0" parTransId="{11999EA5-F80F-4934-8A23-BC8C43BD8C9B}" sibTransId="{09609DD6-9F79-4735-817C-5E359CE04D69}"/>
    <dgm:cxn modelId="{F779CAE5-1564-4397-8349-0F947E2C2744}" type="presOf" srcId="{210E8EB4-1372-47AF-AC61-73831C6DCE09}" destId="{7FE9AD30-AF02-45F3-B5A8-F6A60E9D2203}" srcOrd="0" destOrd="0" presId="urn:microsoft.com/office/officeart/2005/8/layout/hList1"/>
    <dgm:cxn modelId="{D32E4C8B-27C6-4608-86E2-029A65162A68}" srcId="{210E8EB4-1372-47AF-AC61-73831C6DCE09}" destId="{B664D0DB-5E1C-489C-9C94-1E4A03752B09}" srcOrd="1" destOrd="0" parTransId="{99EB77D6-C452-4F18-95EE-07B810180BBF}" sibTransId="{F369930F-7C90-4297-A9DE-71B1ACE578EC}"/>
    <dgm:cxn modelId="{1A786C7E-B938-4352-BA2B-26FD52BBA6CB}" srcId="{B664D0DB-5E1C-489C-9C94-1E4A03752B09}" destId="{70ADE3C8-F655-4EFB-9FC1-2FA126703A03}" srcOrd="3" destOrd="0" parTransId="{F1EFFC50-CFCB-4E4D-961B-1F1B71E8544E}" sibTransId="{26BD68D2-8229-47A6-8BB7-AAF7207929FB}"/>
    <dgm:cxn modelId="{808F9F9B-672B-4E48-BC71-F3142483F65E}" type="presOf" srcId="{059BE078-7CC9-4FF2-9368-8A96D3388408}" destId="{996527FA-8BC2-47B4-9333-BE2FB9FE2EB4}" srcOrd="0" destOrd="0" presId="urn:microsoft.com/office/officeart/2005/8/layout/hList1"/>
    <dgm:cxn modelId="{C82EB756-D56D-4988-8582-6EC906300E88}" type="presOf" srcId="{76BAF31E-9907-4E56-97F3-2E4822BE035A}" destId="{973AB6D1-459D-4F22-BD75-5F29A326C090}" srcOrd="0" destOrd="2" presId="urn:microsoft.com/office/officeart/2005/8/layout/hList1"/>
    <dgm:cxn modelId="{93DD2D93-C0B0-48CB-A1A5-3BF4142ABA7A}" srcId="{893C1667-71C0-4B58-BC03-E5CCEA809F08}" destId="{76BAF31E-9907-4E56-97F3-2E4822BE035A}" srcOrd="2" destOrd="0" parTransId="{40C84204-9F22-4A7D-903B-5DF7259DB46C}" sibTransId="{B259AF56-565E-4F9F-BEE1-5DAC28CC7ACA}"/>
    <dgm:cxn modelId="{7A07E05D-B6DE-4841-A845-09D52144C260}" type="presParOf" srcId="{7FE9AD30-AF02-45F3-B5A8-F6A60E9D2203}" destId="{A4F7DFFF-A105-457F-8929-881EDF22CF1C}" srcOrd="0" destOrd="0" presId="urn:microsoft.com/office/officeart/2005/8/layout/hList1"/>
    <dgm:cxn modelId="{075A4B4A-6313-4BD7-8BC4-B4E27A578B69}" type="presParOf" srcId="{A4F7DFFF-A105-457F-8929-881EDF22CF1C}" destId="{765D0A33-CD8D-4655-81AF-B36D6CEF2892}" srcOrd="0" destOrd="0" presId="urn:microsoft.com/office/officeart/2005/8/layout/hList1"/>
    <dgm:cxn modelId="{4DB61B69-86C1-4619-87D0-049DD3251B8F}" type="presParOf" srcId="{A4F7DFFF-A105-457F-8929-881EDF22CF1C}" destId="{973AB6D1-459D-4F22-BD75-5F29A326C090}" srcOrd="1" destOrd="0" presId="urn:microsoft.com/office/officeart/2005/8/layout/hList1"/>
    <dgm:cxn modelId="{18998BED-E38E-4E0C-99D3-20F16D21713F}" type="presParOf" srcId="{7FE9AD30-AF02-45F3-B5A8-F6A60E9D2203}" destId="{DEF3D3D0-40B9-4286-BF0D-46C0375A47EF}" srcOrd="1" destOrd="0" presId="urn:microsoft.com/office/officeart/2005/8/layout/hList1"/>
    <dgm:cxn modelId="{71F5DF2B-2520-4010-9429-351B25C037F9}" type="presParOf" srcId="{7FE9AD30-AF02-45F3-B5A8-F6A60E9D2203}" destId="{61FBFCCD-768C-49B5-A131-E9B0B3B87953}" srcOrd="2" destOrd="0" presId="urn:microsoft.com/office/officeart/2005/8/layout/hList1"/>
    <dgm:cxn modelId="{17A2E6BD-9BDA-4E1E-B3A4-47CA7C831714}" type="presParOf" srcId="{61FBFCCD-768C-49B5-A131-E9B0B3B87953}" destId="{B7B14DEF-DB0B-4BF5-8830-0B9A1294B0E6}" srcOrd="0" destOrd="0" presId="urn:microsoft.com/office/officeart/2005/8/layout/hList1"/>
    <dgm:cxn modelId="{D62EF026-DCB6-4BC2-8282-0994413DA4D6}" type="presParOf" srcId="{61FBFCCD-768C-49B5-A131-E9B0B3B87953}" destId="{996527FA-8BC2-47B4-9333-BE2FB9FE2EB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AAC7AF-5B88-4941-A3FB-E57AEFD2688E}" type="doc">
      <dgm:prSet loTypeId="urn:microsoft.com/office/officeart/2005/8/layout/hList1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E7821A1B-248E-414E-AA59-E2B7F8793E75}">
      <dgm:prSet phldrT="[Testo]"/>
      <dgm:spPr/>
      <dgm:t>
        <a:bodyPr/>
        <a:lstStyle/>
        <a:p>
          <a:r>
            <a:rPr lang="it-IT" dirty="0"/>
            <a:t>Passaggio per valore</a:t>
          </a:r>
        </a:p>
      </dgm:t>
    </dgm:pt>
    <dgm:pt modelId="{1B68D8F7-7967-4E5D-9E26-2B67D3609648}" type="parTrans" cxnId="{CF47FBA4-6E1A-4940-99CC-CEB5AF80794B}">
      <dgm:prSet/>
      <dgm:spPr/>
      <dgm:t>
        <a:bodyPr/>
        <a:lstStyle/>
        <a:p>
          <a:endParaRPr lang="it-IT"/>
        </a:p>
      </dgm:t>
    </dgm:pt>
    <dgm:pt modelId="{DB849F80-DFDE-44AC-94B7-98C66FDF7934}" type="sibTrans" cxnId="{CF47FBA4-6E1A-4940-99CC-CEB5AF80794B}">
      <dgm:prSet/>
      <dgm:spPr/>
      <dgm:t>
        <a:bodyPr/>
        <a:lstStyle/>
        <a:p>
          <a:endParaRPr lang="it-IT"/>
        </a:p>
      </dgm:t>
    </dgm:pt>
    <dgm:pt modelId="{B7A5FB5F-1A6E-42CC-912A-98A41F46D917}">
      <dgm:prSet phldrT="[Testo]"/>
      <dgm:spPr/>
      <dgm:t>
        <a:bodyPr/>
        <a:lstStyle/>
        <a:p>
          <a:r>
            <a:rPr lang="it-IT" dirty="0"/>
            <a:t>Passaggio per Indirizzo</a:t>
          </a:r>
        </a:p>
      </dgm:t>
    </dgm:pt>
    <dgm:pt modelId="{4A2499FE-566F-4E05-9250-FA6DAE0EEE6B}" type="parTrans" cxnId="{46F99E76-9F37-4B7E-96AD-B50165CE1FC8}">
      <dgm:prSet/>
      <dgm:spPr/>
      <dgm:t>
        <a:bodyPr/>
        <a:lstStyle/>
        <a:p>
          <a:endParaRPr lang="it-IT"/>
        </a:p>
      </dgm:t>
    </dgm:pt>
    <dgm:pt modelId="{ACFFD035-88EF-482F-BC5D-3B7CD2816F40}" type="sibTrans" cxnId="{46F99E76-9F37-4B7E-96AD-B50165CE1FC8}">
      <dgm:prSet/>
      <dgm:spPr/>
      <dgm:t>
        <a:bodyPr/>
        <a:lstStyle/>
        <a:p>
          <a:endParaRPr lang="it-IT"/>
        </a:p>
      </dgm:t>
    </dgm:pt>
    <dgm:pt modelId="{09030D02-03F4-498D-9399-E7915DA99439}">
      <dgm:prSet phldrT="[Testo]"/>
      <dgm:spPr/>
      <dgm:t>
        <a:bodyPr/>
        <a:lstStyle/>
        <a:p>
          <a:r>
            <a:rPr lang="it-IT" dirty="0"/>
            <a:t>Il chiamato modifica l’ambiente locale del chiamante</a:t>
          </a:r>
        </a:p>
      </dgm:t>
    </dgm:pt>
    <dgm:pt modelId="{16ABBD12-9660-4AFA-A80B-C71F98FF6186}" type="parTrans" cxnId="{602BBD77-CD9B-466C-BF82-E99C54D92B21}">
      <dgm:prSet/>
      <dgm:spPr/>
      <dgm:t>
        <a:bodyPr/>
        <a:lstStyle/>
        <a:p>
          <a:endParaRPr lang="it-IT"/>
        </a:p>
      </dgm:t>
    </dgm:pt>
    <dgm:pt modelId="{C3671B09-3BF4-47D6-9C95-B6E64E439CDC}" type="sibTrans" cxnId="{602BBD77-CD9B-466C-BF82-E99C54D92B21}">
      <dgm:prSet/>
      <dgm:spPr/>
      <dgm:t>
        <a:bodyPr/>
        <a:lstStyle/>
        <a:p>
          <a:endParaRPr lang="it-IT"/>
        </a:p>
      </dgm:t>
    </dgm:pt>
    <dgm:pt modelId="{D3685618-A5CA-46B1-90A7-2F6DA7680343}">
      <dgm:prSet/>
      <dgm:spPr/>
      <dgm:t>
        <a:bodyPr/>
        <a:lstStyle/>
        <a:p>
          <a:r>
            <a:rPr lang="it-IT"/>
            <a:t>consente di mantenere isolati gli ambienti locali di chiamante e chiamato</a:t>
          </a:r>
          <a:endParaRPr lang="it-IT" dirty="0"/>
        </a:p>
      </dgm:t>
    </dgm:pt>
    <dgm:pt modelId="{EB7BC1D7-4923-48D5-B455-77472E9D653C}" type="parTrans" cxnId="{A8AD88B5-E016-4F1C-864A-6A033FFEFBDD}">
      <dgm:prSet/>
      <dgm:spPr/>
      <dgm:t>
        <a:bodyPr/>
        <a:lstStyle/>
        <a:p>
          <a:endParaRPr lang="it-IT"/>
        </a:p>
      </dgm:t>
    </dgm:pt>
    <dgm:pt modelId="{C0E7460B-5727-4BBA-A29D-779215A18B2B}" type="sibTrans" cxnId="{A8AD88B5-E016-4F1C-864A-6A033FFEFBDD}">
      <dgm:prSet/>
      <dgm:spPr/>
      <dgm:t>
        <a:bodyPr/>
        <a:lstStyle/>
        <a:p>
          <a:endParaRPr lang="it-IT"/>
        </a:p>
      </dgm:t>
    </dgm:pt>
    <dgm:pt modelId="{74CD7CA6-12C6-4870-825A-1D4BB4119C2A}">
      <dgm:prSet/>
      <dgm:spPr/>
      <dgm:t>
        <a:bodyPr/>
        <a:lstStyle/>
        <a:p>
          <a:r>
            <a:rPr lang="it-IT" dirty="0"/>
            <a:t>una funzione può restituire un solo dato in output</a:t>
          </a:r>
        </a:p>
      </dgm:t>
    </dgm:pt>
    <dgm:pt modelId="{D89751D2-39A9-4DAC-99E9-0ECA5EFBD816}" type="parTrans" cxnId="{BA2C6416-35AA-46A8-B4B5-1238FC486273}">
      <dgm:prSet/>
      <dgm:spPr/>
      <dgm:t>
        <a:bodyPr/>
        <a:lstStyle/>
        <a:p>
          <a:endParaRPr lang="it-IT"/>
        </a:p>
      </dgm:t>
    </dgm:pt>
    <dgm:pt modelId="{DF01814E-DB61-4F73-A8A1-38D9256400F4}" type="sibTrans" cxnId="{BA2C6416-35AA-46A8-B4B5-1238FC486273}">
      <dgm:prSet/>
      <dgm:spPr/>
      <dgm:t>
        <a:bodyPr/>
        <a:lstStyle/>
        <a:p>
          <a:endParaRPr lang="it-IT"/>
        </a:p>
      </dgm:t>
    </dgm:pt>
    <dgm:pt modelId="{BB0E290B-F80E-40BE-BA5D-AC7077A042C8}">
      <dgm:prSet phldrT="[Testo]"/>
      <dgm:spPr/>
      <dgm:t>
        <a:bodyPr/>
        <a:lstStyle/>
        <a:p>
          <a:r>
            <a:rPr lang="it-IT" dirty="0"/>
            <a:t>I parametri della funzione diventano sia di input che di output</a:t>
          </a:r>
        </a:p>
      </dgm:t>
    </dgm:pt>
    <dgm:pt modelId="{ED9938CC-D631-4F29-A5F8-1641FB66E3EA}" type="parTrans" cxnId="{55D6BE48-99E9-4CC6-958B-F29D5B67C504}">
      <dgm:prSet/>
      <dgm:spPr/>
      <dgm:t>
        <a:bodyPr/>
        <a:lstStyle/>
        <a:p>
          <a:endParaRPr lang="it-IT"/>
        </a:p>
      </dgm:t>
    </dgm:pt>
    <dgm:pt modelId="{C8CBA9D4-A34A-41C8-B1DF-C3C21B6CD974}" type="sibTrans" cxnId="{55D6BE48-99E9-4CC6-958B-F29D5B67C504}">
      <dgm:prSet/>
      <dgm:spPr/>
      <dgm:t>
        <a:bodyPr/>
        <a:lstStyle/>
        <a:p>
          <a:endParaRPr lang="it-IT"/>
        </a:p>
      </dgm:t>
    </dgm:pt>
    <dgm:pt modelId="{3D86737D-1575-475D-A3A7-5459818A6432}">
      <dgm:prSet phldrT="[Testo]"/>
      <dgm:spPr/>
      <dgm:t>
        <a:bodyPr/>
        <a:lstStyle/>
        <a:p>
          <a:r>
            <a:rPr lang="it-IT" dirty="0"/>
            <a:t>La funzione può restituire più dati di output</a:t>
          </a:r>
        </a:p>
      </dgm:t>
    </dgm:pt>
    <dgm:pt modelId="{D6991DA4-7B5D-4ADA-BBB5-596777E69D77}" type="parTrans" cxnId="{86FC5807-D22C-4BC4-85A7-6417551AE6CE}">
      <dgm:prSet/>
      <dgm:spPr/>
      <dgm:t>
        <a:bodyPr/>
        <a:lstStyle/>
        <a:p>
          <a:endParaRPr lang="it-IT"/>
        </a:p>
      </dgm:t>
    </dgm:pt>
    <dgm:pt modelId="{80DBE978-2FEB-4B5F-960B-4FD318450C64}" type="sibTrans" cxnId="{86FC5807-D22C-4BC4-85A7-6417551AE6CE}">
      <dgm:prSet/>
      <dgm:spPr/>
      <dgm:t>
        <a:bodyPr/>
        <a:lstStyle/>
        <a:p>
          <a:endParaRPr lang="it-IT"/>
        </a:p>
      </dgm:t>
    </dgm:pt>
    <dgm:pt modelId="{C7431D23-3F04-4F4E-A3BC-B586E305AAD2}">
      <dgm:prSet/>
      <dgm:spPr/>
      <dgm:t>
        <a:bodyPr/>
        <a:lstStyle/>
        <a:p>
          <a:r>
            <a:rPr lang="it-IT" dirty="0"/>
            <a:t>Il passaggio di strutture dati complesse, la copia comporta rallentamenti (</a:t>
          </a:r>
          <a:r>
            <a:rPr lang="it-IT" i="1" dirty="0" err="1">
              <a:solidFill>
                <a:srgbClr val="00B0F0"/>
              </a:solidFill>
            </a:rPr>
            <a:t>overhead</a:t>
          </a:r>
          <a:r>
            <a:rPr lang="it-IT" dirty="0"/>
            <a:t>) </a:t>
          </a:r>
        </a:p>
      </dgm:t>
    </dgm:pt>
    <dgm:pt modelId="{0939F686-EA71-47F5-95A4-C10CD5A597E6}" type="parTrans" cxnId="{F5A94784-67F9-461A-A011-1AC63479D199}">
      <dgm:prSet/>
      <dgm:spPr/>
      <dgm:t>
        <a:bodyPr/>
        <a:lstStyle/>
        <a:p>
          <a:endParaRPr lang="it-IT"/>
        </a:p>
      </dgm:t>
    </dgm:pt>
    <dgm:pt modelId="{746D9FF6-EF53-4AC6-A89A-DA02BC85B36E}" type="sibTrans" cxnId="{F5A94784-67F9-461A-A011-1AC63479D199}">
      <dgm:prSet/>
      <dgm:spPr/>
      <dgm:t>
        <a:bodyPr/>
        <a:lstStyle/>
        <a:p>
          <a:endParaRPr lang="it-IT"/>
        </a:p>
      </dgm:t>
    </dgm:pt>
    <dgm:pt modelId="{A1C4BF26-D782-4C18-9970-31D9BCAE6415}">
      <dgm:prSet phldrT="[Testo]"/>
      <dgm:spPr/>
      <dgm:t>
        <a:bodyPr/>
        <a:lstStyle/>
        <a:p>
          <a:r>
            <a:rPr lang="it-IT" dirty="0"/>
            <a:t>Il passaggio di strutture dati complesse ha lo stesso costo di un dato semplice</a:t>
          </a:r>
        </a:p>
      </dgm:t>
    </dgm:pt>
    <dgm:pt modelId="{14AF424D-F7CE-48C1-BB1C-C0FF90CD3409}" type="parTrans" cxnId="{D410C721-549F-4D13-9917-E896D8152081}">
      <dgm:prSet/>
      <dgm:spPr/>
      <dgm:t>
        <a:bodyPr/>
        <a:lstStyle/>
        <a:p>
          <a:endParaRPr lang="it-IT"/>
        </a:p>
      </dgm:t>
    </dgm:pt>
    <dgm:pt modelId="{5753AB99-074D-43C0-A05F-18DF1824EDE0}" type="sibTrans" cxnId="{D410C721-549F-4D13-9917-E896D8152081}">
      <dgm:prSet/>
      <dgm:spPr/>
      <dgm:t>
        <a:bodyPr/>
        <a:lstStyle/>
        <a:p>
          <a:endParaRPr lang="it-IT"/>
        </a:p>
      </dgm:t>
    </dgm:pt>
    <dgm:pt modelId="{428889F5-2BAB-4D99-AAA1-649EA4490FA3}" type="pres">
      <dgm:prSet presAssocID="{A1AAC7AF-5B88-4941-A3FB-E57AEFD2688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FE77CB6B-D952-4A77-9D30-12B3EB26A8A9}" type="pres">
      <dgm:prSet presAssocID="{E7821A1B-248E-414E-AA59-E2B7F8793E75}" presName="composite" presStyleCnt="0"/>
      <dgm:spPr/>
    </dgm:pt>
    <dgm:pt modelId="{252222E0-831E-49F1-87EC-37E715C352B0}" type="pres">
      <dgm:prSet presAssocID="{E7821A1B-248E-414E-AA59-E2B7F8793E7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2D092E5E-866D-4AC8-A6F9-034084ED8C33}" type="pres">
      <dgm:prSet presAssocID="{E7821A1B-248E-414E-AA59-E2B7F8793E75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5D797155-D273-4EAD-8814-38AD0D29966D}" type="pres">
      <dgm:prSet presAssocID="{DB849F80-DFDE-44AC-94B7-98C66FDF7934}" presName="space" presStyleCnt="0"/>
      <dgm:spPr/>
    </dgm:pt>
    <dgm:pt modelId="{0312B623-B6A9-43DA-8D65-6B574C85115D}" type="pres">
      <dgm:prSet presAssocID="{B7A5FB5F-1A6E-42CC-912A-98A41F46D917}" presName="composite" presStyleCnt="0"/>
      <dgm:spPr/>
    </dgm:pt>
    <dgm:pt modelId="{C5B5A2D5-5007-48AE-A4FD-E1CB7078E35C}" type="pres">
      <dgm:prSet presAssocID="{B7A5FB5F-1A6E-42CC-912A-98A41F46D91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2043655F-C803-4310-BA73-288C75B646C0}" type="pres">
      <dgm:prSet presAssocID="{B7A5FB5F-1A6E-42CC-912A-98A41F46D917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537A43F2-9469-43F0-8939-3E5E353B1D7F}" type="presOf" srcId="{74CD7CA6-12C6-4870-825A-1D4BB4119C2A}" destId="{2D092E5E-866D-4AC8-A6F9-034084ED8C33}" srcOrd="0" destOrd="1" presId="urn:microsoft.com/office/officeart/2005/8/layout/hList1"/>
    <dgm:cxn modelId="{55D6BE48-99E9-4CC6-958B-F29D5B67C504}" srcId="{B7A5FB5F-1A6E-42CC-912A-98A41F46D917}" destId="{BB0E290B-F80E-40BE-BA5D-AC7077A042C8}" srcOrd="1" destOrd="0" parTransId="{ED9938CC-D631-4F29-A5F8-1641FB66E3EA}" sibTransId="{C8CBA9D4-A34A-41C8-B1DF-C3C21B6CD974}"/>
    <dgm:cxn modelId="{46F99E76-9F37-4B7E-96AD-B50165CE1FC8}" srcId="{A1AAC7AF-5B88-4941-A3FB-E57AEFD2688E}" destId="{B7A5FB5F-1A6E-42CC-912A-98A41F46D917}" srcOrd="1" destOrd="0" parTransId="{4A2499FE-566F-4E05-9250-FA6DAE0EEE6B}" sibTransId="{ACFFD035-88EF-482F-BC5D-3B7CD2816F40}"/>
    <dgm:cxn modelId="{86FC5807-D22C-4BC4-85A7-6417551AE6CE}" srcId="{B7A5FB5F-1A6E-42CC-912A-98A41F46D917}" destId="{3D86737D-1575-475D-A3A7-5459818A6432}" srcOrd="2" destOrd="0" parTransId="{D6991DA4-7B5D-4ADA-BBB5-596777E69D77}" sibTransId="{80DBE978-2FEB-4B5F-960B-4FD318450C64}"/>
    <dgm:cxn modelId="{0CDC29D4-1A55-4E40-A6F6-3DBDC36BD0AB}" type="presOf" srcId="{B7A5FB5F-1A6E-42CC-912A-98A41F46D917}" destId="{C5B5A2D5-5007-48AE-A4FD-E1CB7078E35C}" srcOrd="0" destOrd="0" presId="urn:microsoft.com/office/officeart/2005/8/layout/hList1"/>
    <dgm:cxn modelId="{E4C16445-61A6-4C70-9582-479CFE1A3C0C}" type="presOf" srcId="{C7431D23-3F04-4F4E-A3BC-B586E305AAD2}" destId="{2D092E5E-866D-4AC8-A6F9-034084ED8C33}" srcOrd="0" destOrd="2" presId="urn:microsoft.com/office/officeart/2005/8/layout/hList1"/>
    <dgm:cxn modelId="{C464BC42-A93E-4743-878D-0CE44CBD9B44}" type="presOf" srcId="{E7821A1B-248E-414E-AA59-E2B7F8793E75}" destId="{252222E0-831E-49F1-87EC-37E715C352B0}" srcOrd="0" destOrd="0" presId="urn:microsoft.com/office/officeart/2005/8/layout/hList1"/>
    <dgm:cxn modelId="{EAD5CAF6-1E3C-4529-98B7-3A8C670B143B}" type="presOf" srcId="{09030D02-03F4-498D-9399-E7915DA99439}" destId="{2043655F-C803-4310-BA73-288C75B646C0}" srcOrd="0" destOrd="0" presId="urn:microsoft.com/office/officeart/2005/8/layout/hList1"/>
    <dgm:cxn modelId="{D410C721-549F-4D13-9917-E896D8152081}" srcId="{B7A5FB5F-1A6E-42CC-912A-98A41F46D917}" destId="{A1C4BF26-D782-4C18-9970-31D9BCAE6415}" srcOrd="3" destOrd="0" parTransId="{14AF424D-F7CE-48C1-BB1C-C0FF90CD3409}" sibTransId="{5753AB99-074D-43C0-A05F-18DF1824EDE0}"/>
    <dgm:cxn modelId="{BA2C6416-35AA-46A8-B4B5-1238FC486273}" srcId="{E7821A1B-248E-414E-AA59-E2B7F8793E75}" destId="{74CD7CA6-12C6-4870-825A-1D4BB4119C2A}" srcOrd="1" destOrd="0" parTransId="{D89751D2-39A9-4DAC-99E9-0ECA5EFBD816}" sibTransId="{DF01814E-DB61-4F73-A8A1-38D9256400F4}"/>
    <dgm:cxn modelId="{602BBD77-CD9B-466C-BF82-E99C54D92B21}" srcId="{B7A5FB5F-1A6E-42CC-912A-98A41F46D917}" destId="{09030D02-03F4-498D-9399-E7915DA99439}" srcOrd="0" destOrd="0" parTransId="{16ABBD12-9660-4AFA-A80B-C71F98FF6186}" sibTransId="{C3671B09-3BF4-47D6-9C95-B6E64E439CDC}"/>
    <dgm:cxn modelId="{73FE416E-F1C1-483B-B760-501055C6376C}" type="presOf" srcId="{A1AAC7AF-5B88-4941-A3FB-E57AEFD2688E}" destId="{428889F5-2BAB-4D99-AAA1-649EA4490FA3}" srcOrd="0" destOrd="0" presId="urn:microsoft.com/office/officeart/2005/8/layout/hList1"/>
    <dgm:cxn modelId="{FD3A1BB3-744B-4333-89E4-D7B46C57F19A}" type="presOf" srcId="{BB0E290B-F80E-40BE-BA5D-AC7077A042C8}" destId="{2043655F-C803-4310-BA73-288C75B646C0}" srcOrd="0" destOrd="1" presId="urn:microsoft.com/office/officeart/2005/8/layout/hList1"/>
    <dgm:cxn modelId="{A69F1ED3-9B90-4081-823B-C9F7FF9C5BCF}" type="presOf" srcId="{D3685618-A5CA-46B1-90A7-2F6DA7680343}" destId="{2D092E5E-866D-4AC8-A6F9-034084ED8C33}" srcOrd="0" destOrd="0" presId="urn:microsoft.com/office/officeart/2005/8/layout/hList1"/>
    <dgm:cxn modelId="{231DC32F-768C-4DE5-8BCE-6F100F9B6351}" type="presOf" srcId="{3D86737D-1575-475D-A3A7-5459818A6432}" destId="{2043655F-C803-4310-BA73-288C75B646C0}" srcOrd="0" destOrd="2" presId="urn:microsoft.com/office/officeart/2005/8/layout/hList1"/>
    <dgm:cxn modelId="{CF47FBA4-6E1A-4940-99CC-CEB5AF80794B}" srcId="{A1AAC7AF-5B88-4941-A3FB-E57AEFD2688E}" destId="{E7821A1B-248E-414E-AA59-E2B7F8793E75}" srcOrd="0" destOrd="0" parTransId="{1B68D8F7-7967-4E5D-9E26-2B67D3609648}" sibTransId="{DB849F80-DFDE-44AC-94B7-98C66FDF7934}"/>
    <dgm:cxn modelId="{F5A94784-67F9-461A-A011-1AC63479D199}" srcId="{E7821A1B-248E-414E-AA59-E2B7F8793E75}" destId="{C7431D23-3F04-4F4E-A3BC-B586E305AAD2}" srcOrd="2" destOrd="0" parTransId="{0939F686-EA71-47F5-95A4-C10CD5A597E6}" sibTransId="{746D9FF6-EF53-4AC6-A89A-DA02BC85B36E}"/>
    <dgm:cxn modelId="{A8AD88B5-E016-4F1C-864A-6A033FFEFBDD}" srcId="{E7821A1B-248E-414E-AA59-E2B7F8793E75}" destId="{D3685618-A5CA-46B1-90A7-2F6DA7680343}" srcOrd="0" destOrd="0" parTransId="{EB7BC1D7-4923-48D5-B455-77472E9D653C}" sibTransId="{C0E7460B-5727-4BBA-A29D-779215A18B2B}"/>
    <dgm:cxn modelId="{DFED12D9-6004-4C41-AEFA-A7AE33259FBF}" type="presOf" srcId="{A1C4BF26-D782-4C18-9970-31D9BCAE6415}" destId="{2043655F-C803-4310-BA73-288C75B646C0}" srcOrd="0" destOrd="3" presId="urn:microsoft.com/office/officeart/2005/8/layout/hList1"/>
    <dgm:cxn modelId="{1FF0F1E5-D874-42E6-AC5D-7874E90935E9}" type="presParOf" srcId="{428889F5-2BAB-4D99-AAA1-649EA4490FA3}" destId="{FE77CB6B-D952-4A77-9D30-12B3EB26A8A9}" srcOrd="0" destOrd="0" presId="urn:microsoft.com/office/officeart/2005/8/layout/hList1"/>
    <dgm:cxn modelId="{2C96B439-619B-4B77-B0EF-F8159396BDD9}" type="presParOf" srcId="{FE77CB6B-D952-4A77-9D30-12B3EB26A8A9}" destId="{252222E0-831E-49F1-87EC-37E715C352B0}" srcOrd="0" destOrd="0" presId="urn:microsoft.com/office/officeart/2005/8/layout/hList1"/>
    <dgm:cxn modelId="{A401E292-3497-40A1-AD78-D48112310488}" type="presParOf" srcId="{FE77CB6B-D952-4A77-9D30-12B3EB26A8A9}" destId="{2D092E5E-866D-4AC8-A6F9-034084ED8C33}" srcOrd="1" destOrd="0" presId="urn:microsoft.com/office/officeart/2005/8/layout/hList1"/>
    <dgm:cxn modelId="{4F3D64E5-50B7-458C-B8F6-05A4A8D62ACD}" type="presParOf" srcId="{428889F5-2BAB-4D99-AAA1-649EA4490FA3}" destId="{5D797155-D273-4EAD-8814-38AD0D29966D}" srcOrd="1" destOrd="0" presId="urn:microsoft.com/office/officeart/2005/8/layout/hList1"/>
    <dgm:cxn modelId="{9198AFED-97A5-4F6F-BD5C-F11BAB16E71B}" type="presParOf" srcId="{428889F5-2BAB-4D99-AAA1-649EA4490FA3}" destId="{0312B623-B6A9-43DA-8D65-6B574C85115D}" srcOrd="2" destOrd="0" presId="urn:microsoft.com/office/officeart/2005/8/layout/hList1"/>
    <dgm:cxn modelId="{0546FFC8-F23F-4EF2-8C0A-A8FA492F389C}" type="presParOf" srcId="{0312B623-B6A9-43DA-8D65-6B574C85115D}" destId="{C5B5A2D5-5007-48AE-A4FD-E1CB7078E35C}" srcOrd="0" destOrd="0" presId="urn:microsoft.com/office/officeart/2005/8/layout/hList1"/>
    <dgm:cxn modelId="{BF0E0608-2BEB-4429-8903-6574D071BADF}" type="presParOf" srcId="{0312B623-B6A9-43DA-8D65-6B574C85115D}" destId="{2043655F-C803-4310-BA73-288C75B646C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C7D7F0-2825-417E-8E74-AF128680E4FC}" type="doc">
      <dgm:prSet loTypeId="urn:microsoft.com/office/officeart/2005/8/layout/process1" loCatId="process" qsTypeId="urn:microsoft.com/office/officeart/2005/8/quickstyle/3d1" qsCatId="3D" csTypeId="urn:microsoft.com/office/officeart/2005/8/colors/colorful4" csCatId="colorful" phldr="1"/>
      <dgm:spPr/>
    </dgm:pt>
    <dgm:pt modelId="{387F7B0D-F35A-442E-B988-277F5C5B5415}">
      <dgm:prSet phldrT="[Testo]"/>
      <dgm:spPr/>
      <dgm:t>
        <a:bodyPr/>
        <a:lstStyle/>
        <a:p>
          <a:r>
            <a:rPr lang="it-IT" dirty="0"/>
            <a:t>Funzione e chiamante sono indipendenti e comunicano solo attraverso </a:t>
          </a:r>
          <a:r>
            <a:rPr lang="it-IT" b="1" dirty="0"/>
            <a:t>passaggio di parametri </a:t>
          </a:r>
          <a:r>
            <a:rPr lang="it-IT" dirty="0"/>
            <a:t>e </a:t>
          </a:r>
          <a:r>
            <a:rPr lang="it-IT" dirty="0" err="1"/>
            <a:t>return</a:t>
          </a:r>
          <a:endParaRPr lang="it-IT" dirty="0"/>
        </a:p>
      </dgm:t>
    </dgm:pt>
    <dgm:pt modelId="{72352F75-A140-4193-9B7F-CDE960A27F08}" type="parTrans" cxnId="{EA7CBC9A-579F-4FBA-8CFC-B64BC777FEAE}">
      <dgm:prSet/>
      <dgm:spPr/>
      <dgm:t>
        <a:bodyPr/>
        <a:lstStyle/>
        <a:p>
          <a:endParaRPr lang="it-IT"/>
        </a:p>
      </dgm:t>
    </dgm:pt>
    <dgm:pt modelId="{BC75B834-E53F-4405-8F38-A8C96215193B}" type="sibTrans" cxnId="{EA7CBC9A-579F-4FBA-8CFC-B64BC777FEAE}">
      <dgm:prSet/>
      <dgm:spPr/>
      <dgm:t>
        <a:bodyPr/>
        <a:lstStyle/>
        <a:p>
          <a:endParaRPr lang="it-IT"/>
        </a:p>
      </dgm:t>
    </dgm:pt>
    <dgm:pt modelId="{E970104E-80DD-4FCA-9DAC-029346A61A78}">
      <dgm:prSet phldrT="[Testo]" custT="1"/>
      <dgm:spPr/>
      <dgm:t>
        <a:bodyPr/>
        <a:lstStyle/>
        <a:p>
          <a:r>
            <a:rPr lang="it-IT" sz="1800" dirty="0"/>
            <a:t>Esistono </a:t>
          </a:r>
          <a:r>
            <a:rPr lang="it-IT" sz="2000" b="1" i="1" dirty="0"/>
            <a:t>regole di Visibilità</a:t>
          </a:r>
        </a:p>
      </dgm:t>
    </dgm:pt>
    <dgm:pt modelId="{E4548494-3D0D-4982-948B-0EC106D12AB9}" type="parTrans" cxnId="{1C5FF652-6254-41DB-BD67-BFF18B196E1A}">
      <dgm:prSet/>
      <dgm:spPr/>
      <dgm:t>
        <a:bodyPr/>
        <a:lstStyle/>
        <a:p>
          <a:endParaRPr lang="it-IT"/>
        </a:p>
      </dgm:t>
    </dgm:pt>
    <dgm:pt modelId="{43369BA3-6657-42C5-B00A-74EED8CDF7EC}" type="sibTrans" cxnId="{1C5FF652-6254-41DB-BD67-BFF18B196E1A}">
      <dgm:prSet/>
      <dgm:spPr/>
      <dgm:t>
        <a:bodyPr/>
        <a:lstStyle/>
        <a:p>
          <a:endParaRPr lang="it-IT"/>
        </a:p>
      </dgm:t>
    </dgm:pt>
    <dgm:pt modelId="{6D1E42DF-712E-45FF-9FEF-6C551661C612}">
      <dgm:prSet/>
      <dgm:spPr/>
      <dgm:t>
        <a:bodyPr/>
        <a:lstStyle/>
        <a:p>
          <a:r>
            <a:rPr lang="it-IT" dirty="0"/>
            <a:t>Possono esistere variabili con lo stesso nome, ma associate ad indirizzi di memoria diversi (quindi diverse)</a:t>
          </a:r>
        </a:p>
      </dgm:t>
    </dgm:pt>
    <dgm:pt modelId="{F297C124-ACBF-439C-8B2C-370FC36F31DE}" type="sibTrans" cxnId="{8BA0C3CA-23B3-46B1-AE1B-8DC32FE5875B}">
      <dgm:prSet/>
      <dgm:spPr/>
      <dgm:t>
        <a:bodyPr/>
        <a:lstStyle/>
        <a:p>
          <a:endParaRPr lang="it-IT"/>
        </a:p>
      </dgm:t>
    </dgm:pt>
    <dgm:pt modelId="{E9AB5760-78C2-47AA-8A25-591ECAF2814B}" type="parTrans" cxnId="{8BA0C3CA-23B3-46B1-AE1B-8DC32FE5875B}">
      <dgm:prSet/>
      <dgm:spPr/>
      <dgm:t>
        <a:bodyPr/>
        <a:lstStyle/>
        <a:p>
          <a:endParaRPr lang="it-IT"/>
        </a:p>
      </dgm:t>
    </dgm:pt>
    <dgm:pt modelId="{EEEA3AF3-4CC6-4765-B48F-5B30D67C4E77}" type="pres">
      <dgm:prSet presAssocID="{0FC7D7F0-2825-417E-8E74-AF128680E4FC}" presName="Name0" presStyleCnt="0">
        <dgm:presLayoutVars>
          <dgm:dir/>
          <dgm:resizeHandles val="exact"/>
        </dgm:presLayoutVars>
      </dgm:prSet>
      <dgm:spPr/>
    </dgm:pt>
    <dgm:pt modelId="{0BDAD873-3B67-4FE2-8EE6-A87266862975}" type="pres">
      <dgm:prSet presAssocID="{387F7B0D-F35A-442E-B988-277F5C5B541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1A7A4141-A2BC-43F2-8E49-7A1C2E99248F}" type="pres">
      <dgm:prSet presAssocID="{BC75B834-E53F-4405-8F38-A8C96215193B}" presName="sibTrans" presStyleLbl="sibTrans2D1" presStyleIdx="0" presStyleCnt="2"/>
      <dgm:spPr/>
      <dgm:t>
        <a:bodyPr/>
        <a:lstStyle/>
        <a:p>
          <a:endParaRPr lang="it-IT"/>
        </a:p>
      </dgm:t>
    </dgm:pt>
    <dgm:pt modelId="{9F685B61-AC25-429C-A8DE-7AC2328950E4}" type="pres">
      <dgm:prSet presAssocID="{BC75B834-E53F-4405-8F38-A8C96215193B}" presName="connectorText" presStyleLbl="sibTrans2D1" presStyleIdx="0" presStyleCnt="2"/>
      <dgm:spPr/>
      <dgm:t>
        <a:bodyPr/>
        <a:lstStyle/>
        <a:p>
          <a:endParaRPr lang="it-IT"/>
        </a:p>
      </dgm:t>
    </dgm:pt>
    <dgm:pt modelId="{CFBCF5EC-D10A-48CF-9A6E-5DAB1657F363}" type="pres">
      <dgm:prSet presAssocID="{6D1E42DF-712E-45FF-9FEF-6C551661C61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C12390B4-773D-4937-97B4-820CD0576B75}" type="pres">
      <dgm:prSet presAssocID="{F297C124-ACBF-439C-8B2C-370FC36F31DE}" presName="sibTrans" presStyleLbl="sibTrans2D1" presStyleIdx="1" presStyleCnt="2"/>
      <dgm:spPr/>
      <dgm:t>
        <a:bodyPr/>
        <a:lstStyle/>
        <a:p>
          <a:endParaRPr lang="it-IT"/>
        </a:p>
      </dgm:t>
    </dgm:pt>
    <dgm:pt modelId="{053A3684-78F0-4957-BC93-F67BD52C497A}" type="pres">
      <dgm:prSet presAssocID="{F297C124-ACBF-439C-8B2C-370FC36F31DE}" presName="connectorText" presStyleLbl="sibTrans2D1" presStyleIdx="1" presStyleCnt="2"/>
      <dgm:spPr/>
      <dgm:t>
        <a:bodyPr/>
        <a:lstStyle/>
        <a:p>
          <a:endParaRPr lang="it-IT"/>
        </a:p>
      </dgm:t>
    </dgm:pt>
    <dgm:pt modelId="{247D6CC6-97C5-4648-8F37-181F62A93FCC}" type="pres">
      <dgm:prSet presAssocID="{E970104E-80DD-4FCA-9DAC-029346A61A7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B3C04190-FB38-4B4C-928A-E352425E9DCF}" type="presOf" srcId="{387F7B0D-F35A-442E-B988-277F5C5B5415}" destId="{0BDAD873-3B67-4FE2-8EE6-A87266862975}" srcOrd="0" destOrd="0" presId="urn:microsoft.com/office/officeart/2005/8/layout/process1"/>
    <dgm:cxn modelId="{8E3DFBF8-FE4F-4661-B6C0-80F65450042E}" type="presOf" srcId="{0FC7D7F0-2825-417E-8E74-AF128680E4FC}" destId="{EEEA3AF3-4CC6-4765-B48F-5B30D67C4E77}" srcOrd="0" destOrd="0" presId="urn:microsoft.com/office/officeart/2005/8/layout/process1"/>
    <dgm:cxn modelId="{EC11E8CA-4ECD-47C6-89AC-7DFB7E1209F0}" type="presOf" srcId="{6D1E42DF-712E-45FF-9FEF-6C551661C612}" destId="{CFBCF5EC-D10A-48CF-9A6E-5DAB1657F363}" srcOrd="0" destOrd="0" presId="urn:microsoft.com/office/officeart/2005/8/layout/process1"/>
    <dgm:cxn modelId="{8BA0C3CA-23B3-46B1-AE1B-8DC32FE5875B}" srcId="{0FC7D7F0-2825-417E-8E74-AF128680E4FC}" destId="{6D1E42DF-712E-45FF-9FEF-6C551661C612}" srcOrd="1" destOrd="0" parTransId="{E9AB5760-78C2-47AA-8A25-591ECAF2814B}" sibTransId="{F297C124-ACBF-439C-8B2C-370FC36F31DE}"/>
    <dgm:cxn modelId="{027702AF-290E-47AE-A900-2E35B28ECD74}" type="presOf" srcId="{F297C124-ACBF-439C-8B2C-370FC36F31DE}" destId="{053A3684-78F0-4957-BC93-F67BD52C497A}" srcOrd="1" destOrd="0" presId="urn:microsoft.com/office/officeart/2005/8/layout/process1"/>
    <dgm:cxn modelId="{8DCFA9B0-BC78-41FD-BB0A-5D771E41BF84}" type="presOf" srcId="{BC75B834-E53F-4405-8F38-A8C96215193B}" destId="{9F685B61-AC25-429C-A8DE-7AC2328950E4}" srcOrd="1" destOrd="0" presId="urn:microsoft.com/office/officeart/2005/8/layout/process1"/>
    <dgm:cxn modelId="{9DF5E5F3-C45D-4BB4-B3B5-37EDD09A1F8F}" type="presOf" srcId="{F297C124-ACBF-439C-8B2C-370FC36F31DE}" destId="{C12390B4-773D-4937-97B4-820CD0576B75}" srcOrd="0" destOrd="0" presId="urn:microsoft.com/office/officeart/2005/8/layout/process1"/>
    <dgm:cxn modelId="{BCE1203E-8738-49A1-BD60-BDB1E7D5A998}" type="presOf" srcId="{E970104E-80DD-4FCA-9DAC-029346A61A78}" destId="{247D6CC6-97C5-4648-8F37-181F62A93FCC}" srcOrd="0" destOrd="0" presId="urn:microsoft.com/office/officeart/2005/8/layout/process1"/>
    <dgm:cxn modelId="{1C5FF652-6254-41DB-BD67-BFF18B196E1A}" srcId="{0FC7D7F0-2825-417E-8E74-AF128680E4FC}" destId="{E970104E-80DD-4FCA-9DAC-029346A61A78}" srcOrd="2" destOrd="0" parTransId="{E4548494-3D0D-4982-948B-0EC106D12AB9}" sibTransId="{43369BA3-6657-42C5-B00A-74EED8CDF7EC}"/>
    <dgm:cxn modelId="{EA7CBC9A-579F-4FBA-8CFC-B64BC777FEAE}" srcId="{0FC7D7F0-2825-417E-8E74-AF128680E4FC}" destId="{387F7B0D-F35A-442E-B988-277F5C5B5415}" srcOrd="0" destOrd="0" parTransId="{72352F75-A140-4193-9B7F-CDE960A27F08}" sibTransId="{BC75B834-E53F-4405-8F38-A8C96215193B}"/>
    <dgm:cxn modelId="{14B22E95-F25D-4922-B85E-46B241BC89D6}" type="presOf" srcId="{BC75B834-E53F-4405-8F38-A8C96215193B}" destId="{1A7A4141-A2BC-43F2-8E49-7A1C2E99248F}" srcOrd="0" destOrd="0" presId="urn:microsoft.com/office/officeart/2005/8/layout/process1"/>
    <dgm:cxn modelId="{1FFA6245-CE4B-4AC0-BB37-D0B7C01D4D8D}" type="presParOf" srcId="{EEEA3AF3-4CC6-4765-B48F-5B30D67C4E77}" destId="{0BDAD873-3B67-4FE2-8EE6-A87266862975}" srcOrd="0" destOrd="0" presId="urn:microsoft.com/office/officeart/2005/8/layout/process1"/>
    <dgm:cxn modelId="{64D45759-22F7-4AF5-9FC8-9902245CFC08}" type="presParOf" srcId="{EEEA3AF3-4CC6-4765-B48F-5B30D67C4E77}" destId="{1A7A4141-A2BC-43F2-8E49-7A1C2E99248F}" srcOrd="1" destOrd="0" presId="urn:microsoft.com/office/officeart/2005/8/layout/process1"/>
    <dgm:cxn modelId="{31CEAD97-79C2-48DF-A565-F5FA0E83E4A5}" type="presParOf" srcId="{1A7A4141-A2BC-43F2-8E49-7A1C2E99248F}" destId="{9F685B61-AC25-429C-A8DE-7AC2328950E4}" srcOrd="0" destOrd="0" presId="urn:microsoft.com/office/officeart/2005/8/layout/process1"/>
    <dgm:cxn modelId="{83F22896-E82F-4960-B7CF-539B4DE3B36F}" type="presParOf" srcId="{EEEA3AF3-4CC6-4765-B48F-5B30D67C4E77}" destId="{CFBCF5EC-D10A-48CF-9A6E-5DAB1657F363}" srcOrd="2" destOrd="0" presId="urn:microsoft.com/office/officeart/2005/8/layout/process1"/>
    <dgm:cxn modelId="{E2B696BC-91B3-4C55-8787-569AA7B03C05}" type="presParOf" srcId="{EEEA3AF3-4CC6-4765-B48F-5B30D67C4E77}" destId="{C12390B4-773D-4937-97B4-820CD0576B75}" srcOrd="3" destOrd="0" presId="urn:microsoft.com/office/officeart/2005/8/layout/process1"/>
    <dgm:cxn modelId="{12658232-3651-42D1-B418-B7ECFD609E75}" type="presParOf" srcId="{C12390B4-773D-4937-97B4-820CD0576B75}" destId="{053A3684-78F0-4957-BC93-F67BD52C497A}" srcOrd="0" destOrd="0" presId="urn:microsoft.com/office/officeart/2005/8/layout/process1"/>
    <dgm:cxn modelId="{0F27F54F-B5C8-4968-94A6-762E44904D5F}" type="presParOf" srcId="{EEEA3AF3-4CC6-4765-B48F-5B30D67C4E77}" destId="{247D6CC6-97C5-4648-8F37-181F62A93FC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67AB171-DD24-443A-B9F7-C51EA867D440}" type="doc">
      <dgm:prSet loTypeId="urn:microsoft.com/office/officeart/2005/8/layout/hList1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80EC751A-DA05-4C95-8652-EDCC5BD60182}">
      <dgm:prSet phldrT="[Testo]"/>
      <dgm:spPr/>
      <dgm:t>
        <a:bodyPr/>
        <a:lstStyle/>
        <a:p>
          <a:r>
            <a:rPr lang="it-IT" dirty="0"/>
            <a:t>Visibilità</a:t>
          </a:r>
        </a:p>
        <a:p>
          <a:r>
            <a:rPr lang="it-IT" dirty="0"/>
            <a:t>scope</a:t>
          </a:r>
        </a:p>
      </dgm:t>
    </dgm:pt>
    <dgm:pt modelId="{A8577542-149A-46D6-BE2B-74ACAF2C085B}" type="parTrans" cxnId="{30E135DC-15F0-4C4C-A2EB-F296D3917093}">
      <dgm:prSet/>
      <dgm:spPr/>
      <dgm:t>
        <a:bodyPr/>
        <a:lstStyle/>
        <a:p>
          <a:endParaRPr lang="it-IT"/>
        </a:p>
      </dgm:t>
    </dgm:pt>
    <dgm:pt modelId="{2893D126-E2C5-47F6-9C1D-71D8E1DBA81A}" type="sibTrans" cxnId="{30E135DC-15F0-4C4C-A2EB-F296D3917093}">
      <dgm:prSet/>
      <dgm:spPr/>
      <dgm:t>
        <a:bodyPr/>
        <a:lstStyle/>
        <a:p>
          <a:endParaRPr lang="it-IT"/>
        </a:p>
      </dgm:t>
    </dgm:pt>
    <dgm:pt modelId="{0136AFDB-CDB8-478C-9B38-185540C48FCE}">
      <dgm:prSet phldrT="[Testo]"/>
      <dgm:spPr/>
      <dgm:t>
        <a:bodyPr/>
        <a:lstStyle/>
        <a:p>
          <a:r>
            <a:rPr lang="it-IT" dirty="0"/>
            <a:t>Regione di codice in cui una variabile è accessibile</a:t>
          </a:r>
        </a:p>
      </dgm:t>
    </dgm:pt>
    <dgm:pt modelId="{5A0F2AB2-9315-4BF7-ABA8-B3AED26903D3}" type="parTrans" cxnId="{6CA62134-1404-433D-BD66-69180C95243A}">
      <dgm:prSet/>
      <dgm:spPr/>
      <dgm:t>
        <a:bodyPr/>
        <a:lstStyle/>
        <a:p>
          <a:endParaRPr lang="it-IT"/>
        </a:p>
      </dgm:t>
    </dgm:pt>
    <dgm:pt modelId="{D2435354-C951-4A63-83C5-C1D30EFECC95}" type="sibTrans" cxnId="{6CA62134-1404-433D-BD66-69180C95243A}">
      <dgm:prSet/>
      <dgm:spPr/>
      <dgm:t>
        <a:bodyPr/>
        <a:lstStyle/>
        <a:p>
          <a:endParaRPr lang="it-IT"/>
        </a:p>
      </dgm:t>
    </dgm:pt>
    <dgm:pt modelId="{DC213651-EDBD-497C-AF4D-E61C86522D44}">
      <dgm:prSet phldrT="[Testo]"/>
      <dgm:spPr/>
      <dgm:t>
        <a:bodyPr/>
        <a:lstStyle/>
        <a:p>
          <a:r>
            <a:rPr lang="it-IT" dirty="0"/>
            <a:t>Tempo di Vita</a:t>
          </a:r>
        </a:p>
        <a:p>
          <a:r>
            <a:rPr lang="it-IT" dirty="0"/>
            <a:t>Life Time</a:t>
          </a:r>
        </a:p>
      </dgm:t>
    </dgm:pt>
    <dgm:pt modelId="{B9A8B5D9-57BE-4CED-B6F2-746526465EA4}" type="parTrans" cxnId="{9C6D977B-10FA-4C96-AC9C-0ADCA5BE5B1F}">
      <dgm:prSet/>
      <dgm:spPr/>
      <dgm:t>
        <a:bodyPr/>
        <a:lstStyle/>
        <a:p>
          <a:endParaRPr lang="it-IT"/>
        </a:p>
      </dgm:t>
    </dgm:pt>
    <dgm:pt modelId="{7610DCED-3C4D-4C9D-8547-53B9D6B8DFF1}" type="sibTrans" cxnId="{9C6D977B-10FA-4C96-AC9C-0ADCA5BE5B1F}">
      <dgm:prSet/>
      <dgm:spPr/>
      <dgm:t>
        <a:bodyPr/>
        <a:lstStyle/>
        <a:p>
          <a:endParaRPr lang="it-IT"/>
        </a:p>
      </dgm:t>
    </dgm:pt>
    <dgm:pt modelId="{06E00EC5-B864-40F5-99BE-50224E080C9D}">
      <dgm:prSet phldrT="[Testo]"/>
      <dgm:spPr/>
      <dgm:t>
        <a:bodyPr/>
        <a:lstStyle/>
        <a:p>
          <a:r>
            <a:rPr lang="it-IT" dirty="0"/>
            <a:t>Tempo in cui una variabile è accessibile</a:t>
          </a:r>
        </a:p>
      </dgm:t>
    </dgm:pt>
    <dgm:pt modelId="{8FE38007-EAF3-48EF-AC3A-AAA010DB7C0A}" type="parTrans" cxnId="{767FD8DE-9234-4DF7-BD43-68780ADAE775}">
      <dgm:prSet/>
      <dgm:spPr/>
      <dgm:t>
        <a:bodyPr/>
        <a:lstStyle/>
        <a:p>
          <a:endParaRPr lang="it-IT"/>
        </a:p>
      </dgm:t>
    </dgm:pt>
    <dgm:pt modelId="{449A0C82-7DC8-4E01-91C7-91EE73F0F4F1}" type="sibTrans" cxnId="{767FD8DE-9234-4DF7-BD43-68780ADAE775}">
      <dgm:prSet/>
      <dgm:spPr/>
      <dgm:t>
        <a:bodyPr/>
        <a:lstStyle/>
        <a:p>
          <a:endParaRPr lang="it-IT"/>
        </a:p>
      </dgm:t>
    </dgm:pt>
    <dgm:pt modelId="{53D06535-2774-493A-9DF2-892E6A749DB2}">
      <dgm:prSet phldrT="[Testo]"/>
      <dgm:spPr/>
      <dgm:t>
        <a:bodyPr/>
        <a:lstStyle/>
        <a:p>
          <a:r>
            <a:rPr lang="it-IT" dirty="0"/>
            <a:t>Solitamente il blocco (tra graffe) in cui sono dichiarate</a:t>
          </a:r>
        </a:p>
      </dgm:t>
    </dgm:pt>
    <dgm:pt modelId="{400CABA0-20CD-4B09-B582-7F9790CAC3BC}" type="parTrans" cxnId="{244BD0AA-7481-40E5-925D-316A369AEBC7}">
      <dgm:prSet/>
      <dgm:spPr/>
    </dgm:pt>
    <dgm:pt modelId="{6337EFC5-596C-44B2-9A6B-F6CA11DED072}" type="sibTrans" cxnId="{244BD0AA-7481-40E5-925D-316A369AEBC7}">
      <dgm:prSet/>
      <dgm:spPr/>
    </dgm:pt>
    <dgm:pt modelId="{1B1885F1-CB79-43D7-9022-83C2DDECFF99}" type="pres">
      <dgm:prSet presAssocID="{D67AB171-DD24-443A-B9F7-C51EA867D44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1639AA7F-FED7-4FB0-B11F-DF3B1951368B}" type="pres">
      <dgm:prSet presAssocID="{80EC751A-DA05-4C95-8652-EDCC5BD60182}" presName="composite" presStyleCnt="0"/>
      <dgm:spPr/>
    </dgm:pt>
    <dgm:pt modelId="{F15518AB-C0E0-4CD3-8660-2347B397AFC0}" type="pres">
      <dgm:prSet presAssocID="{80EC751A-DA05-4C95-8652-EDCC5BD6018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68DA1ED7-BFA8-4B56-8745-7BF9134A77AB}" type="pres">
      <dgm:prSet presAssocID="{80EC751A-DA05-4C95-8652-EDCC5BD60182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A590143F-77E1-4F6A-801A-C275D8F252C6}" type="pres">
      <dgm:prSet presAssocID="{2893D126-E2C5-47F6-9C1D-71D8E1DBA81A}" presName="space" presStyleCnt="0"/>
      <dgm:spPr/>
    </dgm:pt>
    <dgm:pt modelId="{0E2F7A79-986C-4703-9CC5-5BEB0BB2B773}" type="pres">
      <dgm:prSet presAssocID="{DC213651-EDBD-497C-AF4D-E61C86522D44}" presName="composite" presStyleCnt="0"/>
      <dgm:spPr/>
    </dgm:pt>
    <dgm:pt modelId="{B5F1C00A-9FE9-4A09-8818-21357FAF08F6}" type="pres">
      <dgm:prSet presAssocID="{DC213651-EDBD-497C-AF4D-E61C86522D4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EE1D952B-0E1D-480F-9289-7435B9677FF2}" type="pres">
      <dgm:prSet presAssocID="{DC213651-EDBD-497C-AF4D-E61C86522D44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6CA62134-1404-433D-BD66-69180C95243A}" srcId="{80EC751A-DA05-4C95-8652-EDCC5BD60182}" destId="{0136AFDB-CDB8-478C-9B38-185540C48FCE}" srcOrd="0" destOrd="0" parTransId="{5A0F2AB2-9315-4BF7-ABA8-B3AED26903D3}" sibTransId="{D2435354-C951-4A63-83C5-C1D30EFECC95}"/>
    <dgm:cxn modelId="{39F7B8C0-0C28-443E-8BDC-F8038C1F55EF}" type="presOf" srcId="{53D06535-2774-493A-9DF2-892E6A749DB2}" destId="{68DA1ED7-BFA8-4B56-8745-7BF9134A77AB}" srcOrd="0" destOrd="1" presId="urn:microsoft.com/office/officeart/2005/8/layout/hList1"/>
    <dgm:cxn modelId="{B810D757-E233-4DF0-B182-2625E203274E}" type="presOf" srcId="{DC213651-EDBD-497C-AF4D-E61C86522D44}" destId="{B5F1C00A-9FE9-4A09-8818-21357FAF08F6}" srcOrd="0" destOrd="0" presId="urn:microsoft.com/office/officeart/2005/8/layout/hList1"/>
    <dgm:cxn modelId="{ECBF136B-11F4-4265-BF91-308DB4F24E82}" type="presOf" srcId="{0136AFDB-CDB8-478C-9B38-185540C48FCE}" destId="{68DA1ED7-BFA8-4B56-8745-7BF9134A77AB}" srcOrd="0" destOrd="0" presId="urn:microsoft.com/office/officeart/2005/8/layout/hList1"/>
    <dgm:cxn modelId="{244BD0AA-7481-40E5-925D-316A369AEBC7}" srcId="{80EC751A-DA05-4C95-8652-EDCC5BD60182}" destId="{53D06535-2774-493A-9DF2-892E6A749DB2}" srcOrd="1" destOrd="0" parTransId="{400CABA0-20CD-4B09-B582-7F9790CAC3BC}" sibTransId="{6337EFC5-596C-44B2-9A6B-F6CA11DED072}"/>
    <dgm:cxn modelId="{30E135DC-15F0-4C4C-A2EB-F296D3917093}" srcId="{D67AB171-DD24-443A-B9F7-C51EA867D440}" destId="{80EC751A-DA05-4C95-8652-EDCC5BD60182}" srcOrd="0" destOrd="0" parTransId="{A8577542-149A-46D6-BE2B-74ACAF2C085B}" sibTransId="{2893D126-E2C5-47F6-9C1D-71D8E1DBA81A}"/>
    <dgm:cxn modelId="{4C5AE8BD-757D-4228-80FB-12DB034C0478}" type="presOf" srcId="{80EC751A-DA05-4C95-8652-EDCC5BD60182}" destId="{F15518AB-C0E0-4CD3-8660-2347B397AFC0}" srcOrd="0" destOrd="0" presId="urn:microsoft.com/office/officeart/2005/8/layout/hList1"/>
    <dgm:cxn modelId="{3E021BC2-ACA1-4AC3-8BE5-8862DEDB4F1F}" type="presOf" srcId="{06E00EC5-B864-40F5-99BE-50224E080C9D}" destId="{EE1D952B-0E1D-480F-9289-7435B9677FF2}" srcOrd="0" destOrd="0" presId="urn:microsoft.com/office/officeart/2005/8/layout/hList1"/>
    <dgm:cxn modelId="{0C735970-2029-4A6D-8C2C-462D07050336}" type="presOf" srcId="{D67AB171-DD24-443A-B9F7-C51EA867D440}" destId="{1B1885F1-CB79-43D7-9022-83C2DDECFF99}" srcOrd="0" destOrd="0" presId="urn:microsoft.com/office/officeart/2005/8/layout/hList1"/>
    <dgm:cxn modelId="{9C6D977B-10FA-4C96-AC9C-0ADCA5BE5B1F}" srcId="{D67AB171-DD24-443A-B9F7-C51EA867D440}" destId="{DC213651-EDBD-497C-AF4D-E61C86522D44}" srcOrd="1" destOrd="0" parTransId="{B9A8B5D9-57BE-4CED-B6F2-746526465EA4}" sibTransId="{7610DCED-3C4D-4C9D-8547-53B9D6B8DFF1}"/>
    <dgm:cxn modelId="{767FD8DE-9234-4DF7-BD43-68780ADAE775}" srcId="{DC213651-EDBD-497C-AF4D-E61C86522D44}" destId="{06E00EC5-B864-40F5-99BE-50224E080C9D}" srcOrd="0" destOrd="0" parTransId="{8FE38007-EAF3-48EF-AC3A-AAA010DB7C0A}" sibTransId="{449A0C82-7DC8-4E01-91C7-91EE73F0F4F1}"/>
    <dgm:cxn modelId="{66FFF860-6779-4E47-8F73-BE6C93624FA9}" type="presParOf" srcId="{1B1885F1-CB79-43D7-9022-83C2DDECFF99}" destId="{1639AA7F-FED7-4FB0-B11F-DF3B1951368B}" srcOrd="0" destOrd="0" presId="urn:microsoft.com/office/officeart/2005/8/layout/hList1"/>
    <dgm:cxn modelId="{D604E382-042A-4E47-A8A3-ECD24EA4BD19}" type="presParOf" srcId="{1639AA7F-FED7-4FB0-B11F-DF3B1951368B}" destId="{F15518AB-C0E0-4CD3-8660-2347B397AFC0}" srcOrd="0" destOrd="0" presId="urn:microsoft.com/office/officeart/2005/8/layout/hList1"/>
    <dgm:cxn modelId="{F0CDA44A-AD3A-4A8E-BE17-4CC8A0BE8856}" type="presParOf" srcId="{1639AA7F-FED7-4FB0-B11F-DF3B1951368B}" destId="{68DA1ED7-BFA8-4B56-8745-7BF9134A77AB}" srcOrd="1" destOrd="0" presId="urn:microsoft.com/office/officeart/2005/8/layout/hList1"/>
    <dgm:cxn modelId="{51A079BD-FD31-41C3-AAE4-2E844FE9AEE2}" type="presParOf" srcId="{1B1885F1-CB79-43D7-9022-83C2DDECFF99}" destId="{A590143F-77E1-4F6A-801A-C275D8F252C6}" srcOrd="1" destOrd="0" presId="urn:microsoft.com/office/officeart/2005/8/layout/hList1"/>
    <dgm:cxn modelId="{57161C65-81E1-4E78-8B8B-90C50016326C}" type="presParOf" srcId="{1B1885F1-CB79-43D7-9022-83C2DDECFF99}" destId="{0E2F7A79-986C-4703-9CC5-5BEB0BB2B773}" srcOrd="2" destOrd="0" presId="urn:microsoft.com/office/officeart/2005/8/layout/hList1"/>
    <dgm:cxn modelId="{E1AA4FA8-F7DD-41E3-923E-D74FEEE14842}" type="presParOf" srcId="{0E2F7A79-986C-4703-9CC5-5BEB0BB2B773}" destId="{B5F1C00A-9FE9-4A09-8818-21357FAF08F6}" srcOrd="0" destOrd="0" presId="urn:microsoft.com/office/officeart/2005/8/layout/hList1"/>
    <dgm:cxn modelId="{F32506A8-0886-4AD1-AB21-F7A10EB09FF9}" type="presParOf" srcId="{0E2F7A79-986C-4703-9CC5-5BEB0BB2B773}" destId="{EE1D952B-0E1D-480F-9289-7435B9677FF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09A575E-63AE-424C-89BB-6ECCEBAB5DFC}" type="doc">
      <dgm:prSet loTypeId="urn:microsoft.com/office/officeart/2005/8/layout/hList1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6C90C029-5327-4A4C-85E8-F14EC1EF754C}">
      <dgm:prSet phldrT="[Testo]" custT="1"/>
      <dgm:spPr/>
      <dgm:t>
        <a:bodyPr/>
        <a:lstStyle/>
        <a:p>
          <a:r>
            <a:rPr lang="it-IT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auto</a:t>
          </a:r>
        </a:p>
      </dgm:t>
    </dgm:pt>
    <dgm:pt modelId="{31F91ECF-8ECA-4164-B0E8-21752E7386E5}" type="parTrans" cxnId="{08BF3A74-D765-4772-A9F5-C17B6415E1C6}">
      <dgm:prSet/>
      <dgm:spPr/>
      <dgm:t>
        <a:bodyPr/>
        <a:lstStyle/>
        <a:p>
          <a:endParaRPr lang="it-IT"/>
        </a:p>
      </dgm:t>
    </dgm:pt>
    <dgm:pt modelId="{0042BAB4-B162-4F53-A1C0-B1D2EFC1CC5C}" type="sibTrans" cxnId="{08BF3A74-D765-4772-A9F5-C17B6415E1C6}">
      <dgm:prSet/>
      <dgm:spPr/>
      <dgm:t>
        <a:bodyPr/>
        <a:lstStyle/>
        <a:p>
          <a:endParaRPr lang="it-IT"/>
        </a:p>
      </dgm:t>
    </dgm:pt>
    <dgm:pt modelId="{75135E7F-F551-495E-8145-F3D9B4D93E85}">
      <dgm:prSet phldrT="[Testo]"/>
      <dgm:spPr/>
      <dgm:t>
        <a:bodyPr/>
        <a:lstStyle/>
        <a:p>
          <a:r>
            <a:rPr lang="it-IT" dirty="0"/>
            <a:t>Default per le variabili locali</a:t>
          </a:r>
        </a:p>
      </dgm:t>
    </dgm:pt>
    <dgm:pt modelId="{85DE46B7-F0F3-44C3-9068-87DF6D624845}" type="parTrans" cxnId="{1E24692E-5B11-4933-9BE7-6649AC54A16E}">
      <dgm:prSet/>
      <dgm:spPr/>
      <dgm:t>
        <a:bodyPr/>
        <a:lstStyle/>
        <a:p>
          <a:endParaRPr lang="it-IT"/>
        </a:p>
      </dgm:t>
    </dgm:pt>
    <dgm:pt modelId="{933A0D62-DC16-416F-8279-7DC763EBCE23}" type="sibTrans" cxnId="{1E24692E-5B11-4933-9BE7-6649AC54A16E}">
      <dgm:prSet/>
      <dgm:spPr/>
      <dgm:t>
        <a:bodyPr/>
        <a:lstStyle/>
        <a:p>
          <a:endParaRPr lang="it-IT"/>
        </a:p>
      </dgm:t>
    </dgm:pt>
    <dgm:pt modelId="{C43BBB7C-04A0-4C4D-B005-F50F2D44411C}">
      <dgm:prSet phldrT="[Testo]"/>
      <dgm:spPr/>
      <dgm:t>
        <a:bodyPr/>
        <a:lstStyle/>
        <a:p>
          <a:r>
            <a:rPr lang="it-IT" dirty="0"/>
            <a:t>sono create all'entrata del blocco e non vengono inizializzate automaticamente. </a:t>
          </a:r>
        </a:p>
      </dgm:t>
    </dgm:pt>
    <dgm:pt modelId="{B2961C17-EA9F-4FC2-89EC-41C747668006}" type="parTrans" cxnId="{6ECADF2A-E296-4821-BE76-4DB3C433410E}">
      <dgm:prSet/>
      <dgm:spPr/>
      <dgm:t>
        <a:bodyPr/>
        <a:lstStyle/>
        <a:p>
          <a:endParaRPr lang="it-IT"/>
        </a:p>
      </dgm:t>
    </dgm:pt>
    <dgm:pt modelId="{C27FB368-4E8B-4975-B6D0-B39658B995DD}" type="sibTrans" cxnId="{6ECADF2A-E296-4821-BE76-4DB3C433410E}">
      <dgm:prSet/>
      <dgm:spPr/>
      <dgm:t>
        <a:bodyPr/>
        <a:lstStyle/>
        <a:p>
          <a:endParaRPr lang="it-IT"/>
        </a:p>
      </dgm:t>
    </dgm:pt>
    <dgm:pt modelId="{4B386EF7-5F8E-4FF7-B87B-141755C13503}">
      <dgm:prSet phldrT="[Testo]" custT="1"/>
      <dgm:spPr/>
      <dgm:t>
        <a:bodyPr/>
        <a:lstStyle/>
        <a:p>
          <a:r>
            <a:rPr lang="it-IT" sz="16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static</a:t>
          </a:r>
          <a:endParaRPr lang="it-IT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64DF978-62F2-486A-96E9-BED76C028858}" type="parTrans" cxnId="{25F9EAB7-2D14-432E-9F4D-045F36DB56AC}">
      <dgm:prSet/>
      <dgm:spPr/>
      <dgm:t>
        <a:bodyPr/>
        <a:lstStyle/>
        <a:p>
          <a:endParaRPr lang="it-IT"/>
        </a:p>
      </dgm:t>
    </dgm:pt>
    <dgm:pt modelId="{EB153405-B1E4-4948-9F1A-9E8632508C6A}" type="sibTrans" cxnId="{25F9EAB7-2D14-432E-9F4D-045F36DB56AC}">
      <dgm:prSet/>
      <dgm:spPr/>
      <dgm:t>
        <a:bodyPr/>
        <a:lstStyle/>
        <a:p>
          <a:endParaRPr lang="it-IT"/>
        </a:p>
      </dgm:t>
    </dgm:pt>
    <dgm:pt modelId="{01EAF0A6-B700-4A07-9648-F77A8EE36F45}">
      <dgm:prSet phldrT="[Testo]"/>
      <dgm:spPr/>
      <dgm:t>
        <a:bodyPr/>
        <a:lstStyle/>
        <a:p>
          <a:r>
            <a:rPr lang="it-IT" dirty="0"/>
            <a:t>La variabile viene allocata stabilmente per tutta la durata del programma</a:t>
          </a:r>
        </a:p>
      </dgm:t>
    </dgm:pt>
    <dgm:pt modelId="{F5E21933-F7F6-4548-A9F1-274AC7DDCCD1}" type="parTrans" cxnId="{B4D30496-008E-475F-87CF-C9CA369461D0}">
      <dgm:prSet/>
      <dgm:spPr/>
      <dgm:t>
        <a:bodyPr/>
        <a:lstStyle/>
        <a:p>
          <a:endParaRPr lang="it-IT"/>
        </a:p>
      </dgm:t>
    </dgm:pt>
    <dgm:pt modelId="{47E2F977-2738-4F3D-BE61-30B8622C5663}" type="sibTrans" cxnId="{B4D30496-008E-475F-87CF-C9CA369461D0}">
      <dgm:prSet/>
      <dgm:spPr/>
      <dgm:t>
        <a:bodyPr/>
        <a:lstStyle/>
        <a:p>
          <a:endParaRPr lang="it-IT"/>
        </a:p>
      </dgm:t>
    </dgm:pt>
    <dgm:pt modelId="{6171A0FA-1772-4A08-ABA6-5CC3891762EA}">
      <dgm:prSet phldrT="[Testo]"/>
      <dgm:spPr/>
      <dgm:t>
        <a:bodyPr/>
        <a:lstStyle/>
        <a:p>
          <a:r>
            <a:rPr lang="it-IT" dirty="0"/>
            <a:t>Mantiene il valore di una variabile locale per differenti chiamate della stessa funzione</a:t>
          </a:r>
        </a:p>
      </dgm:t>
    </dgm:pt>
    <dgm:pt modelId="{DF9C1879-9032-4268-8E80-A1B8177919E7}" type="parTrans" cxnId="{0E211F6D-A165-4A11-A39B-E03AD4247EE8}">
      <dgm:prSet/>
      <dgm:spPr/>
      <dgm:t>
        <a:bodyPr/>
        <a:lstStyle/>
        <a:p>
          <a:endParaRPr lang="it-IT"/>
        </a:p>
      </dgm:t>
    </dgm:pt>
    <dgm:pt modelId="{00419262-6AE8-4FA4-973A-85F61E316721}" type="sibTrans" cxnId="{0E211F6D-A165-4A11-A39B-E03AD4247EE8}">
      <dgm:prSet/>
      <dgm:spPr/>
      <dgm:t>
        <a:bodyPr/>
        <a:lstStyle/>
        <a:p>
          <a:endParaRPr lang="it-IT"/>
        </a:p>
      </dgm:t>
    </dgm:pt>
    <dgm:pt modelId="{EEF58368-479F-4735-B22D-5633BF4E4DEF}">
      <dgm:prSet phldrT="[Testo]" custT="1"/>
      <dgm:spPr/>
      <dgm:t>
        <a:bodyPr/>
        <a:lstStyle/>
        <a:p>
          <a:r>
            <a:rPr lang="it-IT" sz="16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register</a:t>
          </a:r>
          <a:endParaRPr lang="it-IT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5E37FC-B456-4B60-BFD6-2A4A9B6262BD}" type="parTrans" cxnId="{6111D486-3811-4F78-BB2C-3CBD0936383C}">
      <dgm:prSet/>
      <dgm:spPr/>
      <dgm:t>
        <a:bodyPr/>
        <a:lstStyle/>
        <a:p>
          <a:endParaRPr lang="it-IT"/>
        </a:p>
      </dgm:t>
    </dgm:pt>
    <dgm:pt modelId="{19904D4B-B45D-42F9-88CB-4B74533F0572}" type="sibTrans" cxnId="{6111D486-3811-4F78-BB2C-3CBD0936383C}">
      <dgm:prSet/>
      <dgm:spPr/>
      <dgm:t>
        <a:bodyPr/>
        <a:lstStyle/>
        <a:p>
          <a:endParaRPr lang="it-IT"/>
        </a:p>
      </dgm:t>
    </dgm:pt>
    <dgm:pt modelId="{A28E9C42-32AF-4F56-B680-2F1D34372C57}">
      <dgm:prSet phldrT="[Testo]" custT="1"/>
      <dgm:spPr/>
      <dgm:t>
        <a:bodyPr/>
        <a:lstStyle/>
        <a:p>
          <a:r>
            <a:rPr lang="it-IT" sz="16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extern</a:t>
          </a:r>
          <a:endParaRPr lang="it-IT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52D611-D0EC-4421-96D4-D81803166BFE}" type="parTrans" cxnId="{B720E546-D375-44E9-AB4D-35D3EBF8DF15}">
      <dgm:prSet/>
      <dgm:spPr/>
      <dgm:t>
        <a:bodyPr/>
        <a:lstStyle/>
        <a:p>
          <a:endParaRPr lang="it-IT"/>
        </a:p>
      </dgm:t>
    </dgm:pt>
    <dgm:pt modelId="{2323B0D3-FF2F-4DD6-997B-F8F98639453D}" type="sibTrans" cxnId="{B720E546-D375-44E9-AB4D-35D3EBF8DF15}">
      <dgm:prSet/>
      <dgm:spPr/>
      <dgm:t>
        <a:bodyPr/>
        <a:lstStyle/>
        <a:p>
          <a:endParaRPr lang="it-IT"/>
        </a:p>
      </dgm:t>
    </dgm:pt>
    <dgm:pt modelId="{5A962475-B116-4674-90DD-A07B64180421}">
      <dgm:prSet phldrT="[Testo]"/>
      <dgm:spPr/>
      <dgm:t>
        <a:bodyPr/>
        <a:lstStyle/>
        <a:p>
          <a:r>
            <a:rPr lang="it-IT" dirty="0"/>
            <a:t>Per le variabili che vorremmo allocare in un registro invece che in RAM</a:t>
          </a:r>
        </a:p>
      </dgm:t>
    </dgm:pt>
    <dgm:pt modelId="{F7D1ABFC-C91F-49ED-A048-4F7ABE762F43}" type="parTrans" cxnId="{968F0AA0-BF1D-4802-A824-650632FFF01B}">
      <dgm:prSet/>
      <dgm:spPr/>
      <dgm:t>
        <a:bodyPr/>
        <a:lstStyle/>
        <a:p>
          <a:endParaRPr lang="it-IT"/>
        </a:p>
      </dgm:t>
    </dgm:pt>
    <dgm:pt modelId="{E9BFA9F1-F447-47EB-A86F-C1106718FE01}" type="sibTrans" cxnId="{968F0AA0-BF1D-4802-A824-650632FFF01B}">
      <dgm:prSet/>
      <dgm:spPr/>
      <dgm:t>
        <a:bodyPr/>
        <a:lstStyle/>
        <a:p>
          <a:endParaRPr lang="it-IT"/>
        </a:p>
      </dgm:t>
    </dgm:pt>
    <dgm:pt modelId="{894270F1-B603-441B-B266-B98429C87DD6}">
      <dgm:prSet phldrT="[Testo]"/>
      <dgm:spPr/>
      <dgm:t>
        <a:bodyPr/>
        <a:lstStyle/>
        <a:p>
          <a:r>
            <a:rPr lang="it-IT" dirty="0"/>
            <a:t>È solo una raccomandazione per il compilatore</a:t>
          </a:r>
        </a:p>
      </dgm:t>
    </dgm:pt>
    <dgm:pt modelId="{6BC6F4C0-A819-4222-8696-3179F43CFBDF}" type="parTrans" cxnId="{F8A4D592-8413-4FB1-BA08-9420BEB54097}">
      <dgm:prSet/>
      <dgm:spPr/>
      <dgm:t>
        <a:bodyPr/>
        <a:lstStyle/>
        <a:p>
          <a:endParaRPr lang="it-IT"/>
        </a:p>
      </dgm:t>
    </dgm:pt>
    <dgm:pt modelId="{2434F10D-D861-45FB-9E9D-A4FEF40545B7}" type="sibTrans" cxnId="{F8A4D592-8413-4FB1-BA08-9420BEB54097}">
      <dgm:prSet/>
      <dgm:spPr/>
      <dgm:t>
        <a:bodyPr/>
        <a:lstStyle/>
        <a:p>
          <a:endParaRPr lang="it-IT"/>
        </a:p>
      </dgm:t>
    </dgm:pt>
    <dgm:pt modelId="{1DCEC2B2-6CC7-4BB0-B2A0-D900F05AA1C4}">
      <dgm:prSet phldrT="[Testo]"/>
      <dgm:spPr/>
      <dgm:t>
        <a:bodyPr/>
        <a:lstStyle/>
        <a:p>
          <a:r>
            <a:rPr lang="it-IT" dirty="0"/>
            <a:t>Estende la visibilità di una variabile definita in un altro sorgente</a:t>
          </a:r>
        </a:p>
      </dgm:t>
    </dgm:pt>
    <dgm:pt modelId="{374640A0-9824-44DF-A3FD-23B9397EC1E6}" type="parTrans" cxnId="{C007ED2B-4DA1-4048-9B90-B4D5A8E91AE0}">
      <dgm:prSet/>
      <dgm:spPr/>
      <dgm:t>
        <a:bodyPr/>
        <a:lstStyle/>
        <a:p>
          <a:endParaRPr lang="it-IT"/>
        </a:p>
      </dgm:t>
    </dgm:pt>
    <dgm:pt modelId="{81EF6BA8-1482-436E-923C-6EDD0B93CD12}" type="sibTrans" cxnId="{C007ED2B-4DA1-4048-9B90-B4D5A8E91AE0}">
      <dgm:prSet/>
      <dgm:spPr/>
      <dgm:t>
        <a:bodyPr/>
        <a:lstStyle/>
        <a:p>
          <a:endParaRPr lang="it-IT"/>
        </a:p>
      </dgm:t>
    </dgm:pt>
    <dgm:pt modelId="{6000A208-333F-4826-8495-3F4ED9DEEC6A}">
      <dgm:prSet phldrT="[Testo]"/>
      <dgm:spPr/>
      <dgm:t>
        <a:bodyPr/>
        <a:lstStyle/>
        <a:p>
          <a:r>
            <a:rPr lang="it-IT" dirty="0"/>
            <a:t>Le variabili </a:t>
          </a:r>
          <a:r>
            <a:rPr lang="it-IT" i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extern</a:t>
          </a:r>
          <a:r>
            <a: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it-IT" dirty="0"/>
            <a:t>non possono essere inizializzate, perché vengono inizializzate nel sorgente in cui sono definite</a:t>
          </a:r>
        </a:p>
      </dgm:t>
    </dgm:pt>
    <dgm:pt modelId="{145304E7-0672-4C0D-9670-ACB09CD7DDBF}" type="parTrans" cxnId="{633D38D3-691D-4893-8323-48C0F19C5E33}">
      <dgm:prSet/>
      <dgm:spPr/>
      <dgm:t>
        <a:bodyPr/>
        <a:lstStyle/>
        <a:p>
          <a:endParaRPr lang="it-IT"/>
        </a:p>
      </dgm:t>
    </dgm:pt>
    <dgm:pt modelId="{1C9256F5-FEE9-4F8E-981D-AE38AFE880B5}" type="sibTrans" cxnId="{633D38D3-691D-4893-8323-48C0F19C5E33}">
      <dgm:prSet/>
      <dgm:spPr/>
      <dgm:t>
        <a:bodyPr/>
        <a:lstStyle/>
        <a:p>
          <a:endParaRPr lang="it-IT"/>
        </a:p>
      </dgm:t>
    </dgm:pt>
    <dgm:pt modelId="{039FB27B-599E-4B44-9ECE-8D022A2F3164}">
      <dgm:prSet phldrT="[Testo]"/>
      <dgm:spPr/>
      <dgm:t>
        <a:bodyPr/>
        <a:lstStyle/>
        <a:p>
          <a:r>
            <a:rPr lang="it-IT" dirty="0"/>
            <a:t>All'uscita del blocco vengono distrutte e perdono ogni valore assegnatogli.</a:t>
          </a:r>
        </a:p>
      </dgm:t>
    </dgm:pt>
    <dgm:pt modelId="{FE7273B0-6071-495C-BDB4-DEF75AF2FC17}" type="parTrans" cxnId="{EE2804EB-E6DE-41DC-88B5-E0B83BB619A3}">
      <dgm:prSet/>
      <dgm:spPr/>
      <dgm:t>
        <a:bodyPr/>
        <a:lstStyle/>
        <a:p>
          <a:endParaRPr lang="it-IT"/>
        </a:p>
      </dgm:t>
    </dgm:pt>
    <dgm:pt modelId="{AC2F2D33-7A53-49E4-AA54-C2861C3E4671}" type="sibTrans" cxnId="{EE2804EB-E6DE-41DC-88B5-E0B83BB619A3}">
      <dgm:prSet/>
      <dgm:spPr/>
      <dgm:t>
        <a:bodyPr/>
        <a:lstStyle/>
        <a:p>
          <a:endParaRPr lang="it-IT"/>
        </a:p>
      </dgm:t>
    </dgm:pt>
    <dgm:pt modelId="{45CA9E71-DCC7-4CA8-9BE2-599AABA759A2}">
      <dgm:prSet phldrT="[Testo]"/>
      <dgm:spPr/>
      <dgm:t>
        <a:bodyPr/>
        <a:lstStyle/>
        <a:p>
          <a:r>
            <a:rPr lang="it-IT" dirty="0"/>
            <a:t>Non possono conservare un valore fra 2 esecuzioni dello stesso blocco o funzione.</a:t>
          </a:r>
        </a:p>
      </dgm:t>
    </dgm:pt>
    <dgm:pt modelId="{DD2946BD-7962-404F-8137-7ABC2961462A}" type="parTrans" cxnId="{6789DC2B-08D6-4578-B52F-288936C39190}">
      <dgm:prSet/>
      <dgm:spPr/>
      <dgm:t>
        <a:bodyPr/>
        <a:lstStyle/>
        <a:p>
          <a:endParaRPr lang="it-IT"/>
        </a:p>
      </dgm:t>
    </dgm:pt>
    <dgm:pt modelId="{04603F2D-B76B-4801-BAB5-F7A5A5CAF27D}" type="sibTrans" cxnId="{6789DC2B-08D6-4578-B52F-288936C39190}">
      <dgm:prSet/>
      <dgm:spPr/>
      <dgm:t>
        <a:bodyPr/>
        <a:lstStyle/>
        <a:p>
          <a:endParaRPr lang="it-IT"/>
        </a:p>
      </dgm:t>
    </dgm:pt>
    <dgm:pt modelId="{DBC4B52D-F4BE-4F47-8045-E1F1E123376E}">
      <dgm:prSet phldrT="[Testo]"/>
      <dgm:spPr/>
      <dgm:t>
        <a:bodyPr/>
        <a:lstStyle/>
        <a:p>
          <a:r>
            <a:rPr lang="it-IT" dirty="0"/>
            <a:t>Allocate nello </a:t>
          </a:r>
          <a:r>
            <a:rPr lang="it-IT" dirty="0" err="1"/>
            <a:t>stack</a:t>
          </a:r>
          <a:r>
            <a:rPr lang="it-IT" dirty="0"/>
            <a:t> </a:t>
          </a:r>
          <a:r>
            <a:rPr lang="it-IT" dirty="0" err="1"/>
            <a:t>run</a:t>
          </a:r>
          <a:r>
            <a:rPr lang="it-IT" dirty="0"/>
            <a:t>-time</a:t>
          </a:r>
        </a:p>
      </dgm:t>
    </dgm:pt>
    <dgm:pt modelId="{35CB8221-D055-406F-A044-465B05E41750}" type="parTrans" cxnId="{616BCD1C-5DB0-4A19-8C62-D54575621D70}">
      <dgm:prSet/>
      <dgm:spPr/>
      <dgm:t>
        <a:bodyPr/>
        <a:lstStyle/>
        <a:p>
          <a:endParaRPr lang="it-IT"/>
        </a:p>
      </dgm:t>
    </dgm:pt>
    <dgm:pt modelId="{4C943B1A-4A00-4A52-ABC6-14BE1839615B}" type="sibTrans" cxnId="{616BCD1C-5DB0-4A19-8C62-D54575621D70}">
      <dgm:prSet/>
      <dgm:spPr/>
      <dgm:t>
        <a:bodyPr/>
        <a:lstStyle/>
        <a:p>
          <a:endParaRPr lang="it-IT"/>
        </a:p>
      </dgm:t>
    </dgm:pt>
    <dgm:pt modelId="{DAD9C203-3056-47FF-917E-3AE6592E13D0}">
      <dgm:prSet phldrT="[Testo]"/>
      <dgm:spPr/>
      <dgm:t>
        <a:bodyPr/>
        <a:lstStyle/>
        <a:p>
          <a:r>
            <a:rPr lang="it-IT" dirty="0"/>
            <a:t>Viene inizializzata solo alla prima allocazione</a:t>
          </a:r>
        </a:p>
      </dgm:t>
    </dgm:pt>
    <dgm:pt modelId="{8B906360-B0B1-4C85-A8A6-6EAF615DCDA7}" type="parTrans" cxnId="{81E066EE-31C2-4668-94E9-071595D9486C}">
      <dgm:prSet/>
      <dgm:spPr/>
      <dgm:t>
        <a:bodyPr/>
        <a:lstStyle/>
        <a:p>
          <a:endParaRPr lang="it-IT"/>
        </a:p>
      </dgm:t>
    </dgm:pt>
    <dgm:pt modelId="{D2AE38BE-F835-40F1-81D8-56D5469FA008}" type="sibTrans" cxnId="{81E066EE-31C2-4668-94E9-071595D9486C}">
      <dgm:prSet/>
      <dgm:spPr/>
      <dgm:t>
        <a:bodyPr/>
        <a:lstStyle/>
        <a:p>
          <a:endParaRPr lang="it-IT"/>
        </a:p>
      </dgm:t>
    </dgm:pt>
    <dgm:pt modelId="{047F14C7-6FCB-45F1-88EB-C8789178EDEC}">
      <dgm:prSet phldrT="[Testo]"/>
      <dgm:spPr/>
      <dgm:t>
        <a:bodyPr/>
        <a:lstStyle/>
        <a:p>
          <a:r>
            <a:rPr lang="it-IT" dirty="0"/>
            <a:t>Allocata al caricamento del programma</a:t>
          </a:r>
        </a:p>
      </dgm:t>
    </dgm:pt>
    <dgm:pt modelId="{03682C55-36BE-4B50-8391-C7AE938B4056}" type="parTrans" cxnId="{642A3928-53D9-4C84-9E28-6A17C12DE0F0}">
      <dgm:prSet/>
      <dgm:spPr/>
      <dgm:t>
        <a:bodyPr/>
        <a:lstStyle/>
        <a:p>
          <a:endParaRPr lang="it-IT"/>
        </a:p>
      </dgm:t>
    </dgm:pt>
    <dgm:pt modelId="{9B284EC2-5345-4F0D-A859-94C785641D51}" type="sibTrans" cxnId="{642A3928-53D9-4C84-9E28-6A17C12DE0F0}">
      <dgm:prSet/>
      <dgm:spPr/>
      <dgm:t>
        <a:bodyPr/>
        <a:lstStyle/>
        <a:p>
          <a:endParaRPr lang="it-IT"/>
        </a:p>
      </dgm:t>
    </dgm:pt>
    <dgm:pt modelId="{B52E2D21-BE07-4C9B-B5A1-45D029087094}">
      <dgm:prSet phldrT="[Testo]"/>
      <dgm:spPr/>
      <dgm:t>
        <a:bodyPr/>
        <a:lstStyle/>
        <a:p>
          <a:r>
            <a:rPr lang="it-IT" dirty="0"/>
            <a:t>La variabile deve avere le stesse dimensioni del registro</a:t>
          </a:r>
        </a:p>
      </dgm:t>
    </dgm:pt>
    <dgm:pt modelId="{06282D4F-8299-4264-9895-7943DB0BAC24}" type="parTrans" cxnId="{49028A38-0E88-411C-86DE-A102E0A75EEB}">
      <dgm:prSet/>
      <dgm:spPr/>
      <dgm:t>
        <a:bodyPr/>
        <a:lstStyle/>
        <a:p>
          <a:endParaRPr lang="it-IT"/>
        </a:p>
      </dgm:t>
    </dgm:pt>
    <dgm:pt modelId="{EEE32D46-21F5-40CA-8DA2-EEE74E71FCFD}" type="sibTrans" cxnId="{49028A38-0E88-411C-86DE-A102E0A75EEB}">
      <dgm:prSet/>
      <dgm:spPr/>
      <dgm:t>
        <a:bodyPr/>
        <a:lstStyle/>
        <a:p>
          <a:endParaRPr lang="it-IT"/>
        </a:p>
      </dgm:t>
    </dgm:pt>
    <dgm:pt modelId="{97EABBDF-99BA-43DA-A849-9338135439AB}">
      <dgm:prSet phldrT="[Testo]"/>
      <dgm:spPr/>
      <dgm:t>
        <a:bodyPr/>
        <a:lstStyle/>
        <a:p>
          <a:r>
            <a:rPr lang="it-IT" dirty="0"/>
            <a:t>Non ammette l’operatore unario &amp; (</a:t>
          </a:r>
          <a:r>
            <a:rPr lang="it-IT" i="1" dirty="0" err="1" smtClean="0"/>
            <a:t>reference</a:t>
          </a:r>
          <a:r>
            <a:rPr lang="it-IT" dirty="0"/>
            <a:t>)</a:t>
          </a:r>
        </a:p>
      </dgm:t>
    </dgm:pt>
    <dgm:pt modelId="{6DF040D4-E0DD-4990-A0D4-6919F6B2254C}" type="parTrans" cxnId="{9C5A0C25-4DD2-4586-A330-178C3FC90D97}">
      <dgm:prSet/>
      <dgm:spPr/>
      <dgm:t>
        <a:bodyPr/>
        <a:lstStyle/>
        <a:p>
          <a:endParaRPr lang="it-IT"/>
        </a:p>
      </dgm:t>
    </dgm:pt>
    <dgm:pt modelId="{C6077F32-C2DB-49E0-8972-4D89FAA15EBD}" type="sibTrans" cxnId="{9C5A0C25-4DD2-4586-A330-178C3FC90D97}">
      <dgm:prSet/>
      <dgm:spPr/>
      <dgm:t>
        <a:bodyPr/>
        <a:lstStyle/>
        <a:p>
          <a:endParaRPr lang="it-IT"/>
        </a:p>
      </dgm:t>
    </dgm:pt>
    <dgm:pt modelId="{0C8D3664-975B-4A61-8966-13B8247321DB}" type="pres">
      <dgm:prSet presAssocID="{309A575E-63AE-424C-89BB-6ECCEBAB5DF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C71C7667-DAF8-4554-A9C4-1ED7B11ABBDA}" type="pres">
      <dgm:prSet presAssocID="{6C90C029-5327-4A4C-85E8-F14EC1EF754C}" presName="composite" presStyleCnt="0"/>
      <dgm:spPr/>
    </dgm:pt>
    <dgm:pt modelId="{C628F957-5AA5-4217-837A-25D83BC98B3C}" type="pres">
      <dgm:prSet presAssocID="{6C90C029-5327-4A4C-85E8-F14EC1EF754C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4D1E2C38-79CE-416D-8692-333ED3D30274}" type="pres">
      <dgm:prSet presAssocID="{6C90C029-5327-4A4C-85E8-F14EC1EF754C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0F79505E-124E-44FE-A87E-D2B454B310FE}" type="pres">
      <dgm:prSet presAssocID="{0042BAB4-B162-4F53-A1C0-B1D2EFC1CC5C}" presName="space" presStyleCnt="0"/>
      <dgm:spPr/>
    </dgm:pt>
    <dgm:pt modelId="{14D3E56B-A255-4451-BEBF-5EFF884130A6}" type="pres">
      <dgm:prSet presAssocID="{4B386EF7-5F8E-4FF7-B87B-141755C13503}" presName="composite" presStyleCnt="0"/>
      <dgm:spPr/>
    </dgm:pt>
    <dgm:pt modelId="{E301EE09-0A78-4365-B841-8B139BB2A985}" type="pres">
      <dgm:prSet presAssocID="{4B386EF7-5F8E-4FF7-B87B-141755C1350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D7611E3E-8AAB-4188-8B88-C93BDA2F7A28}" type="pres">
      <dgm:prSet presAssocID="{4B386EF7-5F8E-4FF7-B87B-141755C13503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0020E291-5541-444B-8714-727BDFA67ECF}" type="pres">
      <dgm:prSet presAssocID="{EB153405-B1E4-4948-9F1A-9E8632508C6A}" presName="space" presStyleCnt="0"/>
      <dgm:spPr/>
    </dgm:pt>
    <dgm:pt modelId="{CBFD0E74-9BFD-4C32-AED0-418EB817F86F}" type="pres">
      <dgm:prSet presAssocID="{EEF58368-479F-4735-B22D-5633BF4E4DEF}" presName="composite" presStyleCnt="0"/>
      <dgm:spPr/>
    </dgm:pt>
    <dgm:pt modelId="{F2FC25F7-1CCD-4E39-B7C1-9057DDEC33C8}" type="pres">
      <dgm:prSet presAssocID="{EEF58368-479F-4735-B22D-5633BF4E4DE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76D0F3DE-2F18-49C3-9EE7-0AFD986BB680}" type="pres">
      <dgm:prSet presAssocID="{EEF58368-479F-4735-B22D-5633BF4E4DEF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E0BA75A7-FED6-4265-825E-490B475B321D}" type="pres">
      <dgm:prSet presAssocID="{19904D4B-B45D-42F9-88CB-4B74533F0572}" presName="space" presStyleCnt="0"/>
      <dgm:spPr/>
    </dgm:pt>
    <dgm:pt modelId="{A488843F-D7EE-495B-9ABF-85C63C23ABEC}" type="pres">
      <dgm:prSet presAssocID="{A28E9C42-32AF-4F56-B680-2F1D34372C57}" presName="composite" presStyleCnt="0"/>
      <dgm:spPr/>
    </dgm:pt>
    <dgm:pt modelId="{FE223FBF-0CB9-43F4-85F6-CE060F979224}" type="pres">
      <dgm:prSet presAssocID="{A28E9C42-32AF-4F56-B680-2F1D34372C5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0A7DC818-6EA5-46AD-B465-F7F1C4F24364}" type="pres">
      <dgm:prSet presAssocID="{A28E9C42-32AF-4F56-B680-2F1D34372C57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1E24692E-5B11-4933-9BE7-6649AC54A16E}" srcId="{6C90C029-5327-4A4C-85E8-F14EC1EF754C}" destId="{75135E7F-F551-495E-8145-F3D9B4D93E85}" srcOrd="0" destOrd="0" parTransId="{85DE46B7-F0F3-44C3-9068-87DF6D624845}" sibTransId="{933A0D62-DC16-416F-8279-7DC763EBCE23}"/>
    <dgm:cxn modelId="{E920A1BD-218C-453D-B4F6-7D1EAAA7BC17}" type="presOf" srcId="{5A962475-B116-4674-90DD-A07B64180421}" destId="{76D0F3DE-2F18-49C3-9EE7-0AFD986BB680}" srcOrd="0" destOrd="0" presId="urn:microsoft.com/office/officeart/2005/8/layout/hList1"/>
    <dgm:cxn modelId="{BAA1EF92-957D-4E80-A497-15C9B6016BCB}" type="presOf" srcId="{DBC4B52D-F4BE-4F47-8045-E1F1E123376E}" destId="{4D1E2C38-79CE-416D-8692-333ED3D30274}" srcOrd="0" destOrd="4" presId="urn:microsoft.com/office/officeart/2005/8/layout/hList1"/>
    <dgm:cxn modelId="{49028A38-0E88-411C-86DE-A102E0A75EEB}" srcId="{EEF58368-479F-4735-B22D-5633BF4E4DEF}" destId="{B52E2D21-BE07-4C9B-B5A1-45D029087094}" srcOrd="2" destOrd="0" parTransId="{06282D4F-8299-4264-9895-7943DB0BAC24}" sibTransId="{EEE32D46-21F5-40CA-8DA2-EEE74E71FCFD}"/>
    <dgm:cxn modelId="{F4B98CB9-8FA5-49D3-97AA-A783D8549B1E}" type="presOf" srcId="{309A575E-63AE-424C-89BB-6ECCEBAB5DFC}" destId="{0C8D3664-975B-4A61-8966-13B8247321DB}" srcOrd="0" destOrd="0" presId="urn:microsoft.com/office/officeart/2005/8/layout/hList1"/>
    <dgm:cxn modelId="{B4D30496-008E-475F-87CF-C9CA369461D0}" srcId="{4B386EF7-5F8E-4FF7-B87B-141755C13503}" destId="{01EAF0A6-B700-4A07-9648-F77A8EE36F45}" srcOrd="0" destOrd="0" parTransId="{F5E21933-F7F6-4548-A9F1-274AC7DDCCD1}" sibTransId="{47E2F977-2738-4F3D-BE61-30B8622C5663}"/>
    <dgm:cxn modelId="{0E211F6D-A165-4A11-A39B-E03AD4247EE8}" srcId="{4B386EF7-5F8E-4FF7-B87B-141755C13503}" destId="{6171A0FA-1772-4A08-ABA6-5CC3891762EA}" srcOrd="1" destOrd="0" parTransId="{DF9C1879-9032-4268-8E80-A1B8177919E7}" sibTransId="{00419262-6AE8-4FA4-973A-85F61E316721}"/>
    <dgm:cxn modelId="{6111D486-3811-4F78-BB2C-3CBD0936383C}" srcId="{309A575E-63AE-424C-89BB-6ECCEBAB5DFC}" destId="{EEF58368-479F-4735-B22D-5633BF4E4DEF}" srcOrd="2" destOrd="0" parTransId="{865E37FC-B456-4B60-BFD6-2A4A9B6262BD}" sibTransId="{19904D4B-B45D-42F9-88CB-4B74533F0572}"/>
    <dgm:cxn modelId="{83B21776-3241-4803-ABD1-921ECE8696CE}" type="presOf" srcId="{6000A208-333F-4826-8495-3F4ED9DEEC6A}" destId="{0A7DC818-6EA5-46AD-B465-F7F1C4F24364}" srcOrd="0" destOrd="1" presId="urn:microsoft.com/office/officeart/2005/8/layout/hList1"/>
    <dgm:cxn modelId="{48F1FC08-FDF6-4AEF-AAC6-9E07A64EA945}" type="presOf" srcId="{DAD9C203-3056-47FF-917E-3AE6592E13D0}" destId="{D7611E3E-8AAB-4188-8B88-C93BDA2F7A28}" srcOrd="0" destOrd="2" presId="urn:microsoft.com/office/officeart/2005/8/layout/hList1"/>
    <dgm:cxn modelId="{6789DC2B-08D6-4578-B52F-288936C39190}" srcId="{6C90C029-5327-4A4C-85E8-F14EC1EF754C}" destId="{45CA9E71-DCC7-4CA8-9BE2-599AABA759A2}" srcOrd="3" destOrd="0" parTransId="{DD2946BD-7962-404F-8137-7ABC2961462A}" sibTransId="{04603F2D-B76B-4801-BAB5-F7A5A5CAF27D}"/>
    <dgm:cxn modelId="{927ED86F-234E-4874-B832-3912CCF08C22}" type="presOf" srcId="{C43BBB7C-04A0-4C4D-B005-F50F2D44411C}" destId="{4D1E2C38-79CE-416D-8692-333ED3D30274}" srcOrd="0" destOrd="1" presId="urn:microsoft.com/office/officeart/2005/8/layout/hList1"/>
    <dgm:cxn modelId="{81E066EE-31C2-4668-94E9-071595D9486C}" srcId="{4B386EF7-5F8E-4FF7-B87B-141755C13503}" destId="{DAD9C203-3056-47FF-917E-3AE6592E13D0}" srcOrd="2" destOrd="0" parTransId="{8B906360-B0B1-4C85-A8A6-6EAF615DCDA7}" sibTransId="{D2AE38BE-F835-40F1-81D8-56D5469FA008}"/>
    <dgm:cxn modelId="{968F0AA0-BF1D-4802-A824-650632FFF01B}" srcId="{EEF58368-479F-4735-B22D-5633BF4E4DEF}" destId="{5A962475-B116-4674-90DD-A07B64180421}" srcOrd="0" destOrd="0" parTransId="{F7D1ABFC-C91F-49ED-A048-4F7ABE762F43}" sibTransId="{E9BFA9F1-F447-47EB-A86F-C1106718FE01}"/>
    <dgm:cxn modelId="{90219EA0-D029-4E76-BE95-579ECC6BF114}" type="presOf" srcId="{B52E2D21-BE07-4C9B-B5A1-45D029087094}" destId="{76D0F3DE-2F18-49C3-9EE7-0AFD986BB680}" srcOrd="0" destOrd="2" presId="urn:microsoft.com/office/officeart/2005/8/layout/hList1"/>
    <dgm:cxn modelId="{633D38D3-691D-4893-8323-48C0F19C5E33}" srcId="{A28E9C42-32AF-4F56-B680-2F1D34372C57}" destId="{6000A208-333F-4826-8495-3F4ED9DEEC6A}" srcOrd="1" destOrd="0" parTransId="{145304E7-0672-4C0D-9670-ACB09CD7DDBF}" sibTransId="{1C9256F5-FEE9-4F8E-981D-AE38AFE880B5}"/>
    <dgm:cxn modelId="{D70EA318-F9AB-469F-A114-912F4FD5A84C}" type="presOf" srcId="{97EABBDF-99BA-43DA-A849-9338135439AB}" destId="{76D0F3DE-2F18-49C3-9EE7-0AFD986BB680}" srcOrd="0" destOrd="3" presId="urn:microsoft.com/office/officeart/2005/8/layout/hList1"/>
    <dgm:cxn modelId="{616BCD1C-5DB0-4A19-8C62-D54575621D70}" srcId="{6C90C029-5327-4A4C-85E8-F14EC1EF754C}" destId="{DBC4B52D-F4BE-4F47-8045-E1F1E123376E}" srcOrd="4" destOrd="0" parTransId="{35CB8221-D055-406F-A044-465B05E41750}" sibTransId="{4C943B1A-4A00-4A52-ABC6-14BE1839615B}"/>
    <dgm:cxn modelId="{642A3928-53D9-4C84-9E28-6A17C12DE0F0}" srcId="{4B386EF7-5F8E-4FF7-B87B-141755C13503}" destId="{047F14C7-6FCB-45F1-88EB-C8789178EDEC}" srcOrd="3" destOrd="0" parTransId="{03682C55-36BE-4B50-8391-C7AE938B4056}" sibTransId="{9B284EC2-5345-4F0D-A859-94C785641D51}"/>
    <dgm:cxn modelId="{C007ED2B-4DA1-4048-9B90-B4D5A8E91AE0}" srcId="{A28E9C42-32AF-4F56-B680-2F1D34372C57}" destId="{1DCEC2B2-6CC7-4BB0-B2A0-D900F05AA1C4}" srcOrd="0" destOrd="0" parTransId="{374640A0-9824-44DF-A3FD-23B9397EC1E6}" sibTransId="{81EF6BA8-1482-436E-923C-6EDD0B93CD12}"/>
    <dgm:cxn modelId="{4666FCAF-9AFF-4F79-9BF4-1FA8A7C8886A}" type="presOf" srcId="{047F14C7-6FCB-45F1-88EB-C8789178EDEC}" destId="{D7611E3E-8AAB-4188-8B88-C93BDA2F7A28}" srcOrd="0" destOrd="3" presId="urn:microsoft.com/office/officeart/2005/8/layout/hList1"/>
    <dgm:cxn modelId="{F8A4D592-8413-4FB1-BA08-9420BEB54097}" srcId="{EEF58368-479F-4735-B22D-5633BF4E4DEF}" destId="{894270F1-B603-441B-B266-B98429C87DD6}" srcOrd="1" destOrd="0" parTransId="{6BC6F4C0-A819-4222-8696-3179F43CFBDF}" sibTransId="{2434F10D-D861-45FB-9E9D-A4FEF40545B7}"/>
    <dgm:cxn modelId="{EE2804EB-E6DE-41DC-88B5-E0B83BB619A3}" srcId="{6C90C029-5327-4A4C-85E8-F14EC1EF754C}" destId="{039FB27B-599E-4B44-9ECE-8D022A2F3164}" srcOrd="2" destOrd="0" parTransId="{FE7273B0-6071-495C-BDB4-DEF75AF2FC17}" sibTransId="{AC2F2D33-7A53-49E4-AA54-C2861C3E4671}"/>
    <dgm:cxn modelId="{A49AA15E-6E28-4DD1-B756-12B2F4F0A44A}" type="presOf" srcId="{6171A0FA-1772-4A08-ABA6-5CC3891762EA}" destId="{D7611E3E-8AAB-4188-8B88-C93BDA2F7A28}" srcOrd="0" destOrd="1" presId="urn:microsoft.com/office/officeart/2005/8/layout/hList1"/>
    <dgm:cxn modelId="{806D88C6-3A82-4B50-BEB4-0F7B116CC11A}" type="presOf" srcId="{1DCEC2B2-6CC7-4BB0-B2A0-D900F05AA1C4}" destId="{0A7DC818-6EA5-46AD-B465-F7F1C4F24364}" srcOrd="0" destOrd="0" presId="urn:microsoft.com/office/officeart/2005/8/layout/hList1"/>
    <dgm:cxn modelId="{B82169AE-EE02-4465-89B4-824583707A5E}" type="presOf" srcId="{45CA9E71-DCC7-4CA8-9BE2-599AABA759A2}" destId="{4D1E2C38-79CE-416D-8692-333ED3D30274}" srcOrd="0" destOrd="3" presId="urn:microsoft.com/office/officeart/2005/8/layout/hList1"/>
    <dgm:cxn modelId="{6F38A714-A481-486A-91B8-412B09E10BEA}" type="presOf" srcId="{01EAF0A6-B700-4A07-9648-F77A8EE36F45}" destId="{D7611E3E-8AAB-4188-8B88-C93BDA2F7A28}" srcOrd="0" destOrd="0" presId="urn:microsoft.com/office/officeart/2005/8/layout/hList1"/>
    <dgm:cxn modelId="{53D0ADB3-EAE6-4F35-8DED-0EB4FF355EB1}" type="presOf" srcId="{A28E9C42-32AF-4F56-B680-2F1D34372C57}" destId="{FE223FBF-0CB9-43F4-85F6-CE060F979224}" srcOrd="0" destOrd="0" presId="urn:microsoft.com/office/officeart/2005/8/layout/hList1"/>
    <dgm:cxn modelId="{38F5B528-CDBF-4DE8-A8E2-85EF9D2542E4}" type="presOf" srcId="{6C90C029-5327-4A4C-85E8-F14EC1EF754C}" destId="{C628F957-5AA5-4217-837A-25D83BC98B3C}" srcOrd="0" destOrd="0" presId="urn:microsoft.com/office/officeart/2005/8/layout/hList1"/>
    <dgm:cxn modelId="{6ECADF2A-E296-4821-BE76-4DB3C433410E}" srcId="{6C90C029-5327-4A4C-85E8-F14EC1EF754C}" destId="{C43BBB7C-04A0-4C4D-B005-F50F2D44411C}" srcOrd="1" destOrd="0" parTransId="{B2961C17-EA9F-4FC2-89EC-41C747668006}" sibTransId="{C27FB368-4E8B-4975-B6D0-B39658B995DD}"/>
    <dgm:cxn modelId="{D746009B-7557-4851-BEE8-E52D95694FC6}" type="presOf" srcId="{EEF58368-479F-4735-B22D-5633BF4E4DEF}" destId="{F2FC25F7-1CCD-4E39-B7C1-9057DDEC33C8}" srcOrd="0" destOrd="0" presId="urn:microsoft.com/office/officeart/2005/8/layout/hList1"/>
    <dgm:cxn modelId="{B720E546-D375-44E9-AB4D-35D3EBF8DF15}" srcId="{309A575E-63AE-424C-89BB-6ECCEBAB5DFC}" destId="{A28E9C42-32AF-4F56-B680-2F1D34372C57}" srcOrd="3" destOrd="0" parTransId="{7B52D611-D0EC-4421-96D4-D81803166BFE}" sibTransId="{2323B0D3-FF2F-4DD6-997B-F8F98639453D}"/>
    <dgm:cxn modelId="{F0FCC0CB-0F7A-4376-9D61-182BFE1E7A59}" type="presOf" srcId="{039FB27B-599E-4B44-9ECE-8D022A2F3164}" destId="{4D1E2C38-79CE-416D-8692-333ED3D30274}" srcOrd="0" destOrd="2" presId="urn:microsoft.com/office/officeart/2005/8/layout/hList1"/>
    <dgm:cxn modelId="{08BF3A74-D765-4772-A9F5-C17B6415E1C6}" srcId="{309A575E-63AE-424C-89BB-6ECCEBAB5DFC}" destId="{6C90C029-5327-4A4C-85E8-F14EC1EF754C}" srcOrd="0" destOrd="0" parTransId="{31F91ECF-8ECA-4164-B0E8-21752E7386E5}" sibTransId="{0042BAB4-B162-4F53-A1C0-B1D2EFC1CC5C}"/>
    <dgm:cxn modelId="{6C872C27-AC08-425F-A842-102944C4EF00}" type="presOf" srcId="{894270F1-B603-441B-B266-B98429C87DD6}" destId="{76D0F3DE-2F18-49C3-9EE7-0AFD986BB680}" srcOrd="0" destOrd="1" presId="urn:microsoft.com/office/officeart/2005/8/layout/hList1"/>
    <dgm:cxn modelId="{25F9EAB7-2D14-432E-9F4D-045F36DB56AC}" srcId="{309A575E-63AE-424C-89BB-6ECCEBAB5DFC}" destId="{4B386EF7-5F8E-4FF7-B87B-141755C13503}" srcOrd="1" destOrd="0" parTransId="{564DF978-62F2-486A-96E9-BED76C028858}" sibTransId="{EB153405-B1E4-4948-9F1A-9E8632508C6A}"/>
    <dgm:cxn modelId="{D23AD4F7-D09A-40E2-A3F4-4EDA4BED0568}" type="presOf" srcId="{4B386EF7-5F8E-4FF7-B87B-141755C13503}" destId="{E301EE09-0A78-4365-B841-8B139BB2A985}" srcOrd="0" destOrd="0" presId="urn:microsoft.com/office/officeart/2005/8/layout/hList1"/>
    <dgm:cxn modelId="{0FB4114E-7E6D-4AAF-8421-ABDC44234AB3}" type="presOf" srcId="{75135E7F-F551-495E-8145-F3D9B4D93E85}" destId="{4D1E2C38-79CE-416D-8692-333ED3D30274}" srcOrd="0" destOrd="0" presId="urn:microsoft.com/office/officeart/2005/8/layout/hList1"/>
    <dgm:cxn modelId="{9C5A0C25-4DD2-4586-A330-178C3FC90D97}" srcId="{EEF58368-479F-4735-B22D-5633BF4E4DEF}" destId="{97EABBDF-99BA-43DA-A849-9338135439AB}" srcOrd="3" destOrd="0" parTransId="{6DF040D4-E0DD-4990-A0D4-6919F6B2254C}" sibTransId="{C6077F32-C2DB-49E0-8972-4D89FAA15EBD}"/>
    <dgm:cxn modelId="{3F008B6D-B131-4ED1-ADF7-AC33790C6C91}" type="presParOf" srcId="{0C8D3664-975B-4A61-8966-13B8247321DB}" destId="{C71C7667-DAF8-4554-A9C4-1ED7B11ABBDA}" srcOrd="0" destOrd="0" presId="urn:microsoft.com/office/officeart/2005/8/layout/hList1"/>
    <dgm:cxn modelId="{38A3864D-FDFA-4F98-8FD6-E171CFF48192}" type="presParOf" srcId="{C71C7667-DAF8-4554-A9C4-1ED7B11ABBDA}" destId="{C628F957-5AA5-4217-837A-25D83BC98B3C}" srcOrd="0" destOrd="0" presId="urn:microsoft.com/office/officeart/2005/8/layout/hList1"/>
    <dgm:cxn modelId="{7D7104BD-4DDB-4523-991F-39A66DE4A7AD}" type="presParOf" srcId="{C71C7667-DAF8-4554-A9C4-1ED7B11ABBDA}" destId="{4D1E2C38-79CE-416D-8692-333ED3D30274}" srcOrd="1" destOrd="0" presId="urn:microsoft.com/office/officeart/2005/8/layout/hList1"/>
    <dgm:cxn modelId="{D3B7C255-FDFA-41DC-AECB-A60A4478B543}" type="presParOf" srcId="{0C8D3664-975B-4A61-8966-13B8247321DB}" destId="{0F79505E-124E-44FE-A87E-D2B454B310FE}" srcOrd="1" destOrd="0" presId="urn:microsoft.com/office/officeart/2005/8/layout/hList1"/>
    <dgm:cxn modelId="{F32D2E09-A262-45DF-AFAD-D11AA49DD00C}" type="presParOf" srcId="{0C8D3664-975B-4A61-8966-13B8247321DB}" destId="{14D3E56B-A255-4451-BEBF-5EFF884130A6}" srcOrd="2" destOrd="0" presId="urn:microsoft.com/office/officeart/2005/8/layout/hList1"/>
    <dgm:cxn modelId="{E9F19A5D-B584-4AE9-AD07-5912C2BD6791}" type="presParOf" srcId="{14D3E56B-A255-4451-BEBF-5EFF884130A6}" destId="{E301EE09-0A78-4365-B841-8B139BB2A985}" srcOrd="0" destOrd="0" presId="urn:microsoft.com/office/officeart/2005/8/layout/hList1"/>
    <dgm:cxn modelId="{8E276C0C-F870-4054-9185-2F1611E19AA1}" type="presParOf" srcId="{14D3E56B-A255-4451-BEBF-5EFF884130A6}" destId="{D7611E3E-8AAB-4188-8B88-C93BDA2F7A28}" srcOrd="1" destOrd="0" presId="urn:microsoft.com/office/officeart/2005/8/layout/hList1"/>
    <dgm:cxn modelId="{2B2D4B77-B5EE-46B0-ABC7-7777AD7C8EF6}" type="presParOf" srcId="{0C8D3664-975B-4A61-8966-13B8247321DB}" destId="{0020E291-5541-444B-8714-727BDFA67ECF}" srcOrd="3" destOrd="0" presId="urn:microsoft.com/office/officeart/2005/8/layout/hList1"/>
    <dgm:cxn modelId="{27E81924-60BC-45F0-AB6A-3B735329EE7E}" type="presParOf" srcId="{0C8D3664-975B-4A61-8966-13B8247321DB}" destId="{CBFD0E74-9BFD-4C32-AED0-418EB817F86F}" srcOrd="4" destOrd="0" presId="urn:microsoft.com/office/officeart/2005/8/layout/hList1"/>
    <dgm:cxn modelId="{BC4B7920-2536-4669-82EF-D953B6346D89}" type="presParOf" srcId="{CBFD0E74-9BFD-4C32-AED0-418EB817F86F}" destId="{F2FC25F7-1CCD-4E39-B7C1-9057DDEC33C8}" srcOrd="0" destOrd="0" presId="urn:microsoft.com/office/officeart/2005/8/layout/hList1"/>
    <dgm:cxn modelId="{5C581AD4-E1FE-4801-B970-574A3D3C6295}" type="presParOf" srcId="{CBFD0E74-9BFD-4C32-AED0-418EB817F86F}" destId="{76D0F3DE-2F18-49C3-9EE7-0AFD986BB680}" srcOrd="1" destOrd="0" presId="urn:microsoft.com/office/officeart/2005/8/layout/hList1"/>
    <dgm:cxn modelId="{9EEFBFF0-52DF-43EE-833A-2BBBA437BEED}" type="presParOf" srcId="{0C8D3664-975B-4A61-8966-13B8247321DB}" destId="{E0BA75A7-FED6-4265-825E-490B475B321D}" srcOrd="5" destOrd="0" presId="urn:microsoft.com/office/officeart/2005/8/layout/hList1"/>
    <dgm:cxn modelId="{E64882FC-F0ED-4C55-84B3-04FBD0E41899}" type="presParOf" srcId="{0C8D3664-975B-4A61-8966-13B8247321DB}" destId="{A488843F-D7EE-495B-9ABF-85C63C23ABEC}" srcOrd="6" destOrd="0" presId="urn:microsoft.com/office/officeart/2005/8/layout/hList1"/>
    <dgm:cxn modelId="{901D04C7-4D53-4D0A-BCD4-DF3A10D1D9E2}" type="presParOf" srcId="{A488843F-D7EE-495B-9ABF-85C63C23ABEC}" destId="{FE223FBF-0CB9-43F4-85F6-CE060F979224}" srcOrd="0" destOrd="0" presId="urn:microsoft.com/office/officeart/2005/8/layout/hList1"/>
    <dgm:cxn modelId="{AA58894F-64E2-441F-8B11-C5DDD9C4DA32}" type="presParOf" srcId="{A488843F-D7EE-495B-9ABF-85C63C23ABEC}" destId="{0A7DC818-6EA5-46AD-B465-F7F1C4F2436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7CF35-F355-4C72-8A59-332C9B9B84A4}">
      <dsp:nvSpPr>
        <dsp:cNvPr id="0" name=""/>
        <dsp:cNvSpPr/>
      </dsp:nvSpPr>
      <dsp:spPr>
        <a:xfrm>
          <a:off x="737866" y="2222"/>
          <a:ext cx="1964531" cy="78581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Scomposizione del problema</a:t>
          </a:r>
        </a:p>
      </dsp:txBody>
      <dsp:txXfrm>
        <a:off x="1130772" y="2222"/>
        <a:ext cx="1178719" cy="785812"/>
      </dsp:txXfrm>
    </dsp:sp>
    <dsp:sp modelId="{9676E396-1E7D-4F34-9F65-085341222C1F}">
      <dsp:nvSpPr>
        <dsp:cNvPr id="0" name=""/>
        <dsp:cNvSpPr/>
      </dsp:nvSpPr>
      <dsp:spPr>
        <a:xfrm>
          <a:off x="2447008" y="69016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Analisi funzionale</a:t>
          </a:r>
        </a:p>
      </dsp:txBody>
      <dsp:txXfrm>
        <a:off x="2773120" y="69016"/>
        <a:ext cx="978336" cy="652224"/>
      </dsp:txXfrm>
    </dsp:sp>
    <dsp:sp modelId="{1B86312B-8CAB-4655-91DA-880C273E7318}">
      <dsp:nvSpPr>
        <dsp:cNvPr id="0" name=""/>
        <dsp:cNvSpPr/>
      </dsp:nvSpPr>
      <dsp:spPr>
        <a:xfrm>
          <a:off x="3849290" y="69016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1510257"/>
            <a:satOff val="5569"/>
            <a:lumOff val="-36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510257"/>
              <a:satOff val="5569"/>
              <a:lumOff val="-36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Metodo Top-Down</a:t>
          </a:r>
        </a:p>
      </dsp:txBody>
      <dsp:txXfrm>
        <a:off x="4175402" y="69016"/>
        <a:ext cx="978336" cy="652224"/>
      </dsp:txXfrm>
    </dsp:sp>
    <dsp:sp modelId="{8CAFFE1B-9BAB-45A7-AA9F-8A3456AFC126}">
      <dsp:nvSpPr>
        <dsp:cNvPr id="0" name=""/>
        <dsp:cNvSpPr/>
      </dsp:nvSpPr>
      <dsp:spPr>
        <a:xfrm>
          <a:off x="5251573" y="69016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3020515"/>
            <a:satOff val="11138"/>
            <a:lumOff val="-72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3020515"/>
              <a:satOff val="11138"/>
              <a:lumOff val="-72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Più problemi semplificati</a:t>
          </a:r>
        </a:p>
      </dsp:txBody>
      <dsp:txXfrm>
        <a:off x="5577685" y="69016"/>
        <a:ext cx="978336" cy="652224"/>
      </dsp:txXfrm>
    </dsp:sp>
    <dsp:sp modelId="{2CA99BAA-9055-41E8-93A1-A0662504CB99}">
      <dsp:nvSpPr>
        <dsp:cNvPr id="0" name=""/>
        <dsp:cNvSpPr/>
      </dsp:nvSpPr>
      <dsp:spPr>
        <a:xfrm>
          <a:off x="737866" y="898049"/>
          <a:ext cx="1964531" cy="785812"/>
        </a:xfrm>
        <a:prstGeom prst="chevron">
          <a:avLst/>
        </a:prstGeom>
        <a:solidFill>
          <a:schemeClr val="accent4">
            <a:hueOff val="-3250790"/>
            <a:satOff val="15422"/>
            <a:lumOff val="-3333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Efficienza del codice</a:t>
          </a:r>
        </a:p>
      </dsp:txBody>
      <dsp:txXfrm>
        <a:off x="1130772" y="898049"/>
        <a:ext cx="1178719" cy="785812"/>
      </dsp:txXfrm>
    </dsp:sp>
    <dsp:sp modelId="{F9C12B81-A092-4D4E-A3C7-046A6EFD8971}">
      <dsp:nvSpPr>
        <dsp:cNvPr id="0" name=""/>
        <dsp:cNvSpPr/>
      </dsp:nvSpPr>
      <dsp:spPr>
        <a:xfrm>
          <a:off x="2447008" y="964843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4530772"/>
            <a:satOff val="16706"/>
            <a:lumOff val="-108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4530772"/>
              <a:satOff val="16706"/>
              <a:lumOff val="-108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Riduzione della Ridondanza</a:t>
          </a:r>
        </a:p>
      </dsp:txBody>
      <dsp:txXfrm>
        <a:off x="2773120" y="964843"/>
        <a:ext cx="978336" cy="652224"/>
      </dsp:txXfrm>
    </dsp:sp>
    <dsp:sp modelId="{295FCD7F-19E7-4587-82C4-C5853F63D39C}">
      <dsp:nvSpPr>
        <dsp:cNvPr id="0" name=""/>
        <dsp:cNvSpPr/>
      </dsp:nvSpPr>
      <dsp:spPr>
        <a:xfrm>
          <a:off x="3849290" y="964843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6041029"/>
            <a:satOff val="22275"/>
            <a:lumOff val="-14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6041029"/>
              <a:satOff val="22275"/>
              <a:lumOff val="-144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Modificabilità</a:t>
          </a:r>
        </a:p>
      </dsp:txBody>
      <dsp:txXfrm>
        <a:off x="4175402" y="964843"/>
        <a:ext cx="978336" cy="652224"/>
      </dsp:txXfrm>
    </dsp:sp>
    <dsp:sp modelId="{71309930-08D1-4988-B9BB-3DE64EEC7C36}">
      <dsp:nvSpPr>
        <dsp:cNvPr id="0" name=""/>
        <dsp:cNvSpPr/>
      </dsp:nvSpPr>
      <dsp:spPr>
        <a:xfrm>
          <a:off x="5251573" y="964843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7551287"/>
            <a:satOff val="27844"/>
            <a:lumOff val="-179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7551287"/>
              <a:satOff val="27844"/>
              <a:lumOff val="-179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Maggior compattezza</a:t>
          </a:r>
        </a:p>
      </dsp:txBody>
      <dsp:txXfrm>
        <a:off x="5577685" y="964843"/>
        <a:ext cx="978336" cy="652224"/>
      </dsp:txXfrm>
    </dsp:sp>
    <dsp:sp modelId="{85ED48AE-911A-4F28-9FA4-7735C5F7AF49}">
      <dsp:nvSpPr>
        <dsp:cNvPr id="0" name=""/>
        <dsp:cNvSpPr/>
      </dsp:nvSpPr>
      <dsp:spPr>
        <a:xfrm>
          <a:off x="737866" y="1793875"/>
          <a:ext cx="1964531" cy="785812"/>
        </a:xfrm>
        <a:prstGeom prst="chevron">
          <a:avLst/>
        </a:prstGeom>
        <a:solidFill>
          <a:schemeClr val="accent4">
            <a:hueOff val="-6501580"/>
            <a:satOff val="30845"/>
            <a:lumOff val="-6667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Semplificazione del codice</a:t>
          </a:r>
        </a:p>
      </dsp:txBody>
      <dsp:txXfrm>
        <a:off x="1130772" y="1793875"/>
        <a:ext cx="1178719" cy="785812"/>
      </dsp:txXfrm>
    </dsp:sp>
    <dsp:sp modelId="{27E1BC62-3B98-45FE-BC4F-C2924F041FF2}">
      <dsp:nvSpPr>
        <dsp:cNvPr id="0" name=""/>
        <dsp:cNvSpPr/>
      </dsp:nvSpPr>
      <dsp:spPr>
        <a:xfrm>
          <a:off x="2447008" y="1860669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9061544"/>
            <a:satOff val="33413"/>
            <a:lumOff val="-21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9061544"/>
              <a:satOff val="33413"/>
              <a:lumOff val="-215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Miglior Leggibilità</a:t>
          </a:r>
        </a:p>
      </dsp:txBody>
      <dsp:txXfrm>
        <a:off x="2773120" y="1860669"/>
        <a:ext cx="978336" cy="652224"/>
      </dsp:txXfrm>
    </dsp:sp>
    <dsp:sp modelId="{C1E14549-D3C3-4900-B513-005250963CFB}">
      <dsp:nvSpPr>
        <dsp:cNvPr id="0" name=""/>
        <dsp:cNvSpPr/>
      </dsp:nvSpPr>
      <dsp:spPr>
        <a:xfrm>
          <a:off x="3849290" y="1860669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10571802"/>
            <a:satOff val="38981"/>
            <a:lumOff val="-2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0571802"/>
              <a:satOff val="38981"/>
              <a:lumOff val="-251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Miglior Manutenibilità</a:t>
          </a:r>
        </a:p>
      </dsp:txBody>
      <dsp:txXfrm>
        <a:off x="4175402" y="1860669"/>
        <a:ext cx="978336" cy="652224"/>
      </dsp:txXfrm>
    </dsp:sp>
    <dsp:sp modelId="{4614032A-3D31-4DF8-8EA3-9204E0066C00}">
      <dsp:nvSpPr>
        <dsp:cNvPr id="0" name=""/>
        <dsp:cNvSpPr/>
      </dsp:nvSpPr>
      <dsp:spPr>
        <a:xfrm>
          <a:off x="737866" y="2689701"/>
          <a:ext cx="1964531" cy="785812"/>
        </a:xfrm>
        <a:prstGeom prst="chevron">
          <a:avLst/>
        </a:prstGeom>
        <a:solidFill>
          <a:schemeClr val="accent4">
            <a:hueOff val="-9752370"/>
            <a:satOff val="46267"/>
            <a:lumOff val="-10000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Astrazione</a:t>
          </a:r>
        </a:p>
      </dsp:txBody>
      <dsp:txXfrm>
        <a:off x="1130772" y="2689701"/>
        <a:ext cx="1178719" cy="785812"/>
      </dsp:txXfrm>
    </dsp:sp>
    <dsp:sp modelId="{4F01E90B-67EB-4635-AF1D-E387611D3F4B}">
      <dsp:nvSpPr>
        <dsp:cNvPr id="0" name=""/>
        <dsp:cNvSpPr/>
      </dsp:nvSpPr>
      <dsp:spPr>
        <a:xfrm>
          <a:off x="2447008" y="2756495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12082059"/>
            <a:satOff val="44550"/>
            <a:lumOff val="-28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2082059"/>
              <a:satOff val="44550"/>
              <a:lumOff val="-287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Nascondere i dettagli del codice</a:t>
          </a:r>
        </a:p>
      </dsp:txBody>
      <dsp:txXfrm>
        <a:off x="2773120" y="2756495"/>
        <a:ext cx="978336" cy="652224"/>
      </dsp:txXfrm>
    </dsp:sp>
    <dsp:sp modelId="{B9A05E1E-CD29-4C26-BF31-8900A1117D7C}">
      <dsp:nvSpPr>
        <dsp:cNvPr id="0" name=""/>
        <dsp:cNvSpPr/>
      </dsp:nvSpPr>
      <dsp:spPr>
        <a:xfrm>
          <a:off x="737866" y="3585527"/>
          <a:ext cx="1964531" cy="785812"/>
        </a:xfrm>
        <a:prstGeom prst="chevron">
          <a:avLst/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Riuso</a:t>
          </a:r>
        </a:p>
      </dsp:txBody>
      <dsp:txXfrm>
        <a:off x="1130772" y="3585527"/>
        <a:ext cx="1178719" cy="785812"/>
      </dsp:txXfrm>
    </dsp:sp>
    <dsp:sp modelId="{2BE2FF8E-4D01-4547-A701-66E1EEE3F191}">
      <dsp:nvSpPr>
        <dsp:cNvPr id="0" name=""/>
        <dsp:cNvSpPr/>
      </dsp:nvSpPr>
      <dsp:spPr>
        <a:xfrm>
          <a:off x="2447008" y="3652321"/>
          <a:ext cx="1630560" cy="652224"/>
        </a:xfrm>
        <a:prstGeom prst="chevron">
          <a:avLst/>
        </a:prstGeom>
        <a:solidFill>
          <a:schemeClr val="accent4">
            <a:tint val="40000"/>
            <a:alpha val="90000"/>
            <a:hueOff val="-13592316"/>
            <a:satOff val="50119"/>
            <a:lumOff val="-323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3592316"/>
              <a:satOff val="50119"/>
              <a:lumOff val="-323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200" kern="1200" dirty="0"/>
            <a:t>Riciclabile in altri programmi</a:t>
          </a:r>
        </a:p>
      </dsp:txBody>
      <dsp:txXfrm>
        <a:off x="2773120" y="3652321"/>
        <a:ext cx="978336" cy="652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AE070-F73D-41E6-8E9D-C59A91C8E345}">
      <dsp:nvSpPr>
        <dsp:cNvPr id="0" name=""/>
        <dsp:cNvSpPr/>
      </dsp:nvSpPr>
      <dsp:spPr>
        <a:xfrm>
          <a:off x="0" y="591081"/>
          <a:ext cx="8147248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2317" tIns="499872" rIns="63231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400" kern="1200" dirty="0"/>
            <a:t>Astrazione di operazioni </a:t>
          </a:r>
          <a:r>
            <a:rPr lang="it-IT" sz="2400" kern="1200" dirty="0">
              <a:sym typeface="Wingdings" pitchFamily="2" charset="2"/>
            </a:rPr>
            <a:t> non restituiscono nulla (ma fanno qualcosa)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400" kern="1200" dirty="0"/>
            <a:t>Es: </a:t>
          </a:r>
          <a:r>
            <a:rPr lang="it-IT" sz="2400" kern="1200" dirty="0" err="1"/>
            <a:t>printf</a:t>
          </a:r>
          <a:r>
            <a:rPr lang="it-IT" sz="2400" kern="1200" dirty="0"/>
            <a:t>()</a:t>
          </a:r>
        </a:p>
      </dsp:txBody>
      <dsp:txXfrm>
        <a:off x="0" y="591081"/>
        <a:ext cx="8147248" cy="1701000"/>
      </dsp:txXfrm>
    </dsp:sp>
    <dsp:sp modelId="{FED6115E-5DFB-437B-975B-75347A532CAC}">
      <dsp:nvSpPr>
        <dsp:cNvPr id="0" name=""/>
        <dsp:cNvSpPr/>
      </dsp:nvSpPr>
      <dsp:spPr>
        <a:xfrm>
          <a:off x="407362" y="236841"/>
          <a:ext cx="570307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563" tIns="0" rIns="21556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400" kern="1200" dirty="0"/>
            <a:t>Procedure</a:t>
          </a:r>
        </a:p>
      </dsp:txBody>
      <dsp:txXfrm>
        <a:off x="441947" y="271426"/>
        <a:ext cx="5633903" cy="639310"/>
      </dsp:txXfrm>
    </dsp:sp>
    <dsp:sp modelId="{FCBDE692-7789-4E6D-81F8-B60316749D9B}">
      <dsp:nvSpPr>
        <dsp:cNvPr id="0" name=""/>
        <dsp:cNvSpPr/>
      </dsp:nvSpPr>
      <dsp:spPr>
        <a:xfrm>
          <a:off x="0" y="2775921"/>
          <a:ext cx="8147248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3003161"/>
              <a:satOff val="61689"/>
              <a:lumOff val="-13333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2317" tIns="499872" rIns="63231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400" kern="1200" dirty="0"/>
            <a:t>Astrazione di valore </a:t>
          </a:r>
          <a:r>
            <a:rPr lang="it-IT" sz="2400" kern="1200" dirty="0">
              <a:sym typeface="Wingdings" pitchFamily="2" charset="2"/>
            </a:rPr>
            <a:t> Restituiscono un risultato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400" kern="1200" dirty="0"/>
            <a:t>Es: </a:t>
          </a:r>
          <a:r>
            <a:rPr lang="it-IT" sz="2400" kern="1200" dirty="0" err="1"/>
            <a:t>pow</a:t>
          </a:r>
          <a:r>
            <a:rPr lang="it-IT" sz="2400" kern="1200" dirty="0"/>
            <a:t>()</a:t>
          </a:r>
        </a:p>
      </dsp:txBody>
      <dsp:txXfrm>
        <a:off x="0" y="2775921"/>
        <a:ext cx="8147248" cy="1360800"/>
      </dsp:txXfrm>
    </dsp:sp>
    <dsp:sp modelId="{B78807AE-3602-4074-A8DC-DFB53DE8F337}">
      <dsp:nvSpPr>
        <dsp:cNvPr id="0" name=""/>
        <dsp:cNvSpPr/>
      </dsp:nvSpPr>
      <dsp:spPr>
        <a:xfrm>
          <a:off x="407362" y="2421681"/>
          <a:ext cx="5703073" cy="708480"/>
        </a:xfrm>
        <a:prstGeom prst="roundRect">
          <a:avLst/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563" tIns="0" rIns="21556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400" kern="1200" dirty="0"/>
            <a:t>Funzioni</a:t>
          </a:r>
        </a:p>
      </dsp:txBody>
      <dsp:txXfrm>
        <a:off x="441947" y="2456266"/>
        <a:ext cx="5633903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A8954-E9C5-48D3-9C8E-70FC19EC353E}">
      <dsp:nvSpPr>
        <dsp:cNvPr id="0" name=""/>
        <dsp:cNvSpPr/>
      </dsp:nvSpPr>
      <dsp:spPr>
        <a:xfrm>
          <a:off x="1364" y="1154945"/>
          <a:ext cx="2126730" cy="1754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500" kern="1200" dirty="0"/>
            <a:t>Firma della funzione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500" kern="1200" dirty="0"/>
            <a:t>Spiega la sintassi della funzione al compilatore</a:t>
          </a:r>
        </a:p>
      </dsp:txBody>
      <dsp:txXfrm>
        <a:off x="41731" y="1195312"/>
        <a:ext cx="2045996" cy="1297493"/>
      </dsp:txXfrm>
    </dsp:sp>
    <dsp:sp modelId="{99F19C3D-1A21-4454-93F0-36750E9D5BDA}">
      <dsp:nvSpPr>
        <dsp:cNvPr id="0" name=""/>
        <dsp:cNvSpPr/>
      </dsp:nvSpPr>
      <dsp:spPr>
        <a:xfrm>
          <a:off x="1199489" y="1583344"/>
          <a:ext cx="2329694" cy="2329694"/>
        </a:xfrm>
        <a:prstGeom prst="leftCircularArrow">
          <a:avLst>
            <a:gd name="adj1" fmla="val 3087"/>
            <a:gd name="adj2" fmla="val 379353"/>
            <a:gd name="adj3" fmla="val 2154864"/>
            <a:gd name="adj4" fmla="val 9024489"/>
            <a:gd name="adj5" fmla="val 360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43C75C-1EFE-4ECD-AFE7-649406AE64F4}">
      <dsp:nvSpPr>
        <dsp:cNvPr id="0" name=""/>
        <dsp:cNvSpPr/>
      </dsp:nvSpPr>
      <dsp:spPr>
        <a:xfrm>
          <a:off x="473971" y="2533173"/>
          <a:ext cx="1890427" cy="75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200" kern="1200" dirty="0"/>
            <a:t>Dichiarazione del Prototipo</a:t>
          </a:r>
        </a:p>
      </dsp:txBody>
      <dsp:txXfrm>
        <a:off x="495989" y="2555191"/>
        <a:ext cx="1846391" cy="707724"/>
      </dsp:txXfrm>
    </dsp:sp>
    <dsp:sp modelId="{5CDEB552-3F3E-448D-B907-66882EBE350B}">
      <dsp:nvSpPr>
        <dsp:cNvPr id="0" name=""/>
        <dsp:cNvSpPr/>
      </dsp:nvSpPr>
      <dsp:spPr>
        <a:xfrm>
          <a:off x="2706914" y="1154945"/>
          <a:ext cx="2126730" cy="1754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6501580"/>
              <a:satOff val="30845"/>
              <a:lumOff val="-6667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500" kern="1200" dirty="0"/>
            <a:t>Contiene le istruzioni che la funzione esegue</a:t>
          </a:r>
        </a:p>
      </dsp:txBody>
      <dsp:txXfrm>
        <a:off x="2747281" y="1571193"/>
        <a:ext cx="2045996" cy="1297493"/>
      </dsp:txXfrm>
    </dsp:sp>
    <dsp:sp modelId="{753FD8D0-0216-4429-A3DA-FA350CD1FF01}">
      <dsp:nvSpPr>
        <dsp:cNvPr id="0" name=""/>
        <dsp:cNvSpPr/>
      </dsp:nvSpPr>
      <dsp:spPr>
        <a:xfrm>
          <a:off x="3887317" y="82184"/>
          <a:ext cx="2601442" cy="2601442"/>
        </a:xfrm>
        <a:prstGeom prst="circularArrow">
          <a:avLst>
            <a:gd name="adj1" fmla="val 2765"/>
            <a:gd name="adj2" fmla="val 337165"/>
            <a:gd name="adj3" fmla="val 19487325"/>
            <a:gd name="adj4" fmla="val 12575511"/>
            <a:gd name="adj5" fmla="val 3226"/>
          </a:avLst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D440EA-2BAE-46C2-9A6E-354BD51547D7}">
      <dsp:nvSpPr>
        <dsp:cNvPr id="0" name=""/>
        <dsp:cNvSpPr/>
      </dsp:nvSpPr>
      <dsp:spPr>
        <a:xfrm>
          <a:off x="3179521" y="779065"/>
          <a:ext cx="1890427" cy="751760"/>
        </a:xfrm>
        <a:prstGeom prst="roundRect">
          <a:avLst>
            <a:gd name="adj" fmla="val 10000"/>
          </a:avLst>
        </a:prstGeom>
        <a:solidFill>
          <a:schemeClr val="accent4">
            <a:hueOff val="-6501580"/>
            <a:satOff val="30845"/>
            <a:lumOff val="-6667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200" kern="1200" dirty="0"/>
            <a:t>Definizione</a:t>
          </a:r>
        </a:p>
      </dsp:txBody>
      <dsp:txXfrm>
        <a:off x="3201539" y="801083"/>
        <a:ext cx="1846391" cy="707724"/>
      </dsp:txXfrm>
    </dsp:sp>
    <dsp:sp modelId="{3BF0125D-7022-4A00-8CB4-5A4CE5209A25}">
      <dsp:nvSpPr>
        <dsp:cNvPr id="0" name=""/>
        <dsp:cNvSpPr/>
      </dsp:nvSpPr>
      <dsp:spPr>
        <a:xfrm>
          <a:off x="5412465" y="1154945"/>
          <a:ext cx="2126730" cy="1754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3003161"/>
              <a:satOff val="61689"/>
              <a:lumOff val="-13333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500" kern="1200" dirty="0"/>
            <a:t>È il momento in cui la funzione viene «lanciata» ed eseguita dal programma chiamante.</a:t>
          </a:r>
        </a:p>
      </dsp:txBody>
      <dsp:txXfrm>
        <a:off x="5452832" y="1195312"/>
        <a:ext cx="2045996" cy="1297493"/>
      </dsp:txXfrm>
    </dsp:sp>
    <dsp:sp modelId="{82F347E8-5F77-4357-9E1A-0F46CCBEE9F5}">
      <dsp:nvSpPr>
        <dsp:cNvPr id="0" name=""/>
        <dsp:cNvSpPr/>
      </dsp:nvSpPr>
      <dsp:spPr>
        <a:xfrm>
          <a:off x="5885072" y="2533173"/>
          <a:ext cx="1890427" cy="751760"/>
        </a:xfrm>
        <a:prstGeom prst="roundRect">
          <a:avLst>
            <a:gd name="adj" fmla="val 10000"/>
          </a:avLst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200" kern="1200" dirty="0"/>
            <a:t>Chiamata o Invocazione</a:t>
          </a:r>
        </a:p>
      </dsp:txBody>
      <dsp:txXfrm>
        <a:off x="5907090" y="2555191"/>
        <a:ext cx="1846391" cy="7077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D0A33-CD8D-4655-81AF-B36D6CEF2892}">
      <dsp:nvSpPr>
        <dsp:cNvPr id="0" name=""/>
        <dsp:cNvSpPr/>
      </dsp:nvSpPr>
      <dsp:spPr>
        <a:xfrm>
          <a:off x="36" y="72385"/>
          <a:ext cx="3533068" cy="806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Formali</a:t>
          </a:r>
        </a:p>
      </dsp:txBody>
      <dsp:txXfrm>
        <a:off x="36" y="72385"/>
        <a:ext cx="3533068" cy="806400"/>
      </dsp:txXfrm>
    </dsp:sp>
    <dsp:sp modelId="{973AB6D1-459D-4F22-BD75-5F29A326C090}">
      <dsp:nvSpPr>
        <dsp:cNvPr id="0" name=""/>
        <dsp:cNvSpPr/>
      </dsp:nvSpPr>
      <dsp:spPr>
        <a:xfrm>
          <a:off x="36" y="878785"/>
          <a:ext cx="3533068" cy="311282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2000" kern="1200" dirty="0"/>
            <a:t>Riferimento simbolico ad oggetti usati nella funzione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2000" kern="1200" dirty="0"/>
            <a:t>Nella funzione sono variabili </a:t>
          </a:r>
          <a:r>
            <a:rPr lang="it-IT" sz="2000" b="1" kern="1200" dirty="0"/>
            <a:t>locali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2000" kern="1200" dirty="0"/>
            <a:t>Vengono inizializzati nell’invocazione della funzione con i parametri attuali</a:t>
          </a:r>
        </a:p>
      </dsp:txBody>
      <dsp:txXfrm>
        <a:off x="36" y="878785"/>
        <a:ext cx="3533068" cy="3112829"/>
      </dsp:txXfrm>
    </dsp:sp>
    <dsp:sp modelId="{B7B14DEF-DB0B-4BF5-8830-0B9A1294B0E6}">
      <dsp:nvSpPr>
        <dsp:cNvPr id="0" name=""/>
        <dsp:cNvSpPr/>
      </dsp:nvSpPr>
      <dsp:spPr>
        <a:xfrm>
          <a:off x="4027734" y="72385"/>
          <a:ext cx="3533068" cy="806400"/>
        </a:xfrm>
        <a:prstGeom prst="rect">
          <a:avLst/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 w="12700" cap="flat" cmpd="sng" algn="ctr">
          <a:solidFill>
            <a:schemeClr val="accent4">
              <a:hueOff val="-13003161"/>
              <a:satOff val="61689"/>
              <a:lumOff val="-13333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Attuali</a:t>
          </a:r>
        </a:p>
      </dsp:txBody>
      <dsp:txXfrm>
        <a:off x="4027734" y="72385"/>
        <a:ext cx="3533068" cy="806400"/>
      </dsp:txXfrm>
    </dsp:sp>
    <dsp:sp modelId="{996527FA-8BC2-47B4-9333-BE2FB9FE2EB4}">
      <dsp:nvSpPr>
        <dsp:cNvPr id="0" name=""/>
        <dsp:cNvSpPr/>
      </dsp:nvSpPr>
      <dsp:spPr>
        <a:xfrm>
          <a:off x="4027734" y="878785"/>
          <a:ext cx="3533068" cy="3112829"/>
        </a:xfrm>
        <a:prstGeom prst="rect">
          <a:avLst/>
        </a:prstGeom>
        <a:solidFill>
          <a:schemeClr val="accent4">
            <a:tint val="40000"/>
            <a:alpha val="90000"/>
            <a:hueOff val="-13592316"/>
            <a:satOff val="50119"/>
            <a:lumOff val="-323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3592316"/>
              <a:satOff val="50119"/>
              <a:lumOff val="-323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kern="1200" dirty="0"/>
            <a:t>Sono quelli specificati al momento della chiamata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kern="1200" dirty="0"/>
            <a:t>Durante la chiamata vengono </a:t>
          </a:r>
          <a:r>
            <a:rPr lang="it-IT" sz="1800" b="1" kern="1200" dirty="0"/>
            <a:t>COPIATI </a:t>
          </a:r>
          <a:r>
            <a:rPr lang="it-IT" sz="1800" kern="1200" dirty="0"/>
            <a:t>nei parametri formali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b="1" kern="1200" dirty="0"/>
            <a:t>Devono corrispondere </a:t>
          </a:r>
          <a:r>
            <a:rPr lang="it-IT" sz="1800" kern="1200" dirty="0"/>
            <a:t>per ordine e tipo ai parametri formali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kern="1200" dirty="0"/>
            <a:t>Possono essere costanti, variabili o espressioni definite nel chiamante</a:t>
          </a:r>
        </a:p>
      </dsp:txBody>
      <dsp:txXfrm>
        <a:off x="4027734" y="878785"/>
        <a:ext cx="3533068" cy="31128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D0A33-CD8D-4655-81AF-B36D6CEF2892}">
      <dsp:nvSpPr>
        <dsp:cNvPr id="0" name=""/>
        <dsp:cNvSpPr/>
      </dsp:nvSpPr>
      <dsp:spPr>
        <a:xfrm>
          <a:off x="36" y="72385"/>
          <a:ext cx="3533068" cy="806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Formali</a:t>
          </a:r>
        </a:p>
      </dsp:txBody>
      <dsp:txXfrm>
        <a:off x="36" y="72385"/>
        <a:ext cx="3533068" cy="806400"/>
      </dsp:txXfrm>
    </dsp:sp>
    <dsp:sp modelId="{973AB6D1-459D-4F22-BD75-5F29A326C090}">
      <dsp:nvSpPr>
        <dsp:cNvPr id="0" name=""/>
        <dsp:cNvSpPr/>
      </dsp:nvSpPr>
      <dsp:spPr>
        <a:xfrm>
          <a:off x="36" y="878785"/>
          <a:ext cx="3533068" cy="311282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2000" kern="1200" dirty="0"/>
            <a:t>Riferimento simbolico ad oggetti usati nella funzione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2000" kern="1200" dirty="0"/>
            <a:t>Nella funzione sono variabili </a:t>
          </a:r>
          <a:r>
            <a:rPr lang="it-IT" sz="2000" b="1" kern="1200" dirty="0"/>
            <a:t>locali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2000" kern="1200" dirty="0"/>
            <a:t>Vengono inizializzati nell’invocazione della funzione con i parametri attuali</a:t>
          </a:r>
        </a:p>
      </dsp:txBody>
      <dsp:txXfrm>
        <a:off x="36" y="878785"/>
        <a:ext cx="3533068" cy="3112829"/>
      </dsp:txXfrm>
    </dsp:sp>
    <dsp:sp modelId="{B7B14DEF-DB0B-4BF5-8830-0B9A1294B0E6}">
      <dsp:nvSpPr>
        <dsp:cNvPr id="0" name=""/>
        <dsp:cNvSpPr/>
      </dsp:nvSpPr>
      <dsp:spPr>
        <a:xfrm>
          <a:off x="4027734" y="72385"/>
          <a:ext cx="3533068" cy="806400"/>
        </a:xfrm>
        <a:prstGeom prst="rect">
          <a:avLst/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 w="12700" cap="flat" cmpd="sng" algn="ctr">
          <a:solidFill>
            <a:schemeClr val="accent4">
              <a:hueOff val="-13003161"/>
              <a:satOff val="61689"/>
              <a:lumOff val="-13333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 Attuali</a:t>
          </a:r>
        </a:p>
      </dsp:txBody>
      <dsp:txXfrm>
        <a:off x="4027734" y="72385"/>
        <a:ext cx="3533068" cy="806400"/>
      </dsp:txXfrm>
    </dsp:sp>
    <dsp:sp modelId="{996527FA-8BC2-47B4-9333-BE2FB9FE2EB4}">
      <dsp:nvSpPr>
        <dsp:cNvPr id="0" name=""/>
        <dsp:cNvSpPr/>
      </dsp:nvSpPr>
      <dsp:spPr>
        <a:xfrm>
          <a:off x="4027734" y="878785"/>
          <a:ext cx="3533068" cy="3112829"/>
        </a:xfrm>
        <a:prstGeom prst="rect">
          <a:avLst/>
        </a:prstGeom>
        <a:solidFill>
          <a:schemeClr val="accent4">
            <a:tint val="40000"/>
            <a:alpha val="90000"/>
            <a:hueOff val="-13592316"/>
            <a:satOff val="50119"/>
            <a:lumOff val="-323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3592316"/>
              <a:satOff val="50119"/>
              <a:lumOff val="-323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kern="1200" dirty="0"/>
            <a:t>Sono quelli specificati al momento della chiamata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kern="1200" dirty="0"/>
            <a:t>Durante la chiamata vengono </a:t>
          </a:r>
          <a:r>
            <a:rPr lang="it-IT" sz="1800" b="1" kern="1200" dirty="0"/>
            <a:t>assegnati </a:t>
          </a:r>
          <a:r>
            <a:rPr lang="it-IT" sz="1800" kern="1200" dirty="0"/>
            <a:t>ai parametri formali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b="1" kern="1200" dirty="0"/>
            <a:t>Devono corrispondere </a:t>
          </a:r>
          <a:r>
            <a:rPr lang="it-IT" sz="1800" kern="1200" dirty="0"/>
            <a:t>per ordine e tipo ai parametri formali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it-IT" sz="1800" kern="1200" dirty="0"/>
            <a:t>Possono essere costanti, variabili o espressioni definite nel chiamante</a:t>
          </a:r>
        </a:p>
      </dsp:txBody>
      <dsp:txXfrm>
        <a:off x="4027734" y="878785"/>
        <a:ext cx="3533068" cy="31128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222E0-831E-49F1-87EC-37E715C352B0}">
      <dsp:nvSpPr>
        <dsp:cNvPr id="0" name=""/>
        <dsp:cNvSpPr/>
      </dsp:nvSpPr>
      <dsp:spPr>
        <a:xfrm>
          <a:off x="37" y="1911"/>
          <a:ext cx="3560712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100" kern="1200" dirty="0"/>
            <a:t>Passaggio per valore</a:t>
          </a:r>
        </a:p>
      </dsp:txBody>
      <dsp:txXfrm>
        <a:off x="37" y="1911"/>
        <a:ext cx="3560712" cy="604800"/>
      </dsp:txXfrm>
    </dsp:sp>
    <dsp:sp modelId="{2D092E5E-866D-4AC8-A6F9-034084ED8C33}">
      <dsp:nvSpPr>
        <dsp:cNvPr id="0" name=""/>
        <dsp:cNvSpPr/>
      </dsp:nvSpPr>
      <dsp:spPr>
        <a:xfrm>
          <a:off x="37" y="606711"/>
          <a:ext cx="3560712" cy="376493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100" kern="1200"/>
            <a:t>consente di mantenere isolati gli ambienti locali di chiamante e chiamato</a:t>
          </a:r>
          <a:endParaRPr lang="it-IT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100" kern="1200" dirty="0"/>
            <a:t>una funzione può restituire un solo dato in output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100" kern="1200" dirty="0"/>
            <a:t>Il passaggio di strutture dati complesse, la copia comporta rallentamenti (</a:t>
          </a:r>
          <a:r>
            <a:rPr lang="it-IT" sz="2100" i="1" kern="1200" dirty="0" err="1">
              <a:solidFill>
                <a:srgbClr val="00B0F0"/>
              </a:solidFill>
            </a:rPr>
            <a:t>overhead</a:t>
          </a:r>
          <a:r>
            <a:rPr lang="it-IT" sz="2100" kern="1200" dirty="0"/>
            <a:t>) </a:t>
          </a:r>
        </a:p>
      </dsp:txBody>
      <dsp:txXfrm>
        <a:off x="37" y="606711"/>
        <a:ext cx="3560712" cy="3764939"/>
      </dsp:txXfrm>
    </dsp:sp>
    <dsp:sp modelId="{C5B5A2D5-5007-48AE-A4FD-E1CB7078E35C}">
      <dsp:nvSpPr>
        <dsp:cNvPr id="0" name=""/>
        <dsp:cNvSpPr/>
      </dsp:nvSpPr>
      <dsp:spPr>
        <a:xfrm>
          <a:off x="4059249" y="1911"/>
          <a:ext cx="3560712" cy="604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100" kern="1200" dirty="0"/>
            <a:t>Passaggio per Indirizzo</a:t>
          </a:r>
        </a:p>
      </dsp:txBody>
      <dsp:txXfrm>
        <a:off x="4059249" y="1911"/>
        <a:ext cx="3560712" cy="604800"/>
      </dsp:txXfrm>
    </dsp:sp>
    <dsp:sp modelId="{2043655F-C803-4310-BA73-288C75B646C0}">
      <dsp:nvSpPr>
        <dsp:cNvPr id="0" name=""/>
        <dsp:cNvSpPr/>
      </dsp:nvSpPr>
      <dsp:spPr>
        <a:xfrm>
          <a:off x="4059249" y="606711"/>
          <a:ext cx="3560712" cy="376493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100" kern="1200" dirty="0"/>
            <a:t>Il chiamato modifica l’ambiente locale del chiamante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100" kern="1200" dirty="0"/>
            <a:t>I parametri della funzione diventano sia di input che di output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100" kern="1200" dirty="0"/>
            <a:t>La funzione può restituire più dati di output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100" kern="1200" dirty="0"/>
            <a:t>Il passaggio di strutture dati complesse ha lo stesso costo di un dato semplice</a:t>
          </a:r>
        </a:p>
      </dsp:txBody>
      <dsp:txXfrm>
        <a:off x="4059249" y="606711"/>
        <a:ext cx="3560712" cy="37649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AD873-3B67-4FE2-8EE6-A87266862975}">
      <dsp:nvSpPr>
        <dsp:cNvPr id="0" name=""/>
        <dsp:cNvSpPr/>
      </dsp:nvSpPr>
      <dsp:spPr>
        <a:xfrm>
          <a:off x="7350" y="1584650"/>
          <a:ext cx="2196992" cy="19360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kern="1200" dirty="0"/>
            <a:t>Funzione e chiamante sono indipendenti e comunicano solo attraverso </a:t>
          </a:r>
          <a:r>
            <a:rPr lang="it-IT" sz="1800" b="1" kern="1200" dirty="0"/>
            <a:t>passaggio di parametri </a:t>
          </a:r>
          <a:r>
            <a:rPr lang="it-IT" sz="1800" kern="1200" dirty="0"/>
            <a:t>e </a:t>
          </a:r>
          <a:r>
            <a:rPr lang="it-IT" sz="1800" kern="1200" dirty="0" err="1"/>
            <a:t>return</a:t>
          </a:r>
          <a:endParaRPr lang="it-IT" sz="1800" kern="1200" dirty="0"/>
        </a:p>
      </dsp:txBody>
      <dsp:txXfrm>
        <a:off x="64056" y="1641356"/>
        <a:ext cx="2083580" cy="1822687"/>
      </dsp:txXfrm>
    </dsp:sp>
    <dsp:sp modelId="{1A7A4141-A2BC-43F2-8E49-7A1C2E99248F}">
      <dsp:nvSpPr>
        <dsp:cNvPr id="0" name=""/>
        <dsp:cNvSpPr/>
      </dsp:nvSpPr>
      <dsp:spPr>
        <a:xfrm>
          <a:off x="2424042" y="2280272"/>
          <a:ext cx="465762" cy="544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t-IT" sz="1400" kern="1200"/>
        </a:p>
      </dsp:txBody>
      <dsp:txXfrm>
        <a:off x="2424042" y="2389243"/>
        <a:ext cx="326033" cy="326912"/>
      </dsp:txXfrm>
    </dsp:sp>
    <dsp:sp modelId="{CFBCF5EC-D10A-48CF-9A6E-5DAB1657F363}">
      <dsp:nvSpPr>
        <dsp:cNvPr id="0" name=""/>
        <dsp:cNvSpPr/>
      </dsp:nvSpPr>
      <dsp:spPr>
        <a:xfrm>
          <a:off x="3083139" y="1584650"/>
          <a:ext cx="2196992" cy="1936099"/>
        </a:xfrm>
        <a:prstGeom prst="roundRect">
          <a:avLst>
            <a:gd name="adj" fmla="val 10000"/>
          </a:avLst>
        </a:prstGeom>
        <a:solidFill>
          <a:schemeClr val="accent4">
            <a:hueOff val="-6501580"/>
            <a:satOff val="30845"/>
            <a:lumOff val="-6667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kern="1200" dirty="0"/>
            <a:t>Possono esistere variabili con lo stesso nome, ma associate ad indirizzi di memoria diversi (quindi diverse)</a:t>
          </a:r>
        </a:p>
      </dsp:txBody>
      <dsp:txXfrm>
        <a:off x="3139845" y="1641356"/>
        <a:ext cx="2083580" cy="1822687"/>
      </dsp:txXfrm>
    </dsp:sp>
    <dsp:sp modelId="{C12390B4-773D-4937-97B4-820CD0576B75}">
      <dsp:nvSpPr>
        <dsp:cNvPr id="0" name=""/>
        <dsp:cNvSpPr/>
      </dsp:nvSpPr>
      <dsp:spPr>
        <a:xfrm>
          <a:off x="5499831" y="2280272"/>
          <a:ext cx="465762" cy="544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t-IT" sz="1400" kern="1200"/>
        </a:p>
      </dsp:txBody>
      <dsp:txXfrm>
        <a:off x="5499831" y="2389243"/>
        <a:ext cx="326033" cy="326912"/>
      </dsp:txXfrm>
    </dsp:sp>
    <dsp:sp modelId="{247D6CC6-97C5-4648-8F37-181F62A93FCC}">
      <dsp:nvSpPr>
        <dsp:cNvPr id="0" name=""/>
        <dsp:cNvSpPr/>
      </dsp:nvSpPr>
      <dsp:spPr>
        <a:xfrm>
          <a:off x="6158929" y="1584650"/>
          <a:ext cx="2196992" cy="1936099"/>
        </a:xfrm>
        <a:prstGeom prst="roundRect">
          <a:avLst>
            <a:gd name="adj" fmla="val 10000"/>
          </a:avLst>
        </a:prstGeom>
        <a:solidFill>
          <a:schemeClr val="accent4">
            <a:hueOff val="-13003161"/>
            <a:satOff val="61689"/>
            <a:lumOff val="-13333"/>
            <a:alphaOff val="0"/>
          </a:schemeClr>
        </a:solidFill>
        <a:ln>
          <a:noFill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kern="1200" dirty="0"/>
            <a:t>Esistono </a:t>
          </a:r>
          <a:r>
            <a:rPr lang="it-IT" sz="2000" b="1" i="1" kern="1200" dirty="0"/>
            <a:t>regole di Visibilità</a:t>
          </a:r>
        </a:p>
      </dsp:txBody>
      <dsp:txXfrm>
        <a:off x="6215635" y="1641356"/>
        <a:ext cx="2083580" cy="18226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518AB-C0E0-4CD3-8660-2347B397AFC0}">
      <dsp:nvSpPr>
        <dsp:cNvPr id="0" name=""/>
        <dsp:cNvSpPr/>
      </dsp:nvSpPr>
      <dsp:spPr>
        <a:xfrm>
          <a:off x="31" y="70870"/>
          <a:ext cx="3033177" cy="10771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700" kern="1200" dirty="0"/>
            <a:t>Visibilità</a:t>
          </a:r>
        </a:p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700" kern="1200" dirty="0"/>
            <a:t>scope</a:t>
          </a:r>
        </a:p>
      </dsp:txBody>
      <dsp:txXfrm>
        <a:off x="31" y="70870"/>
        <a:ext cx="3033177" cy="1077123"/>
      </dsp:txXfrm>
    </dsp:sp>
    <dsp:sp modelId="{68DA1ED7-BFA8-4B56-8745-7BF9134A77AB}">
      <dsp:nvSpPr>
        <dsp:cNvPr id="0" name=""/>
        <dsp:cNvSpPr/>
      </dsp:nvSpPr>
      <dsp:spPr>
        <a:xfrm>
          <a:off x="31" y="1147994"/>
          <a:ext cx="3033177" cy="326105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700" kern="1200" dirty="0"/>
            <a:t>Regione di codice in cui una variabile è accessibile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700" kern="1200" dirty="0"/>
            <a:t>Solitamente il blocco (tra graffe) in cui sono dichiarate</a:t>
          </a:r>
        </a:p>
      </dsp:txBody>
      <dsp:txXfrm>
        <a:off x="31" y="1147994"/>
        <a:ext cx="3033177" cy="3261059"/>
      </dsp:txXfrm>
    </dsp:sp>
    <dsp:sp modelId="{B5F1C00A-9FE9-4A09-8818-21357FAF08F6}">
      <dsp:nvSpPr>
        <dsp:cNvPr id="0" name=""/>
        <dsp:cNvSpPr/>
      </dsp:nvSpPr>
      <dsp:spPr>
        <a:xfrm>
          <a:off x="3457854" y="70870"/>
          <a:ext cx="3033177" cy="10771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700" kern="1200" dirty="0"/>
            <a:t>Tempo di Vita</a:t>
          </a:r>
        </a:p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700" kern="1200" dirty="0"/>
            <a:t>Life Time</a:t>
          </a:r>
        </a:p>
      </dsp:txBody>
      <dsp:txXfrm>
        <a:off x="3457854" y="70870"/>
        <a:ext cx="3033177" cy="1077123"/>
      </dsp:txXfrm>
    </dsp:sp>
    <dsp:sp modelId="{EE1D952B-0E1D-480F-9289-7435B9677FF2}">
      <dsp:nvSpPr>
        <dsp:cNvPr id="0" name=""/>
        <dsp:cNvSpPr/>
      </dsp:nvSpPr>
      <dsp:spPr>
        <a:xfrm>
          <a:off x="3457854" y="1147994"/>
          <a:ext cx="3033177" cy="326105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2700" kern="1200" dirty="0"/>
            <a:t>Tempo in cui una variabile è accessibile</a:t>
          </a:r>
        </a:p>
      </dsp:txBody>
      <dsp:txXfrm>
        <a:off x="3457854" y="1147994"/>
        <a:ext cx="3033177" cy="32610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8F957-5AA5-4217-837A-25D83BC98B3C}">
      <dsp:nvSpPr>
        <dsp:cNvPr id="0" name=""/>
        <dsp:cNvSpPr/>
      </dsp:nvSpPr>
      <dsp:spPr>
        <a:xfrm>
          <a:off x="3194" y="115187"/>
          <a:ext cx="1920939" cy="374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auto</a:t>
          </a:r>
        </a:p>
      </dsp:txBody>
      <dsp:txXfrm>
        <a:off x="3194" y="115187"/>
        <a:ext cx="1920939" cy="374400"/>
      </dsp:txXfrm>
    </dsp:sp>
    <dsp:sp modelId="{4D1E2C38-79CE-416D-8692-333ED3D30274}">
      <dsp:nvSpPr>
        <dsp:cNvPr id="0" name=""/>
        <dsp:cNvSpPr/>
      </dsp:nvSpPr>
      <dsp:spPr>
        <a:xfrm>
          <a:off x="3194" y="489587"/>
          <a:ext cx="1920939" cy="321164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Default per le variabili locali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sono create all'entrata del blocco e non vengono inizializzate automaticamente.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All'uscita del blocco vengono distrutte e perdono ogni valore assegnatogli.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Non possono conservare un valore fra 2 esecuzioni dello stesso blocco o funzione.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Allocate nello </a:t>
          </a:r>
          <a:r>
            <a:rPr lang="it-IT" sz="1300" kern="1200" dirty="0" err="1"/>
            <a:t>stack</a:t>
          </a:r>
          <a:r>
            <a:rPr lang="it-IT" sz="1300" kern="1200" dirty="0"/>
            <a:t> </a:t>
          </a:r>
          <a:r>
            <a:rPr lang="it-IT" sz="1300" kern="1200" dirty="0" err="1"/>
            <a:t>run</a:t>
          </a:r>
          <a:r>
            <a:rPr lang="it-IT" sz="1300" kern="1200" dirty="0"/>
            <a:t>-time</a:t>
          </a:r>
        </a:p>
      </dsp:txBody>
      <dsp:txXfrm>
        <a:off x="3194" y="489587"/>
        <a:ext cx="1920939" cy="3211649"/>
      </dsp:txXfrm>
    </dsp:sp>
    <dsp:sp modelId="{E301EE09-0A78-4365-B841-8B139BB2A985}">
      <dsp:nvSpPr>
        <dsp:cNvPr id="0" name=""/>
        <dsp:cNvSpPr/>
      </dsp:nvSpPr>
      <dsp:spPr>
        <a:xfrm>
          <a:off x="2193066" y="115187"/>
          <a:ext cx="1920939" cy="374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static</a:t>
          </a:r>
          <a:endParaRPr lang="it-IT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193066" y="115187"/>
        <a:ext cx="1920939" cy="374400"/>
      </dsp:txXfrm>
    </dsp:sp>
    <dsp:sp modelId="{D7611E3E-8AAB-4188-8B88-C93BDA2F7A28}">
      <dsp:nvSpPr>
        <dsp:cNvPr id="0" name=""/>
        <dsp:cNvSpPr/>
      </dsp:nvSpPr>
      <dsp:spPr>
        <a:xfrm>
          <a:off x="2193066" y="489587"/>
          <a:ext cx="1920939" cy="321164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La variabile viene allocata stabilmente per tutta la durata del programma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Mantiene il valore di una variabile locale per differenti chiamate della stessa funzione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Viene inizializzata solo alla prima allocazione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Allocata al caricamento del programma</a:t>
          </a:r>
        </a:p>
      </dsp:txBody>
      <dsp:txXfrm>
        <a:off x="2193066" y="489587"/>
        <a:ext cx="1920939" cy="3211649"/>
      </dsp:txXfrm>
    </dsp:sp>
    <dsp:sp modelId="{F2FC25F7-1CCD-4E39-B7C1-9057DDEC33C8}">
      <dsp:nvSpPr>
        <dsp:cNvPr id="0" name=""/>
        <dsp:cNvSpPr/>
      </dsp:nvSpPr>
      <dsp:spPr>
        <a:xfrm>
          <a:off x="4382937" y="115187"/>
          <a:ext cx="1920939" cy="374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register</a:t>
          </a:r>
          <a:endParaRPr lang="it-IT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382937" y="115187"/>
        <a:ext cx="1920939" cy="374400"/>
      </dsp:txXfrm>
    </dsp:sp>
    <dsp:sp modelId="{76D0F3DE-2F18-49C3-9EE7-0AFD986BB680}">
      <dsp:nvSpPr>
        <dsp:cNvPr id="0" name=""/>
        <dsp:cNvSpPr/>
      </dsp:nvSpPr>
      <dsp:spPr>
        <a:xfrm>
          <a:off x="4382937" y="489587"/>
          <a:ext cx="1920939" cy="321164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Per le variabili che vorremmo allocare in un registro invece che in RAM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È solo una raccomandazione per il compilatore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La variabile deve avere le stesse dimensioni del registro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Non ammette l’operatore unario &amp; (</a:t>
          </a:r>
          <a:r>
            <a:rPr lang="it-IT" sz="1300" i="1" kern="1200" dirty="0" err="1" smtClean="0"/>
            <a:t>reference</a:t>
          </a:r>
          <a:r>
            <a:rPr lang="it-IT" sz="1300" kern="1200" dirty="0"/>
            <a:t>)</a:t>
          </a:r>
        </a:p>
      </dsp:txBody>
      <dsp:txXfrm>
        <a:off x="4382937" y="489587"/>
        <a:ext cx="1920939" cy="3211649"/>
      </dsp:txXfrm>
    </dsp:sp>
    <dsp:sp modelId="{FE223FBF-0CB9-43F4-85F6-CE060F979224}">
      <dsp:nvSpPr>
        <dsp:cNvPr id="0" name=""/>
        <dsp:cNvSpPr/>
      </dsp:nvSpPr>
      <dsp:spPr>
        <a:xfrm>
          <a:off x="6572809" y="115187"/>
          <a:ext cx="1920939" cy="374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extern</a:t>
          </a:r>
          <a:endParaRPr lang="it-IT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572809" y="115187"/>
        <a:ext cx="1920939" cy="374400"/>
      </dsp:txXfrm>
    </dsp:sp>
    <dsp:sp modelId="{0A7DC818-6EA5-46AD-B465-F7F1C4F24364}">
      <dsp:nvSpPr>
        <dsp:cNvPr id="0" name=""/>
        <dsp:cNvSpPr/>
      </dsp:nvSpPr>
      <dsp:spPr>
        <a:xfrm>
          <a:off x="6572809" y="489587"/>
          <a:ext cx="1920939" cy="321164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999" dist="23000" algn="bl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Estende la visibilità di una variabile definita in un altro sorgente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it-IT" sz="1300" kern="1200" dirty="0"/>
            <a:t>Le variabili </a:t>
          </a:r>
          <a:r>
            <a:rPr lang="it-IT" sz="1300" i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extern</a:t>
          </a:r>
          <a:r>
            <a:rPr lang="it-IT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it-IT" sz="1300" kern="1200" dirty="0"/>
            <a:t>non possono essere inizializzate, perché vengono inizializzate nel sorgente in cui sono definite</a:t>
          </a:r>
        </a:p>
      </dsp:txBody>
      <dsp:txXfrm>
        <a:off x="6572809" y="489587"/>
        <a:ext cx="1920939" cy="3211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83AB2A-6831-40D1-B710-0297F89FB2EB}" type="datetimeFigureOut">
              <a:rPr lang="it-IT" smtClean="0"/>
              <a:t>07/05/2021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0DAE4-5353-46A9-8946-980728224B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1474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6253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14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245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3549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1397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0625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7217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948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4022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0289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210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4230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1090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0597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3858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5243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604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39280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3671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576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1594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83092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379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86575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086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79873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9934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807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88809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0924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83973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52297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2326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1805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69977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7739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773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16833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17766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50051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3103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19517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15534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50956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56924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49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6102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46017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16529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59027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46756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2410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08356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73630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370190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59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0792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60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1975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61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93667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62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88045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63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81688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0DAE4-5353-46A9-8946-980728224B98}" type="slidenum">
              <a:rPr lang="it-IT" smtClean="0"/>
              <a:t>64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592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276D-A6BD-467A-B014-F24120F6902C}" type="datetime1">
              <a:rPr lang="it-IT" smtClean="0"/>
              <a:t>07/05/2021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13325-84C4-4754-98E1-1524EB93DD7F}" type="datetime1">
              <a:rPr lang="it-IT" smtClean="0"/>
              <a:t>07/05/2021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40F6-21D4-47C4-81D6-FE1A256799CB}" type="datetime1">
              <a:rPr lang="it-IT" smtClean="0"/>
              <a:t>07/05/2021</a:t>
            </a:fld>
            <a:endParaRPr lang="it-I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E7C62-A5B7-4B0E-AEDA-1040F1AB9B72}" type="datetime1">
              <a:rPr lang="it-IT" smtClean="0"/>
              <a:t>07/05/2021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1A21-590F-48D1-B0FE-AAAE5E3D6117}" type="datetime1">
              <a:rPr lang="it-IT" smtClean="0"/>
              <a:t>07/05/2021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94D9-CF67-4C60-8341-B00E8D4A66C1}" type="datetime1">
              <a:rPr lang="it-IT" smtClean="0"/>
              <a:t>07/05/2021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DEB0-0C09-44DD-9481-565973F4CC71}" type="datetime1">
              <a:rPr lang="it-IT" smtClean="0"/>
              <a:t>07/05/2021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E295-B058-413F-9B67-D73A46A1BA61}" type="datetime1">
              <a:rPr lang="it-IT" smtClean="0"/>
              <a:t>07/05/2021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6D07-754D-4954-BE29-51157D009C52}" type="datetime1">
              <a:rPr lang="it-IT" smtClean="0"/>
              <a:t>07/05/2021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2483-901E-4482-B776-2F93B84E3B06}" type="datetime1">
              <a:rPr lang="it-IT" smtClean="0"/>
              <a:t>07/05/2021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5D285-994F-403B-8672-AE754EF35964}" type="datetime1">
              <a:rPr lang="it-IT" smtClean="0"/>
              <a:t>07/05/2021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dice vs Mem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67544" y="908720"/>
            <a:ext cx="4546848" cy="4320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539552" y="1412776"/>
            <a:ext cx="2520280" cy="4680520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latin typeface="Courier New" pitchFamily="49" charset="0"/>
                <a:cs typeface="Courier New" pitchFamily="49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Codice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F03-519E-4557-AC86-F00202C45A0C}" type="datetime1">
              <a:rPr lang="it-IT" smtClean="0"/>
              <a:t>07/05/2021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  <p:sp>
        <p:nvSpPr>
          <p:cNvPr id="13" name="Titolo 12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29600" cy="562074"/>
          </a:xfrm>
        </p:spPr>
        <p:txBody>
          <a:bodyPr/>
          <a:lstStyle/>
          <a:p>
            <a:r>
              <a:rPr lang="it-IT" dirty="0"/>
              <a:t>Fare clic per modificare lo stile del</a:t>
            </a:r>
          </a:p>
        </p:txBody>
      </p:sp>
      <p:sp>
        <p:nvSpPr>
          <p:cNvPr id="14" name="Segnaposto testo 2"/>
          <p:cNvSpPr>
            <a:spLocks noGrp="1"/>
          </p:cNvSpPr>
          <p:nvPr>
            <p:ph type="body" idx="14" hasCustomPrompt="1"/>
          </p:nvPr>
        </p:nvSpPr>
        <p:spPr>
          <a:xfrm>
            <a:off x="3131840" y="1412776"/>
            <a:ext cx="3538736" cy="4320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Memoria</a:t>
            </a:r>
          </a:p>
        </p:txBody>
      </p:sp>
      <p:sp>
        <p:nvSpPr>
          <p:cNvPr id="16" name="Segnaposto testo 2"/>
          <p:cNvSpPr>
            <a:spLocks noGrp="1"/>
          </p:cNvSpPr>
          <p:nvPr>
            <p:ph type="body" idx="15" hasCustomPrompt="1"/>
          </p:nvPr>
        </p:nvSpPr>
        <p:spPr>
          <a:xfrm>
            <a:off x="3131840" y="3356992"/>
            <a:ext cx="3538736" cy="432047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Tabella di traccia</a:t>
            </a:r>
          </a:p>
        </p:txBody>
      </p:sp>
      <p:sp>
        <p:nvSpPr>
          <p:cNvPr id="11" name="CasellaDiTesto 10"/>
          <p:cNvSpPr txBox="1"/>
          <p:nvPr userDrawn="1"/>
        </p:nvSpPr>
        <p:spPr>
          <a:xfrm flipH="1">
            <a:off x="179512" y="1412776"/>
            <a:ext cx="504056" cy="476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01.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02.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03.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04.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05.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06.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07.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08.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09.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10.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11.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12.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13.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14.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15.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16.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17.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18.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19.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20.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21.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22.</a:t>
            </a:r>
          </a:p>
          <a:p>
            <a:pPr algn="r">
              <a:lnSpc>
                <a:spcPct val="110000"/>
              </a:lnSpc>
            </a:pP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23.</a:t>
            </a:r>
          </a:p>
        </p:txBody>
      </p:sp>
    </p:spTree>
    <p:extLst>
      <p:ext uri="{BB962C8B-B14F-4D97-AF65-F5344CB8AC3E}">
        <p14:creationId xmlns:p14="http://schemas.microsoft.com/office/powerpoint/2010/main" val="88102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A4AD4928-C86D-4FB1-BB89-803E9D5C284A}" type="datetime1">
              <a:rPr lang="it-IT" smtClean="0"/>
              <a:t>07/05/2021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4045AF0B-33AB-48BF-892E-53C989AB8C0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slide" Target="slide36.xml"/><Relationship Id="rId3" Type="http://schemas.openxmlformats.org/officeDocument/2006/relationships/slide" Target="slide3.xml"/><Relationship Id="rId7" Type="http://schemas.openxmlformats.org/officeDocument/2006/relationships/slide" Target="slide12.xml"/><Relationship Id="rId12" Type="http://schemas.openxmlformats.org/officeDocument/2006/relationships/slide" Target="slide33.xml"/><Relationship Id="rId2" Type="http://schemas.openxmlformats.org/officeDocument/2006/relationships/notesSlide" Target="../notesSlides/notesSlide2.xml"/><Relationship Id="rId16" Type="http://schemas.openxmlformats.org/officeDocument/2006/relationships/slide" Target="slide6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5" Type="http://schemas.openxmlformats.org/officeDocument/2006/relationships/slide" Target="slide62.xml"/><Relationship Id="rId10" Type="http://schemas.openxmlformats.org/officeDocument/2006/relationships/slide" Target="slide26.xml"/><Relationship Id="rId4" Type="http://schemas.openxmlformats.org/officeDocument/2006/relationships/slide" Target="slide7.xml"/><Relationship Id="rId9" Type="http://schemas.openxmlformats.org/officeDocument/2006/relationships/slide" Target="slide19.xml"/><Relationship Id="rId14" Type="http://schemas.openxmlformats.org/officeDocument/2006/relationships/slide" Target="slide5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hyperlink" Target="http://www.tutorialspoint.com/cplusplus/cpp_storage_classes.htm" TargetMode="External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Funzioni nel C/C++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A.S. 2019 - 2020</a:t>
            </a:r>
          </a:p>
        </p:txBody>
      </p:sp>
    </p:spTree>
    <p:extLst>
      <p:ext uri="{BB962C8B-B14F-4D97-AF65-F5344CB8AC3E}">
        <p14:creationId xmlns:p14="http://schemas.microsoft.com/office/powerpoint/2010/main" val="190466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Funzioni nel C/C++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971600" y="1574800"/>
            <a:ext cx="3949432" cy="4525963"/>
          </a:xfrm>
        </p:spPr>
        <p:txBody>
          <a:bodyPr>
            <a:no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it-IT" sz="1800" dirty="0">
                <a:hlinkClick r:id="rId3" action="ppaction://hlinksldjump"/>
              </a:rPr>
              <a:t>Sottoprogrammi</a:t>
            </a:r>
            <a:endParaRPr lang="it-IT" sz="1800" dirty="0"/>
          </a:p>
          <a:p>
            <a:pPr marL="285750" indent="-285750">
              <a:buFont typeface="Wingdings" pitchFamily="2" charset="2"/>
              <a:buChar char="q"/>
            </a:pPr>
            <a:r>
              <a:rPr lang="it-IT" sz="1800" dirty="0">
                <a:hlinkClick r:id="rId4" action="ppaction://hlinksldjump"/>
              </a:rPr>
              <a:t>Funzioni del C/C++</a:t>
            </a:r>
            <a:endParaRPr lang="it-IT" sz="18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100" dirty="0">
                <a:hlinkClick r:id="rId5" action="ppaction://hlinksldjump"/>
              </a:rPr>
              <a:t>Dichiarazione</a:t>
            </a:r>
            <a:r>
              <a:rPr lang="it-IT" sz="1100" dirty="0"/>
              <a:t>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100" dirty="0">
                <a:hlinkClick r:id="rId6" action="ppaction://hlinksldjump"/>
              </a:rPr>
              <a:t>Definizione</a:t>
            </a:r>
            <a:endParaRPr lang="it-IT" sz="11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100" dirty="0">
                <a:hlinkClick r:id="rId7" action="ppaction://hlinksldjump"/>
              </a:rPr>
              <a:t>Chiamata</a:t>
            </a:r>
            <a:endParaRPr lang="it-IT" sz="1100" dirty="0"/>
          </a:p>
          <a:p>
            <a:pPr marL="285750" indent="-285750">
              <a:buFont typeface="Wingdings" pitchFamily="2" charset="2"/>
              <a:buChar char="q"/>
            </a:pPr>
            <a:r>
              <a:rPr lang="it-IT" sz="1800" dirty="0">
                <a:hlinkClick r:id="rId8" action="ppaction://hlinksldjump"/>
              </a:rPr>
              <a:t>Visibilità delle funzioni</a:t>
            </a:r>
            <a:endParaRPr lang="it-IT" sz="18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100" dirty="0">
                <a:hlinkClick r:id="rId9" action="ppaction://hlinksldjump"/>
              </a:rPr>
              <a:t>File </a:t>
            </a:r>
            <a:r>
              <a:rPr lang="it-IT" sz="1100" dirty="0" err="1">
                <a:hlinkClick r:id="rId9" action="ppaction://hlinksldjump"/>
              </a:rPr>
              <a:t>Headers</a:t>
            </a:r>
            <a:endParaRPr lang="it-IT" sz="1100" dirty="0"/>
          </a:p>
          <a:p>
            <a:pPr marL="285750" indent="-285750">
              <a:buFont typeface="Wingdings" pitchFamily="2" charset="2"/>
              <a:buChar char="q"/>
            </a:pPr>
            <a:r>
              <a:rPr lang="it-IT" sz="1800" dirty="0">
                <a:hlinkClick r:id="rId10" action="ppaction://hlinksldjump"/>
              </a:rPr>
              <a:t>Ambiente di Esecuzione</a:t>
            </a:r>
            <a:endParaRPr lang="it-IT" sz="1800" dirty="0"/>
          </a:p>
          <a:p>
            <a:pPr marL="285750" indent="-285750">
              <a:buFont typeface="Wingdings" pitchFamily="2" charset="2"/>
              <a:buChar char="q"/>
            </a:pPr>
            <a:r>
              <a:rPr lang="it-IT" sz="1800" dirty="0">
                <a:hlinkClick r:id="rId11" action="ppaction://hlinksldjump"/>
              </a:rPr>
              <a:t>Passaggio degli Argomenti</a:t>
            </a:r>
            <a:endParaRPr lang="it-IT" sz="18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600" dirty="0">
                <a:hlinkClick r:id="rId12" action="ppaction://hlinksldjump"/>
              </a:rPr>
              <a:t>Passaggio per Valore</a:t>
            </a:r>
            <a:endParaRPr lang="it-IT" sz="1600" dirty="0"/>
          </a:p>
          <a:p>
            <a:pPr marL="285750" indent="-285750">
              <a:buFont typeface="Wingdings" pitchFamily="2" charset="2"/>
              <a:buChar char="q"/>
            </a:pPr>
            <a:r>
              <a:rPr lang="it-IT" sz="1800" dirty="0">
                <a:hlinkClick r:id="" action="ppaction://noaction"/>
              </a:rPr>
              <a:t>Funzioni</a:t>
            </a:r>
            <a:r>
              <a:rPr lang="it-IT" sz="2000" dirty="0">
                <a:hlinkClick r:id="" action="ppaction://noaction"/>
              </a:rPr>
              <a:t> ricorsive</a:t>
            </a:r>
            <a:endParaRPr lang="it-IT" sz="200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788024" y="1574800"/>
            <a:ext cx="3593976" cy="4525963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it-IT" sz="1800" dirty="0"/>
              <a:t>Passaggio per Riferimento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600" dirty="0">
                <a:hlinkClick r:id="rId13" action="ppaction://hlinksldjump"/>
              </a:rPr>
              <a:t>passaggio con i puntatori</a:t>
            </a:r>
            <a:endParaRPr lang="it-IT" sz="1600" dirty="0"/>
          </a:p>
          <a:p>
            <a:pPr marL="285750" indent="-285750">
              <a:buFont typeface="Wingdings" pitchFamily="2" charset="2"/>
              <a:buChar char="q"/>
            </a:pPr>
            <a:r>
              <a:rPr lang="it-IT" sz="1800" dirty="0">
                <a:hlinkClick r:id="rId14" action="ppaction://hlinksldjump"/>
              </a:rPr>
              <a:t>Visibilità variabili</a:t>
            </a:r>
            <a:endParaRPr lang="it-IT" sz="18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600" dirty="0">
                <a:hlinkClick r:id="rId14" action="ppaction://hlinksldjump"/>
              </a:rPr>
              <a:t>Scope e Life Time</a:t>
            </a:r>
            <a:endParaRPr lang="it-IT" sz="16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600" dirty="0">
                <a:hlinkClick r:id="rId15" action="ppaction://hlinksldjump"/>
              </a:rPr>
              <a:t>Mascheramento</a:t>
            </a:r>
            <a:endParaRPr lang="it-IT" sz="16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it-IT" sz="1600" dirty="0">
                <a:hlinkClick r:id="rId16" action="ppaction://hlinksldjump"/>
              </a:rPr>
              <a:t>Storage Class</a:t>
            </a:r>
            <a:endParaRPr lang="it-IT" sz="1600" dirty="0"/>
          </a:p>
          <a:p>
            <a:endParaRPr lang="it-IT" sz="180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94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it-IT" dirty="0" err="1"/>
              <a:t>SottoprogrammA</a:t>
            </a:r>
            <a:endParaRPr lang="it-IT" dirty="0"/>
          </a:p>
        </p:txBody>
      </p:sp>
      <p:sp>
        <p:nvSpPr>
          <p:cNvPr id="9" name="Segnaposto contenuto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it-IT" sz="2400" dirty="0"/>
              <a:t>Definizione: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it-IT" sz="2400" dirty="0">
                <a:solidFill>
                  <a:srgbClr val="FF0000"/>
                </a:solidFill>
              </a:rPr>
              <a:t>Costrutto sintattico </a:t>
            </a:r>
            <a:r>
              <a:rPr lang="it-IT" sz="2400" dirty="0"/>
              <a:t>che raggruppa una </a:t>
            </a:r>
            <a:r>
              <a:rPr lang="it-IT" sz="2400" dirty="0">
                <a:solidFill>
                  <a:srgbClr val="00B0F0"/>
                </a:solidFill>
              </a:rPr>
              <a:t>sequenza di istruzioni</a:t>
            </a:r>
            <a:r>
              <a:rPr lang="it-IT" sz="2400" dirty="0"/>
              <a:t>, invocabile nel Programma Principale (</a:t>
            </a:r>
            <a:r>
              <a:rPr lang="it-IT" sz="2400" i="1" dirty="0" err="1"/>
              <a:t>main</a:t>
            </a:r>
            <a:r>
              <a:rPr lang="it-IT" sz="2400" dirty="0"/>
              <a:t>) o in altre funzioni (o nella funzione stessa) attraverso un'istruzione particolare (</a:t>
            </a:r>
            <a:r>
              <a:rPr lang="it-IT" sz="2400" i="1" dirty="0">
                <a:solidFill>
                  <a:srgbClr val="00B0F0"/>
                </a:solidFill>
              </a:rPr>
              <a:t>chiamata</a:t>
            </a:r>
            <a:r>
              <a:rPr lang="it-IT" sz="2400" dirty="0"/>
              <a:t>). </a:t>
            </a:r>
          </a:p>
          <a:p>
            <a:pPr lvl="1" indent="0">
              <a:lnSpc>
                <a:spcPct val="150000"/>
              </a:lnSpc>
              <a:buNone/>
            </a:pPr>
            <a:endParaRPr lang="it-IT" sz="2400" dirty="0"/>
          </a:p>
          <a:p>
            <a:pPr marL="1485900" lvl="2" indent="-342900">
              <a:lnSpc>
                <a:spcPct val="150000"/>
              </a:lnSpc>
            </a:pPr>
            <a:endParaRPr lang="it-IT" sz="2000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52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it-IT" dirty="0" err="1"/>
              <a:t>SottoprogrammA</a:t>
            </a:r>
            <a:r>
              <a:rPr lang="it-IT" dirty="0"/>
              <a:t>: Perché?</a:t>
            </a:r>
          </a:p>
        </p:txBody>
      </p:sp>
      <p:graphicFrame>
        <p:nvGraphicFramePr>
          <p:cNvPr id="12" name="Segnaposto contenuto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368228"/>
              </p:ext>
            </p:extLst>
          </p:nvPr>
        </p:nvGraphicFramePr>
        <p:xfrm>
          <a:off x="457200" y="1752600"/>
          <a:ext cx="76200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33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D0C7CF35-F355-4C72-8A59-332C9B9B8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graphicEl>
                                              <a:dgm id="{D0C7CF35-F355-4C72-8A59-332C9B9B8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graphicEl>
                                              <a:dgm id="{D0C7CF35-F355-4C72-8A59-332C9B9B8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9676E396-1E7D-4F34-9F65-085341222C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graphicEl>
                                              <a:dgm id="{9676E396-1E7D-4F34-9F65-085341222C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graphicEl>
                                              <a:dgm id="{9676E396-1E7D-4F34-9F65-085341222C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1B86312B-8CAB-4655-91DA-880C273E73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graphicEl>
                                              <a:dgm id="{1B86312B-8CAB-4655-91DA-880C273E73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graphicEl>
                                              <a:dgm id="{1B86312B-8CAB-4655-91DA-880C273E73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CAFFE1B-9BAB-45A7-AA9F-8A3456AFC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graphicEl>
                                              <a:dgm id="{8CAFFE1B-9BAB-45A7-AA9F-8A3456AFC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graphicEl>
                                              <a:dgm id="{8CAFFE1B-9BAB-45A7-AA9F-8A3456AFC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CA99BAA-9055-41E8-93A1-A0662504CB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graphicEl>
                                              <a:dgm id="{2CA99BAA-9055-41E8-93A1-A0662504CB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graphicEl>
                                              <a:dgm id="{2CA99BAA-9055-41E8-93A1-A0662504CB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9C12B81-A092-4D4E-A3C7-046A6EFD89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graphicEl>
                                              <a:dgm id="{F9C12B81-A092-4D4E-A3C7-046A6EFD89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graphicEl>
                                              <a:dgm id="{F9C12B81-A092-4D4E-A3C7-046A6EFD89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95FCD7F-19E7-4587-82C4-C5853F63D3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graphicEl>
                                              <a:dgm id="{295FCD7F-19E7-4587-82C4-C5853F63D3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graphicEl>
                                              <a:dgm id="{295FCD7F-19E7-4587-82C4-C5853F63D3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1309930-08D1-4988-B9BB-3DE64EEC7C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graphicEl>
                                              <a:dgm id="{71309930-08D1-4988-B9BB-3DE64EEC7C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graphicEl>
                                              <a:dgm id="{71309930-08D1-4988-B9BB-3DE64EEC7C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5ED48AE-911A-4F28-9FA4-7735C5F7A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>
                                            <p:graphicEl>
                                              <a:dgm id="{85ED48AE-911A-4F28-9FA4-7735C5F7A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>
                                            <p:graphicEl>
                                              <a:dgm id="{85ED48AE-911A-4F28-9FA4-7735C5F7A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7E1BC62-3B98-45FE-BC4F-C2924F041F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>
                                            <p:graphicEl>
                                              <a:dgm id="{27E1BC62-3B98-45FE-BC4F-C2924F041F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>
                                            <p:graphicEl>
                                              <a:dgm id="{27E1BC62-3B98-45FE-BC4F-C2924F041F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C1E14549-D3C3-4900-B513-005250963C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>
                                            <p:graphicEl>
                                              <a:dgm id="{C1E14549-D3C3-4900-B513-005250963C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>
                                            <p:graphicEl>
                                              <a:dgm id="{C1E14549-D3C3-4900-B513-005250963C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4614032A-3D31-4DF8-8EA3-9204E0066C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>
                                            <p:graphicEl>
                                              <a:dgm id="{4614032A-3D31-4DF8-8EA3-9204E0066C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>
                                            <p:graphicEl>
                                              <a:dgm id="{4614032A-3D31-4DF8-8EA3-9204E0066C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4F01E90B-67EB-4635-AF1D-E387611D3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>
                                            <p:graphicEl>
                                              <a:dgm id="{4F01E90B-67EB-4635-AF1D-E387611D3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>
                                            <p:graphicEl>
                                              <a:dgm id="{4F01E90B-67EB-4635-AF1D-E387611D3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B9A05E1E-CD29-4C26-BF31-8900A1117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>
                                            <p:graphicEl>
                                              <a:dgm id="{B9A05E1E-CD29-4C26-BF31-8900A1117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">
                                            <p:graphicEl>
                                              <a:dgm id="{B9A05E1E-CD29-4C26-BF31-8900A1117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BE2FF8E-4D01-4547-A701-66E1EEE3F1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">
                                            <p:graphicEl>
                                              <a:dgm id="{2BE2FF8E-4D01-4547-A701-66E1EEE3F1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">
                                            <p:graphicEl>
                                              <a:dgm id="{2BE2FF8E-4D01-4547-A701-66E1EEE3F1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it-IT" dirty="0" err="1"/>
              <a:t>SottoprogrammA</a:t>
            </a:r>
            <a:endParaRPr lang="it-IT" dirty="0"/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540533"/>
              </p:ext>
            </p:extLst>
          </p:nvPr>
        </p:nvGraphicFramePr>
        <p:xfrm>
          <a:off x="457200" y="1752600"/>
          <a:ext cx="8147248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051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D6115E-5DFB-437B-975B-75347A532C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FED6115E-5DFB-437B-975B-75347A532C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FED6115E-5DFB-437B-975B-75347A532C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FED6115E-5DFB-437B-975B-75347A532C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8807AE-3602-4074-A8DC-DFB53DE8F3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graphicEl>
                                              <a:dgm id="{B78807AE-3602-4074-A8DC-DFB53DE8F3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dgm id="{B78807AE-3602-4074-A8DC-DFB53DE8F3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graphicEl>
                                              <a:dgm id="{B78807AE-3602-4074-A8DC-DFB53DE8F3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2AE070-F73D-41E6-8E9D-C59A91C8E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graphicEl>
                                              <a:dgm id="{342AE070-F73D-41E6-8E9D-C59A91C8E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graphicEl>
                                              <a:dgm id="{342AE070-F73D-41E6-8E9D-C59A91C8E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342AE070-F73D-41E6-8E9D-C59A91C8E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BDE692-7789-4E6D-81F8-B60316749D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graphicEl>
                                              <a:dgm id="{FCBDE692-7789-4E6D-81F8-B60316749D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graphicEl>
                                              <a:dgm id="{FCBDE692-7789-4E6D-81F8-B60316749D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FCBDE692-7789-4E6D-81F8-B60316749D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it-IT" dirty="0" err="1"/>
              <a:t>SottoprogrammA</a:t>
            </a:r>
            <a:endParaRPr lang="it-IT" dirty="0"/>
          </a:p>
        </p:txBody>
      </p:sp>
      <p:sp>
        <p:nvSpPr>
          <p:cNvPr id="30" name="Segnaposto contenuto 29"/>
          <p:cNvSpPr>
            <a:spLocks noGrp="1"/>
          </p:cNvSpPr>
          <p:nvPr>
            <p:ph sz="half" idx="1"/>
          </p:nvPr>
        </p:nvSpPr>
        <p:spPr>
          <a:xfrm>
            <a:off x="798210" y="4797152"/>
            <a:ext cx="3291840" cy="1519635"/>
          </a:xfrm>
        </p:spPr>
        <p:txBody>
          <a:bodyPr>
            <a:normAutofit/>
          </a:bodyPr>
          <a:lstStyle/>
          <a:p>
            <a:r>
              <a:rPr lang="it-IT" sz="1800" u="sng" dirty="0"/>
              <a:t>Esempio:</a:t>
            </a:r>
          </a:p>
          <a:p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400" dirty="0">
                <a:latin typeface="Courier New"/>
                <a:cs typeface="Courier New"/>
              </a:rPr>
              <a:t>"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%c</a:t>
            </a:r>
            <a:r>
              <a:rPr lang="it-IT" sz="2400" dirty="0">
                <a:latin typeface="Courier New"/>
                <a:cs typeface="Courier New"/>
              </a:rPr>
              <a:t>"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let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31" name="Segnaposto contenuto 30"/>
          <p:cNvSpPr>
            <a:spLocks noGrp="1"/>
          </p:cNvSpPr>
          <p:nvPr>
            <p:ph sz="half" idx="2"/>
          </p:nvPr>
        </p:nvSpPr>
        <p:spPr>
          <a:xfrm>
            <a:off x="5090160" y="4725144"/>
            <a:ext cx="3291840" cy="1375619"/>
          </a:xfrm>
        </p:spPr>
        <p:txBody>
          <a:bodyPr>
            <a:normAutofit/>
          </a:bodyPr>
          <a:lstStyle/>
          <a:p>
            <a:r>
              <a:rPr lang="it-IT" sz="2000" u="sng" dirty="0"/>
              <a:t>Esempio:</a:t>
            </a:r>
          </a:p>
          <a:p>
            <a:r>
              <a:rPr lang="it-IT" dirty="0">
                <a:latin typeface="Courier New" pitchFamily="49" charset="0"/>
                <a:cs typeface="Courier New" pitchFamily="49" charset="0"/>
              </a:rPr>
              <a:t>res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getch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endParaRPr lang="it-IT" dirty="0"/>
          </a:p>
        </p:txBody>
      </p:sp>
      <p:sp>
        <p:nvSpPr>
          <p:cNvPr id="3" name="Rettangolo arrotondato 2"/>
          <p:cNvSpPr/>
          <p:nvPr/>
        </p:nvSpPr>
        <p:spPr>
          <a:xfrm>
            <a:off x="1770956" y="2924944"/>
            <a:ext cx="1368152" cy="136815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2 4"/>
          <p:cNvCxnSpPr/>
          <p:nvPr/>
        </p:nvCxnSpPr>
        <p:spPr>
          <a:xfrm>
            <a:off x="618828" y="3789040"/>
            <a:ext cx="1080120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>
            <a:off x="654948" y="2924944"/>
            <a:ext cx="1044000" cy="2520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/>
          <p:cNvCxnSpPr/>
          <p:nvPr/>
        </p:nvCxnSpPr>
        <p:spPr>
          <a:xfrm>
            <a:off x="618828" y="335699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/>
          <p:cNvCxnSpPr/>
          <p:nvPr/>
        </p:nvCxnSpPr>
        <p:spPr>
          <a:xfrm flipV="1">
            <a:off x="654948" y="3998007"/>
            <a:ext cx="1044000" cy="25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ttore 2 14"/>
          <p:cNvCxnSpPr/>
          <p:nvPr/>
        </p:nvCxnSpPr>
        <p:spPr>
          <a:xfrm>
            <a:off x="618828" y="357301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asellaDiTesto 16"/>
          <p:cNvSpPr txBox="1"/>
          <p:nvPr/>
        </p:nvSpPr>
        <p:spPr>
          <a:xfrm>
            <a:off x="1691680" y="3347700"/>
            <a:ext cx="15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Procedura</a:t>
            </a:r>
          </a:p>
        </p:txBody>
      </p:sp>
      <p:sp>
        <p:nvSpPr>
          <p:cNvPr id="18" name="CasellaDiTesto 17"/>
          <p:cNvSpPr txBox="1"/>
          <p:nvPr/>
        </p:nvSpPr>
        <p:spPr>
          <a:xfrm rot="16200000">
            <a:off x="-351162" y="338126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Argomenti</a:t>
            </a:r>
          </a:p>
        </p:txBody>
      </p:sp>
      <p:sp>
        <p:nvSpPr>
          <p:cNvPr id="19" name="Rettangolo arrotondato 18"/>
          <p:cNvSpPr/>
          <p:nvPr/>
        </p:nvSpPr>
        <p:spPr>
          <a:xfrm>
            <a:off x="5906676" y="2924944"/>
            <a:ext cx="1368152" cy="136815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" name="Connettore 2 19"/>
          <p:cNvCxnSpPr/>
          <p:nvPr/>
        </p:nvCxnSpPr>
        <p:spPr>
          <a:xfrm>
            <a:off x="4754548" y="3789040"/>
            <a:ext cx="1080120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/>
          <p:cNvCxnSpPr/>
          <p:nvPr/>
        </p:nvCxnSpPr>
        <p:spPr>
          <a:xfrm>
            <a:off x="4790668" y="2924944"/>
            <a:ext cx="1044000" cy="2520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ttore 2 21"/>
          <p:cNvCxnSpPr/>
          <p:nvPr/>
        </p:nvCxnSpPr>
        <p:spPr>
          <a:xfrm>
            <a:off x="4754548" y="335699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ttore 2 22"/>
          <p:cNvCxnSpPr/>
          <p:nvPr/>
        </p:nvCxnSpPr>
        <p:spPr>
          <a:xfrm flipV="1">
            <a:off x="4790668" y="3998007"/>
            <a:ext cx="1044000" cy="25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/>
          <p:cNvCxnSpPr/>
          <p:nvPr/>
        </p:nvCxnSpPr>
        <p:spPr>
          <a:xfrm>
            <a:off x="4754548" y="357301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5827400" y="3347700"/>
            <a:ext cx="15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Funzione</a:t>
            </a:r>
          </a:p>
        </p:txBody>
      </p:sp>
      <p:sp>
        <p:nvSpPr>
          <p:cNvPr id="26" name="CasellaDiTesto 25"/>
          <p:cNvSpPr txBox="1"/>
          <p:nvPr/>
        </p:nvSpPr>
        <p:spPr>
          <a:xfrm rot="16200000">
            <a:off x="3784558" y="338126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Argomenti</a:t>
            </a:r>
          </a:p>
        </p:txBody>
      </p:sp>
      <p:cxnSp>
        <p:nvCxnSpPr>
          <p:cNvPr id="27" name="Connettore 2 26"/>
          <p:cNvCxnSpPr/>
          <p:nvPr/>
        </p:nvCxnSpPr>
        <p:spPr>
          <a:xfrm>
            <a:off x="7380312" y="3573016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asellaDiTesto 27"/>
          <p:cNvSpPr txBox="1"/>
          <p:nvPr/>
        </p:nvSpPr>
        <p:spPr>
          <a:xfrm rot="16200000">
            <a:off x="7709864" y="3218808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Valore di Ritorno</a:t>
            </a:r>
          </a:p>
        </p:txBody>
      </p:sp>
      <p:sp>
        <p:nvSpPr>
          <p:cNvPr id="34" name="Figura a mano libera 33"/>
          <p:cNvSpPr/>
          <p:nvPr/>
        </p:nvSpPr>
        <p:spPr>
          <a:xfrm>
            <a:off x="-31487" y="-1885"/>
            <a:ext cx="9334500" cy="6962775"/>
          </a:xfrm>
          <a:custGeom>
            <a:avLst/>
            <a:gdLst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6962775 h 6962775"/>
              <a:gd name="connsiteX3" fmla="*/ 0 w 9334500"/>
              <a:gd name="connsiteY3" fmla="*/ 6962775 h 6962775"/>
              <a:gd name="connsiteX4" fmla="*/ 0 w 9334500"/>
              <a:gd name="connsiteY4" fmla="*/ 0 h 6962775"/>
              <a:gd name="connsiteX5" fmla="*/ 133350 w 9334500"/>
              <a:gd name="connsiteY5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9334500 w 9334500"/>
              <a:gd name="connsiteY3" fmla="*/ 6962775 h 6962775"/>
              <a:gd name="connsiteX4" fmla="*/ 0 w 9334500"/>
              <a:gd name="connsiteY4" fmla="*/ 6962775 h 6962775"/>
              <a:gd name="connsiteX5" fmla="*/ 0 w 9334500"/>
              <a:gd name="connsiteY5" fmla="*/ 0 h 6962775"/>
              <a:gd name="connsiteX6" fmla="*/ 133350 w 9334500"/>
              <a:gd name="connsiteY6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9324975 w 9334500"/>
              <a:gd name="connsiteY3" fmla="*/ 2705100 h 6962775"/>
              <a:gd name="connsiteX4" fmla="*/ 9334500 w 9334500"/>
              <a:gd name="connsiteY4" fmla="*/ 6962775 h 6962775"/>
              <a:gd name="connsiteX5" fmla="*/ 0 w 9334500"/>
              <a:gd name="connsiteY5" fmla="*/ 6962775 h 6962775"/>
              <a:gd name="connsiteX6" fmla="*/ 0 w 9334500"/>
              <a:gd name="connsiteY6" fmla="*/ 0 h 6962775"/>
              <a:gd name="connsiteX7" fmla="*/ 133350 w 9334500"/>
              <a:gd name="connsiteY7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9324975 w 9334500"/>
              <a:gd name="connsiteY3" fmla="*/ 1590675 h 6962775"/>
              <a:gd name="connsiteX4" fmla="*/ 9324975 w 9334500"/>
              <a:gd name="connsiteY4" fmla="*/ 2705100 h 6962775"/>
              <a:gd name="connsiteX5" fmla="*/ 9334500 w 9334500"/>
              <a:gd name="connsiteY5" fmla="*/ 6962775 h 6962775"/>
              <a:gd name="connsiteX6" fmla="*/ 0 w 9334500"/>
              <a:gd name="connsiteY6" fmla="*/ 6962775 h 6962775"/>
              <a:gd name="connsiteX7" fmla="*/ 0 w 9334500"/>
              <a:gd name="connsiteY7" fmla="*/ 0 h 6962775"/>
              <a:gd name="connsiteX8" fmla="*/ 133350 w 9334500"/>
              <a:gd name="connsiteY8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5638800 w 9334500"/>
              <a:gd name="connsiteY3" fmla="*/ 1304925 h 6962775"/>
              <a:gd name="connsiteX4" fmla="*/ 9324975 w 9334500"/>
              <a:gd name="connsiteY4" fmla="*/ 2705100 h 6962775"/>
              <a:gd name="connsiteX5" fmla="*/ 9334500 w 9334500"/>
              <a:gd name="connsiteY5" fmla="*/ 6962775 h 6962775"/>
              <a:gd name="connsiteX6" fmla="*/ 0 w 9334500"/>
              <a:gd name="connsiteY6" fmla="*/ 6962775 h 6962775"/>
              <a:gd name="connsiteX7" fmla="*/ 0 w 9334500"/>
              <a:gd name="connsiteY7" fmla="*/ 0 h 6962775"/>
              <a:gd name="connsiteX8" fmla="*/ 133350 w 9334500"/>
              <a:gd name="connsiteY8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5638800 w 9334500"/>
              <a:gd name="connsiteY3" fmla="*/ 1304925 h 6962775"/>
              <a:gd name="connsiteX4" fmla="*/ 7067550 w 9334500"/>
              <a:gd name="connsiteY4" fmla="*/ 1838325 h 6962775"/>
              <a:gd name="connsiteX5" fmla="*/ 9324975 w 9334500"/>
              <a:gd name="connsiteY5" fmla="*/ 27051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5638800 w 9334500"/>
              <a:gd name="connsiteY3" fmla="*/ 1304925 h 6962775"/>
              <a:gd name="connsiteX4" fmla="*/ 5657850 w 9334500"/>
              <a:gd name="connsiteY4" fmla="*/ 5391150 h 6962775"/>
              <a:gd name="connsiteX5" fmla="*/ 9324975 w 9334500"/>
              <a:gd name="connsiteY5" fmla="*/ 27051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5638800 w 9334500"/>
              <a:gd name="connsiteY3" fmla="*/ 1304925 h 6962775"/>
              <a:gd name="connsiteX4" fmla="*/ 5657850 w 9334500"/>
              <a:gd name="connsiteY4" fmla="*/ 5391150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5638800 w 9334500"/>
              <a:gd name="connsiteY3" fmla="*/ 1304925 h 6962775"/>
              <a:gd name="connsiteX4" fmla="*/ 5619750 w 9334500"/>
              <a:gd name="connsiteY4" fmla="*/ 6048375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5638800 w 9334500"/>
              <a:gd name="connsiteY3" fmla="*/ 1304925 h 6962775"/>
              <a:gd name="connsiteX4" fmla="*/ 4895850 w 9334500"/>
              <a:gd name="connsiteY4" fmla="*/ 6048375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4895850 w 9334500"/>
              <a:gd name="connsiteY3" fmla="*/ 1314450 h 6962775"/>
              <a:gd name="connsiteX4" fmla="*/ 4895850 w 9334500"/>
              <a:gd name="connsiteY4" fmla="*/ 6048375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4905375 w 9334500"/>
              <a:gd name="connsiteY3" fmla="*/ 1381125 h 6962775"/>
              <a:gd name="connsiteX4" fmla="*/ 4895850 w 9334500"/>
              <a:gd name="connsiteY4" fmla="*/ 6048375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4162425 w 9334500"/>
              <a:gd name="connsiteY3" fmla="*/ 1400175 h 6962775"/>
              <a:gd name="connsiteX4" fmla="*/ 4895850 w 9334500"/>
              <a:gd name="connsiteY4" fmla="*/ 6048375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4305300 w 9334500"/>
              <a:gd name="connsiteY3" fmla="*/ 1390650 h 6962775"/>
              <a:gd name="connsiteX4" fmla="*/ 4895850 w 9334500"/>
              <a:gd name="connsiteY4" fmla="*/ 6048375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62075 h 6962775"/>
              <a:gd name="connsiteX3" fmla="*/ 4305300 w 9334500"/>
              <a:gd name="connsiteY3" fmla="*/ 1390650 h 6962775"/>
              <a:gd name="connsiteX4" fmla="*/ 4371975 w 9334500"/>
              <a:gd name="connsiteY4" fmla="*/ 6057900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90650 h 6962775"/>
              <a:gd name="connsiteX3" fmla="*/ 4305300 w 9334500"/>
              <a:gd name="connsiteY3" fmla="*/ 1390650 h 6962775"/>
              <a:gd name="connsiteX4" fmla="*/ 4371975 w 9334500"/>
              <a:gd name="connsiteY4" fmla="*/ 6057900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90650 h 6962775"/>
              <a:gd name="connsiteX3" fmla="*/ 4305300 w 9334500"/>
              <a:gd name="connsiteY3" fmla="*/ 1390650 h 6962775"/>
              <a:gd name="connsiteX4" fmla="*/ 4362450 w 9334500"/>
              <a:gd name="connsiteY4" fmla="*/ 4610100 h 6962775"/>
              <a:gd name="connsiteX5" fmla="*/ 9334500 w 9334500"/>
              <a:gd name="connsiteY5" fmla="*/ 6019800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90650 h 6962775"/>
              <a:gd name="connsiteX3" fmla="*/ 4305300 w 9334500"/>
              <a:gd name="connsiteY3" fmla="*/ 1390650 h 6962775"/>
              <a:gd name="connsiteX4" fmla="*/ 4362450 w 9334500"/>
              <a:gd name="connsiteY4" fmla="*/ 4610100 h 6962775"/>
              <a:gd name="connsiteX5" fmla="*/ 9286875 w 9334500"/>
              <a:gd name="connsiteY5" fmla="*/ 4619625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  <a:gd name="connsiteX0" fmla="*/ 133350 w 9334500"/>
              <a:gd name="connsiteY0" fmla="*/ 0 h 6962775"/>
              <a:gd name="connsiteX1" fmla="*/ 9334500 w 9334500"/>
              <a:gd name="connsiteY1" fmla="*/ 0 h 6962775"/>
              <a:gd name="connsiteX2" fmla="*/ 9334500 w 9334500"/>
              <a:gd name="connsiteY2" fmla="*/ 1390650 h 6962775"/>
              <a:gd name="connsiteX3" fmla="*/ 4352925 w 9334500"/>
              <a:gd name="connsiteY3" fmla="*/ 1390650 h 6962775"/>
              <a:gd name="connsiteX4" fmla="*/ 4362450 w 9334500"/>
              <a:gd name="connsiteY4" fmla="*/ 4610100 h 6962775"/>
              <a:gd name="connsiteX5" fmla="*/ 9286875 w 9334500"/>
              <a:gd name="connsiteY5" fmla="*/ 4619625 h 6962775"/>
              <a:gd name="connsiteX6" fmla="*/ 9334500 w 9334500"/>
              <a:gd name="connsiteY6" fmla="*/ 6962775 h 6962775"/>
              <a:gd name="connsiteX7" fmla="*/ 0 w 9334500"/>
              <a:gd name="connsiteY7" fmla="*/ 6962775 h 6962775"/>
              <a:gd name="connsiteX8" fmla="*/ 0 w 9334500"/>
              <a:gd name="connsiteY8" fmla="*/ 0 h 6962775"/>
              <a:gd name="connsiteX9" fmla="*/ 133350 w 9334500"/>
              <a:gd name="connsiteY9" fmla="*/ 0 h 696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34500" h="6962775">
                <a:moveTo>
                  <a:pt x="133350" y="0"/>
                </a:moveTo>
                <a:lnTo>
                  <a:pt x="9334500" y="0"/>
                </a:lnTo>
                <a:lnTo>
                  <a:pt x="9334500" y="1390650"/>
                </a:lnTo>
                <a:lnTo>
                  <a:pt x="4352925" y="1390650"/>
                </a:lnTo>
                <a:lnTo>
                  <a:pt x="4362450" y="4610100"/>
                </a:lnTo>
                <a:lnTo>
                  <a:pt x="9286875" y="4619625"/>
                </a:lnTo>
                <a:lnTo>
                  <a:pt x="9334500" y="6962775"/>
                </a:lnTo>
                <a:lnTo>
                  <a:pt x="0" y="6962775"/>
                </a:ln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>
            <a:srgbClr val="7A7A7A">
              <a:alpha val="5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arrotondato 34"/>
          <p:cNvSpPr/>
          <p:nvPr/>
        </p:nvSpPr>
        <p:spPr>
          <a:xfrm>
            <a:off x="4644122" y="1916832"/>
            <a:ext cx="3591108" cy="720080"/>
          </a:xfrm>
          <a:prstGeom prst="round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Nel C/C++ esistono solo le …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76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  <p:bldP spid="31" grpId="0" build="p"/>
      <p:bldP spid="3" grpId="0" animBg="1"/>
      <p:bldP spid="17" grpId="0"/>
      <p:bldP spid="18" grpId="0"/>
      <p:bldP spid="19" grpId="0" animBg="1"/>
      <p:bldP spid="25" grpId="0"/>
      <p:bldP spid="26" grpId="0"/>
      <p:bldP spid="28" grpId="0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Funzioni del C/C++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Esistono librerie di funzioni predefinite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sz="2400" dirty="0"/>
              <a:t>Standard (ANSI C)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sz="2400" dirty="0"/>
              <a:t>Non standard (es: </a:t>
            </a:r>
            <a:r>
              <a:rPr lang="it-IT" sz="2400" dirty="0" err="1"/>
              <a:t>conio.h</a:t>
            </a:r>
            <a:r>
              <a:rPr lang="it-IT" sz="2400" dirty="0"/>
              <a:t>, </a:t>
            </a:r>
            <a:r>
              <a:rPr lang="it-IT" sz="2400" dirty="0" err="1"/>
              <a:t>windows.h</a:t>
            </a:r>
            <a:r>
              <a:rPr lang="it-IT" sz="2400" dirty="0"/>
              <a:t>, </a:t>
            </a:r>
            <a:r>
              <a:rPr lang="it-IT" sz="2400" dirty="0" err="1"/>
              <a:t>ecc</a:t>
            </a:r>
            <a:r>
              <a:rPr lang="it-IT" sz="2400" dirty="0"/>
              <a:t>)</a:t>
            </a:r>
          </a:p>
          <a:p>
            <a:pPr marL="342900" indent="-342900">
              <a:buFont typeface="Arial" pitchFamily="34" charset="0"/>
              <a:buChar char="•"/>
            </a:pPr>
            <a:endParaRPr lang="it-IT" sz="2400" dirty="0"/>
          </a:p>
          <a:p>
            <a:r>
              <a:rPr lang="it-IT" sz="2400" dirty="0"/>
              <a:t>Possiamo definire funzioni personalizzate</a:t>
            </a:r>
          </a:p>
          <a:p>
            <a:endParaRPr lang="it-IT" sz="2400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819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Funzioni del C/C++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poter utilizzare una funzione è indispensabile</a:t>
            </a:r>
          </a:p>
          <a:p>
            <a:endParaRPr lang="it-IT" dirty="0"/>
          </a:p>
        </p:txBody>
      </p:sp>
      <p:graphicFrame>
        <p:nvGraphicFramePr>
          <p:cNvPr id="3" name="Diagramma 2"/>
          <p:cNvGraphicFramePr/>
          <p:nvPr>
            <p:extLst>
              <p:ext uri="{D42A27DB-BD31-4B8C-83A1-F6EECF244321}">
                <p14:modId xmlns:p14="http://schemas.microsoft.com/office/powerpoint/2010/main" val="3537251542"/>
              </p:ext>
            </p:extLst>
          </p:nvPr>
        </p:nvGraphicFramePr>
        <p:xfrm>
          <a:off x="611560" y="2420888"/>
          <a:ext cx="777686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140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843C75C-1EFE-4ECD-AFE7-649406AE64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D843C75C-1EFE-4ECD-AFE7-649406AE64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98A8954-E9C5-48D3-9C8E-70FC19EC35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B98A8954-E9C5-48D3-9C8E-70FC19EC35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F19C3D-1A21-4454-93F0-36750E9D5B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99F19C3D-1A21-4454-93F0-36750E9D5B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440EA-2BAE-46C2-9A6E-354BD51547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C1D440EA-2BAE-46C2-9A6E-354BD51547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DEB552-3F3E-448D-B907-66882EBE3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graphicEl>
                                              <a:dgm id="{5CDEB552-3F3E-448D-B907-66882EBE35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3FD8D0-0216-4429-A3DA-FA350CD1FF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graphicEl>
                                              <a:dgm id="{753FD8D0-0216-4429-A3DA-FA350CD1FF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2F347E8-5F77-4357-9E1A-0F46CCBEE9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graphicEl>
                                              <a:dgm id="{82F347E8-5F77-4357-9E1A-0F46CCBEE9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BF0125D-7022-4A00-8CB4-5A4CE5209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3BF0125D-7022-4A00-8CB4-5A4CE5209A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363272" cy="1371600"/>
          </a:xfrm>
        </p:spPr>
        <p:txBody>
          <a:bodyPr>
            <a:normAutofit/>
          </a:bodyPr>
          <a:lstStyle/>
          <a:p>
            <a:r>
              <a:rPr lang="it-IT" sz="4000" dirty="0"/>
              <a:t>Dichiarazione</a:t>
            </a:r>
            <a:r>
              <a:rPr lang="it-IT" dirty="0"/>
              <a:t/>
            </a:r>
            <a:br>
              <a:rPr lang="it-IT" dirty="0"/>
            </a:br>
            <a:r>
              <a:rPr lang="it-IT" sz="3200" dirty="0"/>
              <a:t>/ Firma (</a:t>
            </a:r>
            <a:r>
              <a:rPr lang="it-IT" sz="3200" i="1" cap="none" dirty="0" err="1"/>
              <a:t>signature</a:t>
            </a:r>
            <a:r>
              <a:rPr lang="it-IT" sz="3200" dirty="0"/>
              <a:t>) / Prototipo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628728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Istruisce il compilatore su: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>
                <a:solidFill>
                  <a:srgbClr val="00B0F0"/>
                </a:solidFill>
              </a:rPr>
              <a:t>Identificatore</a:t>
            </a:r>
            <a:r>
              <a:rPr lang="it-IT" dirty="0"/>
              <a:t> della funzione (nome)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>
                <a:solidFill>
                  <a:srgbClr val="00B0F0"/>
                </a:solidFill>
              </a:rPr>
              <a:t>Tipo Argomenti </a:t>
            </a:r>
            <a:r>
              <a:rPr lang="it-IT" dirty="0"/>
              <a:t>(parametri di input)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>
                <a:solidFill>
                  <a:srgbClr val="00B0F0"/>
                </a:solidFill>
              </a:rPr>
              <a:t>Tipo del valore </a:t>
            </a:r>
            <a:r>
              <a:rPr lang="it-IT" dirty="0"/>
              <a:t>di Ritorno </a:t>
            </a:r>
          </a:p>
          <a:p>
            <a:endParaRPr lang="it-IT" dirty="0"/>
          </a:p>
          <a:p>
            <a:r>
              <a:rPr lang="it-IT" dirty="0"/>
              <a:t>NB. </a:t>
            </a:r>
            <a:r>
              <a:rPr lang="it-IT" sz="2400" b="0" dirty="0">
                <a:solidFill>
                  <a:srgbClr val="FF0000"/>
                </a:solidFill>
              </a:rPr>
              <a:t>La dichiarazione deve precedere la chiamata!</a:t>
            </a:r>
          </a:p>
          <a:p>
            <a:pPr marL="342900" indent="-342900"/>
            <a:r>
              <a:rPr lang="it-IT" dirty="0"/>
              <a:t>Esempi:</a:t>
            </a:r>
          </a:p>
          <a:p>
            <a:pPr marL="800100" lvl="1" indent="-342900">
              <a:lnSpc>
                <a:spcPct val="160000"/>
              </a:lnSpc>
            </a:pP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power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 base, 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exp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800100" lvl="1" indent="-342900">
              <a:lnSpc>
                <a:spcPct val="160000"/>
              </a:lnSpc>
            </a:pP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goToXY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 Y);</a:t>
            </a:r>
          </a:p>
          <a:p>
            <a:pPr marL="800100" lvl="1" indent="-342900">
              <a:lnSpc>
                <a:spcPct val="160000"/>
              </a:lnSpc>
            </a:pP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alarm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b="0" spc="3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800" b="0" spc="3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800100" lvl="1" indent="-342900">
              <a:lnSpc>
                <a:spcPct val="160000"/>
              </a:lnSpc>
            </a:pPr>
            <a:r>
              <a:rPr lang="it-IT" sz="1800" spc="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spc="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spc="300" dirty="0" err="1">
                <a:latin typeface="Courier New" pitchFamily="49" charset="0"/>
                <a:cs typeface="Courier New" pitchFamily="49" charset="0"/>
              </a:rPr>
              <a:t>factorial</a:t>
            </a:r>
            <a:r>
              <a:rPr lang="it-IT" sz="1800" spc="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spc="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spc="300" dirty="0">
                <a:latin typeface="Courier New" pitchFamily="49" charset="0"/>
                <a:cs typeface="Courier New" pitchFamily="49" charset="0"/>
              </a:rPr>
              <a:t>);</a:t>
            </a:r>
            <a:endParaRPr lang="it-IT" sz="1800" b="0" spc="300" dirty="0">
              <a:latin typeface="Courier New" pitchFamily="49" charset="0"/>
              <a:cs typeface="Courier New" pitchFamily="49" charset="0"/>
            </a:endParaRPr>
          </a:p>
          <a:p>
            <a:pPr marL="342900" indent="-342900"/>
            <a:endParaRPr lang="it-IT" b="0" spc="3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3733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03232" cy="1371600"/>
          </a:xfrm>
        </p:spPr>
        <p:txBody>
          <a:bodyPr/>
          <a:lstStyle/>
          <a:p>
            <a:r>
              <a:rPr lang="it-IT" dirty="0"/>
              <a:t>Definizione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Istruisce il compilatore su: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/>
              <a:t>Cosa fa la funzione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/>
              <a:t>Come lo fa</a:t>
            </a:r>
          </a:p>
          <a:p>
            <a:r>
              <a:rPr lang="it-IT" dirty="0"/>
              <a:t>E’ composta da: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>
                <a:solidFill>
                  <a:srgbClr val="00B0F0"/>
                </a:solidFill>
              </a:rPr>
              <a:t>Intestazione</a:t>
            </a:r>
            <a:r>
              <a:rPr lang="it-IT" dirty="0"/>
              <a:t>: </a:t>
            </a:r>
          </a:p>
          <a:p>
            <a:pPr marL="800100" lvl="1" indent="-342900"/>
            <a:r>
              <a:rPr lang="it-IT" dirty="0"/>
              <a:t>simile alla dichiarazione ma al posto del ‘;’ si apre la graffa;</a:t>
            </a:r>
          </a:p>
          <a:p>
            <a:pPr marL="800100" lvl="1" indent="-342900"/>
            <a:r>
              <a:rPr lang="it-IT" dirty="0"/>
              <a:t>Contiene gli </a:t>
            </a:r>
            <a:r>
              <a:rPr lang="it-IT" b="1" dirty="0">
                <a:solidFill>
                  <a:srgbClr val="00B0F0"/>
                </a:solidFill>
              </a:rPr>
              <a:t>Identificatori degli argomenti</a:t>
            </a:r>
            <a:r>
              <a:rPr lang="it-IT" b="1" dirty="0"/>
              <a:t> (</a:t>
            </a:r>
            <a:r>
              <a:rPr lang="it-IT" b="1" dirty="0" err="1">
                <a:solidFill>
                  <a:srgbClr val="FF0000"/>
                </a:solidFill>
              </a:rPr>
              <a:t>paremetri</a:t>
            </a:r>
            <a:r>
              <a:rPr lang="it-IT" b="1" dirty="0">
                <a:solidFill>
                  <a:srgbClr val="FF0000"/>
                </a:solidFill>
              </a:rPr>
              <a:t> formali</a:t>
            </a:r>
            <a:r>
              <a:rPr lang="it-IT" b="1" dirty="0"/>
              <a:t>)</a:t>
            </a:r>
            <a:r>
              <a:rPr lang="it-IT" dirty="0"/>
              <a:t>: sono </a:t>
            </a:r>
            <a:r>
              <a:rPr lang="it-IT" b="1" dirty="0">
                <a:solidFill>
                  <a:srgbClr val="00B0F0"/>
                </a:solidFill>
              </a:rPr>
              <a:t>variabili</a:t>
            </a:r>
            <a:r>
              <a:rPr lang="it-IT" dirty="0"/>
              <a:t> della funzione sono </a:t>
            </a:r>
            <a:r>
              <a:rPr lang="it-IT" dirty="0">
                <a:solidFill>
                  <a:schemeClr val="accent5"/>
                </a:solidFill>
              </a:rPr>
              <a:t>obbligatori</a:t>
            </a:r>
            <a:r>
              <a:rPr lang="it-IT" dirty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>
                <a:solidFill>
                  <a:srgbClr val="00B0F0"/>
                </a:solidFill>
              </a:rPr>
              <a:t>Corpo</a:t>
            </a:r>
            <a:r>
              <a:rPr lang="it-IT" dirty="0"/>
              <a:t> della funzione: </a:t>
            </a:r>
          </a:p>
          <a:p>
            <a:pPr marL="800100" lvl="1" indent="-342900"/>
            <a:r>
              <a:rPr lang="it-IT" b="0" dirty="0"/>
              <a:t>è la sequenza di istruzioni che esegue la funzione e può contenere dichiarazioni di variabili;</a:t>
            </a:r>
          </a:p>
          <a:p>
            <a:pPr marL="800100" lvl="1" indent="-342900"/>
            <a:r>
              <a:rPr lang="it-IT" dirty="0"/>
              <a:t>Contiene l’</a:t>
            </a:r>
            <a:r>
              <a:rPr lang="it-IT" dirty="0">
                <a:solidFill>
                  <a:srgbClr val="00B0F0"/>
                </a:solidFill>
              </a:rPr>
              <a:t>istruzione di uscita </a:t>
            </a:r>
            <a:r>
              <a:rPr lang="it-IT" dirty="0"/>
              <a:t>dalla funzione: </a:t>
            </a:r>
            <a:r>
              <a:rPr lang="it-IT" b="1" i="1" dirty="0" err="1">
                <a:latin typeface="Courier Std" pitchFamily="49" charset="0"/>
              </a:rPr>
              <a:t>return</a:t>
            </a:r>
            <a:r>
              <a:rPr lang="it-IT" dirty="0"/>
              <a:t>.</a:t>
            </a:r>
            <a:endParaRPr lang="it-IT" b="0" dirty="0"/>
          </a:p>
          <a:p>
            <a:pPr marL="342900" indent="-342900"/>
            <a:endParaRPr lang="it-IT" b="0" spc="3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878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988840"/>
            <a:ext cx="7620000" cy="4137323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power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base,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exp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)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{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Res;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for(Res=1 ;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exp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&gt;0;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exp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--)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{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    Res*=base;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}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	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return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Res;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899592" y="1916832"/>
            <a:ext cx="4536504" cy="50405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arrotondato 4"/>
          <p:cNvSpPr/>
          <p:nvPr/>
        </p:nvSpPr>
        <p:spPr>
          <a:xfrm>
            <a:off x="5436096" y="1909614"/>
            <a:ext cx="2448272" cy="50405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rgbClr val="00B0F0"/>
                </a:solidFill>
                <a:latin typeface="Courier Std" pitchFamily="49" charset="0"/>
              </a:rPr>
              <a:t>//Intestazione</a:t>
            </a:r>
          </a:p>
        </p:txBody>
      </p:sp>
      <p:sp>
        <p:nvSpPr>
          <p:cNvPr id="6" name="Rettangolo arrotondato 5"/>
          <p:cNvSpPr/>
          <p:nvPr/>
        </p:nvSpPr>
        <p:spPr>
          <a:xfrm>
            <a:off x="1475656" y="2708920"/>
            <a:ext cx="4680520" cy="2736304"/>
          </a:xfrm>
          <a:prstGeom prst="roundRect">
            <a:avLst>
              <a:gd name="adj" fmla="val 7616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arrotondato 6"/>
          <p:cNvSpPr/>
          <p:nvPr/>
        </p:nvSpPr>
        <p:spPr>
          <a:xfrm>
            <a:off x="6156176" y="2708920"/>
            <a:ext cx="2448272" cy="50405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rgbClr val="00B0F0"/>
                </a:solidFill>
                <a:latin typeface="Courier Std" pitchFamily="49" charset="0"/>
              </a:rPr>
              <a:t>//Corpo</a:t>
            </a:r>
          </a:p>
        </p:txBody>
      </p:sp>
      <p:sp>
        <p:nvSpPr>
          <p:cNvPr id="8" name="Rettangolo arrotondato 7"/>
          <p:cNvSpPr/>
          <p:nvPr/>
        </p:nvSpPr>
        <p:spPr>
          <a:xfrm>
            <a:off x="1547664" y="4869160"/>
            <a:ext cx="1951260" cy="432048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arrotondato 8"/>
          <p:cNvSpPr/>
          <p:nvPr/>
        </p:nvSpPr>
        <p:spPr>
          <a:xfrm>
            <a:off x="3498924" y="4869160"/>
            <a:ext cx="2657252" cy="4320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// Istruzione di uscita</a:t>
            </a:r>
          </a:p>
        </p:txBody>
      </p:sp>
      <p:sp>
        <p:nvSpPr>
          <p:cNvPr id="10" name="Rettangolo arrotondato 9"/>
          <p:cNvSpPr/>
          <p:nvPr/>
        </p:nvSpPr>
        <p:spPr>
          <a:xfrm>
            <a:off x="2435771" y="5805264"/>
            <a:ext cx="6312693" cy="98452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it-IT" sz="1600" b="1" u="sng" dirty="0"/>
              <a:t>Esercizio</a:t>
            </a:r>
          </a:p>
          <a:p>
            <a:r>
              <a:rPr lang="it-IT" sz="1600" i="1" dirty="0"/>
              <a:t>Definire una funzione convertitore </a:t>
            </a:r>
            <a:r>
              <a:rPr lang="it-IT" sz="1600" b="1" i="1" dirty="0">
                <a:latin typeface="Courier Std" pitchFamily="49" charset="0"/>
              </a:rPr>
              <a:t>euro2lire</a:t>
            </a:r>
            <a:r>
              <a:rPr lang="it-IT" sz="1600" i="1" dirty="0"/>
              <a:t>: in ingresso prende un valore in lire, in uscita fornisce l’equivalente in euro.</a:t>
            </a:r>
          </a:p>
        </p:txBody>
      </p:sp>
      <p:grpSp>
        <p:nvGrpSpPr>
          <p:cNvPr id="26" name="Gruppo 25"/>
          <p:cNvGrpSpPr/>
          <p:nvPr/>
        </p:nvGrpSpPr>
        <p:grpSpPr>
          <a:xfrm>
            <a:off x="3005826" y="476672"/>
            <a:ext cx="4035525" cy="1908212"/>
            <a:chOff x="3005826" y="476672"/>
            <a:chExt cx="4035525" cy="1908212"/>
          </a:xfrm>
        </p:grpSpPr>
        <p:sp>
          <p:nvSpPr>
            <p:cNvPr id="12" name="Ovale 11"/>
            <p:cNvSpPr/>
            <p:nvPr/>
          </p:nvSpPr>
          <p:spPr>
            <a:xfrm>
              <a:off x="3005826" y="2060848"/>
              <a:ext cx="846094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Rettangolo arrotondato 12"/>
            <p:cNvSpPr/>
            <p:nvPr/>
          </p:nvSpPr>
          <p:spPr>
            <a:xfrm>
              <a:off x="5104179" y="476672"/>
              <a:ext cx="1937172" cy="432048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>
                  <a:solidFill>
                    <a:schemeClr val="accent5"/>
                  </a:solidFill>
                  <a:latin typeface="+mj-lt"/>
                </a:rPr>
                <a:t>Parametri FORMALI</a:t>
              </a:r>
            </a:p>
          </p:txBody>
        </p:sp>
        <p:sp>
          <p:nvSpPr>
            <p:cNvPr id="14" name="Ovale 13"/>
            <p:cNvSpPr/>
            <p:nvPr/>
          </p:nvSpPr>
          <p:spPr>
            <a:xfrm>
              <a:off x="4572000" y="2060848"/>
              <a:ext cx="648072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5" name="Connettore 2 14"/>
            <p:cNvCxnSpPr>
              <a:stCxn id="12" idx="7"/>
            </p:cNvCxnSpPr>
            <p:nvPr/>
          </p:nvCxnSpPr>
          <p:spPr>
            <a:xfrm flipV="1">
              <a:off x="3728012" y="908720"/>
              <a:ext cx="1780092" cy="119958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Connettore 2 15"/>
            <p:cNvCxnSpPr>
              <a:stCxn id="14" idx="7"/>
            </p:cNvCxnSpPr>
            <p:nvPr/>
          </p:nvCxnSpPr>
          <p:spPr>
            <a:xfrm flipV="1">
              <a:off x="5125164" y="980728"/>
              <a:ext cx="598964" cy="112757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1" name="Segnaposto numero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81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1371600"/>
          </a:xfrm>
        </p:spPr>
        <p:txBody>
          <a:bodyPr/>
          <a:lstStyle/>
          <a:p>
            <a:r>
              <a:rPr lang="it-IT" dirty="0"/>
              <a:t>Chiamata o Invocazione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539552" y="1574800"/>
            <a:ext cx="4382968" cy="4806528"/>
          </a:xfrm>
        </p:spPr>
        <p:txBody>
          <a:bodyPr>
            <a:norm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it-IT" sz="2000" b="0" dirty="0"/>
              <a:t>Il controllo dell’esecuzione passa dal chiamante al chiamato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it-IT" sz="2000" b="0" dirty="0"/>
              <a:t>Causa l’esecuzione delle istruzioni contenute nella definizione della funzione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it-IT" sz="2000" b="0" dirty="0"/>
              <a:t>Al termine dell’esecuzione (istruzione </a:t>
            </a:r>
            <a:r>
              <a:rPr lang="it-IT" sz="2000" b="0" i="1" dirty="0" err="1"/>
              <a:t>return</a:t>
            </a:r>
            <a:r>
              <a:rPr lang="it-IT" sz="2000" b="0" dirty="0"/>
              <a:t>) il controllo torna al chiamante, all’istruzione successiva a </a:t>
            </a:r>
            <a:r>
              <a:rPr lang="it-IT" sz="2000" b="0" dirty="0" err="1"/>
              <a:t>a</a:t>
            </a:r>
            <a:r>
              <a:rPr lang="it-IT" sz="2000" b="0" dirty="0"/>
              <a:t> quella che ha determinato la chiamata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98" t="37590" r="19307" b="8411"/>
          <a:stretch/>
        </p:blipFill>
        <p:spPr bwMode="auto">
          <a:xfrm>
            <a:off x="4889378" y="1556792"/>
            <a:ext cx="4069631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120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Chiamata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«attivare» una funzione nel codice principale è necessario: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>
                <a:solidFill>
                  <a:srgbClr val="00B0F0"/>
                </a:solidFill>
              </a:rPr>
              <a:t>Identificatore</a:t>
            </a:r>
            <a:r>
              <a:rPr lang="it-IT" dirty="0"/>
              <a:t> della funzione;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/>
              <a:t>tra parentesi, l’</a:t>
            </a:r>
            <a:r>
              <a:rPr lang="it-IT" dirty="0">
                <a:solidFill>
                  <a:srgbClr val="00B0F0"/>
                </a:solidFill>
              </a:rPr>
              <a:t>elenco dei parametri </a:t>
            </a:r>
            <a:r>
              <a:rPr lang="it-IT" dirty="0"/>
              <a:t>di input (</a:t>
            </a:r>
            <a:r>
              <a:rPr lang="it-IT" dirty="0">
                <a:solidFill>
                  <a:srgbClr val="FF0000"/>
                </a:solidFill>
              </a:rPr>
              <a:t>parametri attuali</a:t>
            </a:r>
            <a:r>
              <a:rPr lang="it-IT" dirty="0"/>
              <a:t>) separati da virgole.</a:t>
            </a:r>
          </a:p>
          <a:p>
            <a:pPr marL="342900" indent="-342900">
              <a:buFont typeface="Arial" pitchFamily="34" charset="0"/>
              <a:buChar char="•"/>
            </a:pPr>
            <a:endParaRPr lang="it-IT" dirty="0"/>
          </a:p>
          <a:p>
            <a:r>
              <a:rPr lang="it-IT" dirty="0"/>
              <a:t>NB. </a:t>
            </a:r>
            <a:r>
              <a:rPr lang="it-IT" b="0" dirty="0">
                <a:solidFill>
                  <a:schemeClr val="accent5"/>
                </a:solidFill>
              </a:rPr>
              <a:t>I parametri attuali devono corrispondere per tipo e numero ai parametri formali, altrimenti il compilatore produrrà un</a:t>
            </a:r>
            <a:r>
              <a:rPr lang="it-IT" b="0" i="1" dirty="0">
                <a:solidFill>
                  <a:schemeClr val="accent5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  <a:latin typeface="Courier Std" pitchFamily="49" charset="0"/>
              </a:rPr>
              <a:t>Error</a:t>
            </a:r>
            <a:r>
              <a:rPr lang="it-IT" b="0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6781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Chiamata: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988840"/>
            <a:ext cx="7620000" cy="4536504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#include&lt;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stdio.h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&gt;</a:t>
            </a:r>
          </a:p>
          <a:p>
            <a:pPr lvl="1" indent="0">
              <a:buNone/>
            </a:pPr>
            <a:endParaRPr lang="it-IT" b="1" dirty="0">
              <a:latin typeface="Courier Std" pitchFamily="49" charset="0"/>
              <a:cs typeface="Courier New" pitchFamily="49" charset="0"/>
            </a:endParaRPr>
          </a:p>
          <a:p>
            <a:pPr lvl="1" indent="0">
              <a:buNone/>
            </a:pP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power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base,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exp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);</a:t>
            </a:r>
          </a:p>
          <a:p>
            <a:pPr lvl="1" indent="0">
              <a:buNone/>
            </a:pPr>
            <a:endParaRPr lang="it-IT" b="1" dirty="0">
              <a:latin typeface="Courier Std" pitchFamily="49" charset="0"/>
              <a:cs typeface="Courier New" pitchFamily="49" charset="0"/>
            </a:endParaRPr>
          </a:p>
          <a:p>
            <a:pPr lvl="1" indent="0">
              <a:buNone/>
            </a:pP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main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void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)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{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val, a=2, c=3;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...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val =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power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(a, c);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	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printf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</a:t>
            </a:r>
            <a:r>
              <a:rPr lang="it-IT" b="1" dirty="0">
                <a:latin typeface="Courier New"/>
                <a:cs typeface="Courier New"/>
              </a:rPr>
              <a:t>"\</a:t>
            </a:r>
            <a:r>
              <a:rPr lang="it-IT" b="1" dirty="0" err="1">
                <a:latin typeface="Courier New"/>
                <a:cs typeface="Courier New"/>
              </a:rPr>
              <a:t>n%d</a:t>
            </a:r>
            <a:r>
              <a:rPr lang="it-IT" b="1" dirty="0">
                <a:latin typeface="Courier New"/>
                <a:cs typeface="Courier New"/>
              </a:rPr>
              <a:t>^%d = %d", a, b, val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);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return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0;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1462280" y="4861942"/>
            <a:ext cx="3029966" cy="43926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arrotondato 4"/>
          <p:cNvSpPr/>
          <p:nvPr/>
        </p:nvSpPr>
        <p:spPr>
          <a:xfrm>
            <a:off x="4492246" y="4861942"/>
            <a:ext cx="3810794" cy="4320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rgbClr val="00B0F0"/>
                </a:solidFill>
                <a:latin typeface="Courier Std" pitchFamily="49" charset="0"/>
              </a:rPr>
              <a:t>//Chiamata + assegnazione</a:t>
            </a:r>
          </a:p>
        </p:txBody>
      </p:sp>
      <p:grpSp>
        <p:nvGrpSpPr>
          <p:cNvPr id="19" name="Gruppo 18"/>
          <p:cNvGrpSpPr/>
          <p:nvPr/>
        </p:nvGrpSpPr>
        <p:grpSpPr>
          <a:xfrm>
            <a:off x="2850852" y="4965923"/>
            <a:ext cx="1937172" cy="1656184"/>
            <a:chOff x="2828621" y="3501008"/>
            <a:chExt cx="1937172" cy="1656184"/>
          </a:xfrm>
        </p:grpSpPr>
        <p:sp>
          <p:nvSpPr>
            <p:cNvPr id="11" name="Ovale 10"/>
            <p:cNvSpPr/>
            <p:nvPr/>
          </p:nvSpPr>
          <p:spPr>
            <a:xfrm>
              <a:off x="3383868" y="3501008"/>
              <a:ext cx="324036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ttangolo arrotondato 11"/>
            <p:cNvSpPr/>
            <p:nvPr/>
          </p:nvSpPr>
          <p:spPr>
            <a:xfrm>
              <a:off x="2828621" y="4725144"/>
              <a:ext cx="1937172" cy="432048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>
                  <a:solidFill>
                    <a:schemeClr val="accent5"/>
                  </a:solidFill>
                  <a:latin typeface="+mj-lt"/>
                </a:rPr>
                <a:t>Parametri ATTUALI</a:t>
              </a:r>
            </a:p>
          </p:txBody>
        </p:sp>
        <p:sp>
          <p:nvSpPr>
            <p:cNvPr id="14" name="Ovale 13"/>
            <p:cNvSpPr/>
            <p:nvPr/>
          </p:nvSpPr>
          <p:spPr>
            <a:xfrm>
              <a:off x="3797207" y="3501008"/>
              <a:ext cx="324036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6" name="Connettore 2 15"/>
            <p:cNvCxnSpPr>
              <a:stCxn id="11" idx="4"/>
            </p:cNvCxnSpPr>
            <p:nvPr/>
          </p:nvCxnSpPr>
          <p:spPr>
            <a:xfrm>
              <a:off x="3545886" y="3825044"/>
              <a:ext cx="0" cy="8280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7" name="Connettore 2 16"/>
            <p:cNvCxnSpPr>
              <a:stCxn id="14" idx="4"/>
            </p:cNvCxnSpPr>
            <p:nvPr/>
          </p:nvCxnSpPr>
          <p:spPr>
            <a:xfrm>
              <a:off x="3959225" y="3825044"/>
              <a:ext cx="2586" cy="8280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0" name="Rettangolo arrotondato 19"/>
          <p:cNvSpPr/>
          <p:nvPr/>
        </p:nvSpPr>
        <p:spPr>
          <a:xfrm>
            <a:off x="951490" y="2708920"/>
            <a:ext cx="4628622" cy="43926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arrotondato 20"/>
          <p:cNvSpPr/>
          <p:nvPr/>
        </p:nvSpPr>
        <p:spPr>
          <a:xfrm>
            <a:off x="5724128" y="2708920"/>
            <a:ext cx="2808312" cy="4320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rgbClr val="00B0F0"/>
                </a:solidFill>
                <a:latin typeface="Courier Std" pitchFamily="49" charset="0"/>
              </a:rPr>
              <a:t>//Dichiarazione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388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  <p:bldP spid="5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Chiamata: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988840"/>
            <a:ext cx="7620000" cy="4536504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#include&lt;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stdio.h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&gt;</a:t>
            </a:r>
          </a:p>
          <a:p>
            <a:pPr lvl="1" indent="0">
              <a:buNone/>
            </a:pPr>
            <a:endParaRPr lang="it-IT" b="1" dirty="0">
              <a:latin typeface="Courier Std" pitchFamily="49" charset="0"/>
              <a:cs typeface="Courier New" pitchFamily="49" charset="0"/>
            </a:endParaRPr>
          </a:p>
          <a:p>
            <a:pPr lvl="1" indent="0">
              <a:buNone/>
            </a:pP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power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base,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exp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);</a:t>
            </a:r>
          </a:p>
          <a:p>
            <a:pPr lvl="1" indent="0">
              <a:buNone/>
            </a:pPr>
            <a:endParaRPr lang="it-IT" b="1" dirty="0">
              <a:latin typeface="Courier Std" pitchFamily="49" charset="0"/>
              <a:cs typeface="Courier New" pitchFamily="49" charset="0"/>
            </a:endParaRPr>
          </a:p>
          <a:p>
            <a:pPr lvl="1" indent="0">
              <a:buNone/>
            </a:pP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main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void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)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{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int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val, a=2, c=3;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...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val =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power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(a, c);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	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printf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(</a:t>
            </a:r>
            <a:r>
              <a:rPr lang="it-IT" b="1" dirty="0">
                <a:latin typeface="Courier New"/>
                <a:cs typeface="Courier New"/>
              </a:rPr>
              <a:t>"\</a:t>
            </a:r>
            <a:r>
              <a:rPr lang="it-IT" b="1" dirty="0" err="1">
                <a:latin typeface="Courier New"/>
                <a:cs typeface="Courier New"/>
              </a:rPr>
              <a:t>n%d</a:t>
            </a:r>
            <a:r>
              <a:rPr lang="it-IT" b="1" dirty="0">
                <a:latin typeface="Courier New"/>
                <a:cs typeface="Courier New"/>
              </a:rPr>
              <a:t>^%d = %d", a, b, val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);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    </a:t>
            </a:r>
            <a:r>
              <a:rPr lang="it-IT" b="1" dirty="0" err="1">
                <a:latin typeface="Courier Std" pitchFamily="49" charset="0"/>
                <a:cs typeface="Courier New" pitchFamily="49" charset="0"/>
              </a:rPr>
              <a:t>return</a:t>
            </a:r>
            <a:r>
              <a:rPr lang="it-IT" b="1" dirty="0">
                <a:latin typeface="Courier Std" pitchFamily="49" charset="0"/>
                <a:cs typeface="Courier New" pitchFamily="49" charset="0"/>
              </a:rPr>
              <a:t> 0;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1462280" y="4861942"/>
            <a:ext cx="3029966" cy="43926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arrotondato 4"/>
          <p:cNvSpPr/>
          <p:nvPr/>
        </p:nvSpPr>
        <p:spPr>
          <a:xfrm>
            <a:off x="4492246" y="4861942"/>
            <a:ext cx="3810794" cy="4320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rgbClr val="00B0F0"/>
                </a:solidFill>
                <a:latin typeface="Courier Std" pitchFamily="49" charset="0"/>
              </a:rPr>
              <a:t>//Chiamata + assegnazione</a:t>
            </a:r>
          </a:p>
        </p:txBody>
      </p:sp>
      <p:grpSp>
        <p:nvGrpSpPr>
          <p:cNvPr id="19" name="Gruppo 18"/>
          <p:cNvGrpSpPr/>
          <p:nvPr/>
        </p:nvGrpSpPr>
        <p:grpSpPr>
          <a:xfrm>
            <a:off x="2850852" y="4965923"/>
            <a:ext cx="1937172" cy="1656184"/>
            <a:chOff x="2828621" y="3501008"/>
            <a:chExt cx="1937172" cy="1656184"/>
          </a:xfrm>
        </p:grpSpPr>
        <p:sp>
          <p:nvSpPr>
            <p:cNvPr id="11" name="Ovale 10"/>
            <p:cNvSpPr/>
            <p:nvPr/>
          </p:nvSpPr>
          <p:spPr>
            <a:xfrm>
              <a:off x="3383868" y="3501008"/>
              <a:ext cx="324036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ttangolo arrotondato 11"/>
            <p:cNvSpPr/>
            <p:nvPr/>
          </p:nvSpPr>
          <p:spPr>
            <a:xfrm>
              <a:off x="2828621" y="4725144"/>
              <a:ext cx="1937172" cy="432048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>
                  <a:solidFill>
                    <a:schemeClr val="accent5"/>
                  </a:solidFill>
                  <a:latin typeface="+mj-lt"/>
                </a:rPr>
                <a:t>Parametri ATTUALI</a:t>
              </a:r>
            </a:p>
          </p:txBody>
        </p:sp>
        <p:sp>
          <p:nvSpPr>
            <p:cNvPr id="14" name="Ovale 13"/>
            <p:cNvSpPr/>
            <p:nvPr/>
          </p:nvSpPr>
          <p:spPr>
            <a:xfrm>
              <a:off x="3797207" y="3501008"/>
              <a:ext cx="324036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6" name="Connettore 2 15"/>
            <p:cNvCxnSpPr>
              <a:stCxn id="11" idx="4"/>
            </p:cNvCxnSpPr>
            <p:nvPr/>
          </p:nvCxnSpPr>
          <p:spPr>
            <a:xfrm>
              <a:off x="3545886" y="3825044"/>
              <a:ext cx="0" cy="8280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7" name="Connettore 2 16"/>
            <p:cNvCxnSpPr>
              <a:stCxn id="14" idx="4"/>
            </p:cNvCxnSpPr>
            <p:nvPr/>
          </p:nvCxnSpPr>
          <p:spPr>
            <a:xfrm>
              <a:off x="3959225" y="3825044"/>
              <a:ext cx="2586" cy="8280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0" name="Rettangolo arrotondato 19"/>
          <p:cNvSpPr/>
          <p:nvPr/>
        </p:nvSpPr>
        <p:spPr>
          <a:xfrm>
            <a:off x="951490" y="2708920"/>
            <a:ext cx="4628622" cy="43926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arrotondato 20"/>
          <p:cNvSpPr/>
          <p:nvPr/>
        </p:nvSpPr>
        <p:spPr>
          <a:xfrm>
            <a:off x="5724128" y="2708920"/>
            <a:ext cx="2808312" cy="4320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rgbClr val="00B0F0"/>
                </a:solidFill>
                <a:latin typeface="Courier Std" pitchFamily="49" charset="0"/>
              </a:rPr>
              <a:t>//Dichiarazione</a:t>
            </a:r>
          </a:p>
        </p:txBody>
      </p:sp>
      <p:sp>
        <p:nvSpPr>
          <p:cNvPr id="15" name="Rettangolo arrotondato 14"/>
          <p:cNvSpPr/>
          <p:nvPr/>
        </p:nvSpPr>
        <p:spPr>
          <a:xfrm>
            <a:off x="3025607" y="3284984"/>
            <a:ext cx="5277434" cy="184295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it-IT" b="1" u="sng" dirty="0"/>
              <a:t>Esercizio</a:t>
            </a:r>
          </a:p>
          <a:p>
            <a:pPr>
              <a:lnSpc>
                <a:spcPct val="150000"/>
              </a:lnSpc>
            </a:pPr>
            <a:r>
              <a:rPr lang="it-IT" i="1" dirty="0"/>
              <a:t>Scrivere un programma che dato un valore in euro inserito da tastiera lo converte in lire usando la funzione </a:t>
            </a: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Std" pitchFamily="49" charset="0"/>
              </a:rPr>
              <a:t>euro2lire</a:t>
            </a:r>
            <a:r>
              <a:rPr lang="it-IT" i="1" dirty="0"/>
              <a:t>.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921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Visibilità delle funzioni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it-IT" sz="1800" dirty="0"/>
              <a:t>Le funzioni devono essere dichiarate fuori dal  </a:t>
            </a:r>
            <a:r>
              <a:rPr lang="it-IT" sz="1800" dirty="0" err="1">
                <a:latin typeface="Courier Std" pitchFamily="49" charset="0"/>
              </a:rPr>
              <a:t>main</a:t>
            </a:r>
            <a:r>
              <a:rPr lang="it-IT" sz="1800" dirty="0">
                <a:latin typeface="Courier Std" pitchFamily="49" charset="0"/>
              </a:rPr>
              <a:t>()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sz="1800" dirty="0"/>
              <a:t>Prima di essere attivata una funzione deve essere </a:t>
            </a:r>
            <a:r>
              <a:rPr lang="it-IT" sz="1800" dirty="0">
                <a:solidFill>
                  <a:srgbClr val="00B0F0"/>
                </a:solidFill>
              </a:rPr>
              <a:t>definita</a:t>
            </a:r>
            <a:r>
              <a:rPr lang="it-IT" sz="1800" dirty="0"/>
              <a:t> o </a:t>
            </a:r>
            <a:r>
              <a:rPr lang="it-IT" sz="1800" dirty="0">
                <a:solidFill>
                  <a:srgbClr val="00B0F0"/>
                </a:solidFill>
              </a:rPr>
              <a:t>dichiarata</a:t>
            </a:r>
            <a:r>
              <a:rPr lang="it-IT" sz="1800" dirty="0"/>
              <a:t> il compilatore deve controllare che i parametri formali corrispondano (per numero e tipo) ai parametri attuali.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395536" y="3284984"/>
            <a:ext cx="5976664" cy="3479408"/>
            <a:chOff x="395536" y="3284984"/>
            <a:chExt cx="5976664" cy="3479408"/>
          </a:xfrm>
        </p:grpSpPr>
        <p:sp>
          <p:nvSpPr>
            <p:cNvPr id="4" name="CasellaDiTesto 3"/>
            <p:cNvSpPr txBox="1"/>
            <p:nvPr/>
          </p:nvSpPr>
          <p:spPr>
            <a:xfrm>
              <a:off x="971600" y="3655673"/>
              <a:ext cx="5400600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dirty="0">
                  <a:latin typeface="Courier Std" pitchFamily="49" charset="0"/>
                </a:rPr>
                <a:t>#include &lt;</a:t>
              </a:r>
              <a:r>
                <a:rPr lang="it-IT" sz="1400" b="1" dirty="0" err="1">
                  <a:latin typeface="Courier Std" pitchFamily="49" charset="0"/>
                </a:rPr>
                <a:t>stdio.h</a:t>
              </a:r>
              <a:r>
                <a:rPr lang="it-IT" sz="1400" b="1" dirty="0">
                  <a:latin typeface="Courier Std" pitchFamily="49" charset="0"/>
                </a:rPr>
                <a:t>&gt;</a:t>
              </a:r>
            </a:p>
            <a:p>
              <a:endParaRPr lang="it-IT" sz="1400" b="1" dirty="0">
                <a:latin typeface="Courier Std" pitchFamily="49" charset="0"/>
              </a:endParaRPr>
            </a:p>
            <a:p>
              <a:r>
                <a:rPr lang="it-IT" sz="1400" b="1" dirty="0" err="1">
                  <a:latin typeface="Courier Std" pitchFamily="49" charset="0"/>
                </a:rPr>
                <a:t>int</a:t>
              </a:r>
              <a:r>
                <a:rPr lang="it-IT" sz="1400" b="1" dirty="0">
                  <a:latin typeface="Courier Std" pitchFamily="49" charset="0"/>
                </a:rPr>
                <a:t> </a:t>
              </a:r>
              <a:r>
                <a:rPr lang="it-IT" sz="1400" b="1" dirty="0" err="1">
                  <a:latin typeface="Courier Std" pitchFamily="49" charset="0"/>
                </a:rPr>
                <a:t>main</a:t>
              </a:r>
              <a:r>
                <a:rPr lang="it-IT" sz="1400" b="1" dirty="0">
                  <a:latin typeface="Courier Std" pitchFamily="49" charset="0"/>
                </a:rPr>
                <a:t>(</a:t>
              </a:r>
              <a:r>
                <a:rPr lang="it-IT" sz="1400" b="1" dirty="0" err="1">
                  <a:latin typeface="Courier Std" pitchFamily="49" charset="0"/>
                </a:rPr>
                <a:t>void</a:t>
              </a:r>
              <a:r>
                <a:rPr lang="it-IT" sz="1400" b="1" dirty="0">
                  <a:latin typeface="Courier Std" pitchFamily="49" charset="0"/>
                </a:rPr>
                <a:t>){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int</a:t>
              </a:r>
              <a:r>
                <a:rPr lang="it-IT" sz="1400" b="1" dirty="0">
                  <a:latin typeface="Courier Std" pitchFamily="49" charset="0"/>
                </a:rPr>
                <a:t> a, </a:t>
              </a:r>
              <a:r>
                <a:rPr lang="it-IT" sz="1400" b="1" dirty="0" err="1">
                  <a:latin typeface="Courier Std" pitchFamily="49" charset="0"/>
                </a:rPr>
                <a:t>b,c</a:t>
              </a:r>
              <a:r>
                <a:rPr lang="it-IT" sz="1400" b="1" dirty="0">
                  <a:latin typeface="Courier Std" pitchFamily="49" charset="0"/>
                </a:rPr>
                <a:t>;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scanf</a:t>
              </a:r>
              <a:r>
                <a:rPr lang="it-IT" sz="1400" b="1" dirty="0">
                  <a:latin typeface="Courier Std" pitchFamily="49" charset="0"/>
                </a:rPr>
                <a:t>(“%</a:t>
              </a:r>
              <a:r>
                <a:rPr lang="it-IT" sz="1400" b="1" dirty="0" err="1">
                  <a:latin typeface="Courier Std" pitchFamily="49" charset="0"/>
                </a:rPr>
                <a:t>d%d</a:t>
              </a:r>
              <a:r>
                <a:rPr lang="it-IT" sz="1400" b="1" dirty="0">
                  <a:latin typeface="Courier Std" pitchFamily="49" charset="0"/>
                </a:rPr>
                <a:t>”,&amp;</a:t>
              </a:r>
              <a:r>
                <a:rPr lang="it-IT" sz="1400" b="1" dirty="0" err="1">
                  <a:latin typeface="Courier Std" pitchFamily="49" charset="0"/>
                </a:rPr>
                <a:t>a,&amp;b</a:t>
              </a:r>
              <a:r>
                <a:rPr lang="it-IT" sz="1400" b="1" dirty="0">
                  <a:latin typeface="Courier Std" pitchFamily="49" charset="0"/>
                </a:rPr>
                <a:t>); 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max</a:t>
              </a:r>
              <a:r>
                <a:rPr lang="it-IT" sz="1400" b="1" dirty="0">
                  <a:latin typeface="Courier Std" pitchFamily="49" charset="0"/>
                </a:rPr>
                <a:t> = </a:t>
              </a:r>
              <a:r>
                <a:rPr lang="it-IT" sz="1400" b="1" dirty="0" err="1">
                  <a:latin typeface="Courier Std" pitchFamily="49" charset="0"/>
                </a:rPr>
                <a:t>max</a:t>
              </a:r>
              <a:r>
                <a:rPr lang="it-IT" sz="1400" b="1" dirty="0">
                  <a:latin typeface="Courier Std" pitchFamily="49" charset="0"/>
                </a:rPr>
                <a:t>(</a:t>
              </a:r>
              <a:r>
                <a:rPr lang="it-IT" sz="1400" b="1" dirty="0" err="1">
                  <a:latin typeface="Courier Std" pitchFamily="49" charset="0"/>
                </a:rPr>
                <a:t>a,b</a:t>
              </a:r>
              <a:r>
                <a:rPr lang="it-IT" sz="1400" b="1" dirty="0">
                  <a:latin typeface="Courier Std" pitchFamily="49" charset="0"/>
                </a:rPr>
                <a:t>);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prinf</a:t>
              </a:r>
              <a:r>
                <a:rPr lang="it-IT" sz="1400" b="1" dirty="0">
                  <a:latin typeface="Courier Std" pitchFamily="49" charset="0"/>
                </a:rPr>
                <a:t>(“il </a:t>
              </a:r>
              <a:r>
                <a:rPr lang="it-IT" sz="1400" b="1" dirty="0" err="1">
                  <a:latin typeface="Courier Std" pitchFamily="49" charset="0"/>
                </a:rPr>
                <a:t>max</a:t>
              </a:r>
              <a:r>
                <a:rPr lang="it-IT" sz="1400" b="1" dirty="0">
                  <a:latin typeface="Courier Std" pitchFamily="49" charset="0"/>
                </a:rPr>
                <a:t> è %</a:t>
              </a:r>
              <a:r>
                <a:rPr lang="it-IT" sz="1400" b="1" dirty="0" err="1">
                  <a:latin typeface="Courier Std" pitchFamily="49" charset="0"/>
                </a:rPr>
                <a:t>d”,c</a:t>
              </a:r>
              <a:r>
                <a:rPr lang="it-IT" sz="1400" b="1" dirty="0">
                  <a:latin typeface="Courier Std" pitchFamily="49" charset="0"/>
                </a:rPr>
                <a:t>); 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return</a:t>
              </a:r>
              <a:r>
                <a:rPr lang="it-IT" sz="1400" b="1" dirty="0">
                  <a:latin typeface="Courier Std" pitchFamily="49" charset="0"/>
                </a:rPr>
                <a:t> 0; </a:t>
              </a:r>
            </a:p>
            <a:p>
              <a:r>
                <a:rPr lang="it-IT" sz="1400" b="1" dirty="0">
                  <a:latin typeface="Courier Std" pitchFamily="49" charset="0"/>
                </a:rPr>
                <a:t>}</a:t>
              </a:r>
            </a:p>
            <a:p>
              <a:endParaRPr lang="it-IT" sz="1400" b="1" dirty="0">
                <a:latin typeface="Courier Std" pitchFamily="49" charset="0"/>
              </a:endParaRPr>
            </a:p>
            <a:p>
              <a:r>
                <a:rPr lang="it-IT" sz="1400" b="1" dirty="0" err="1">
                  <a:latin typeface="Courier Std" pitchFamily="49" charset="0"/>
                </a:rPr>
                <a:t>int</a:t>
              </a:r>
              <a:r>
                <a:rPr lang="it-IT" sz="1400" b="1" dirty="0">
                  <a:latin typeface="Courier Std" pitchFamily="49" charset="0"/>
                </a:rPr>
                <a:t> </a:t>
              </a:r>
              <a:r>
                <a:rPr lang="it-IT" sz="1400" b="1" dirty="0" err="1">
                  <a:latin typeface="Courier Std" pitchFamily="49" charset="0"/>
                </a:rPr>
                <a:t>max</a:t>
              </a:r>
              <a:r>
                <a:rPr lang="it-IT" sz="1400" b="1" dirty="0">
                  <a:latin typeface="Courier Std" pitchFamily="49" charset="0"/>
                </a:rPr>
                <a:t>(</a:t>
              </a:r>
              <a:r>
                <a:rPr lang="it-IT" sz="1400" b="1" dirty="0" err="1">
                  <a:latin typeface="Courier Std" pitchFamily="49" charset="0"/>
                </a:rPr>
                <a:t>int</a:t>
              </a:r>
              <a:r>
                <a:rPr lang="it-IT" sz="1400" b="1" dirty="0">
                  <a:latin typeface="Courier Std" pitchFamily="49" charset="0"/>
                </a:rPr>
                <a:t> x, </a:t>
              </a:r>
              <a:r>
                <a:rPr lang="it-IT" sz="1400" b="1" dirty="0" err="1">
                  <a:latin typeface="Courier Std" pitchFamily="49" charset="0"/>
                </a:rPr>
                <a:t>int</a:t>
              </a:r>
              <a:r>
                <a:rPr lang="it-IT" sz="1400" b="1" dirty="0">
                  <a:latin typeface="Courier Std" pitchFamily="49" charset="0"/>
                </a:rPr>
                <a:t> y) {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if</a:t>
              </a:r>
              <a:r>
                <a:rPr lang="it-IT" sz="1400" b="1" dirty="0">
                  <a:latin typeface="Courier Std" pitchFamily="49" charset="0"/>
                </a:rPr>
                <a:t> (x &gt;= y) </a:t>
              </a:r>
              <a:r>
                <a:rPr lang="it-IT" sz="1400" b="1" dirty="0" err="1">
                  <a:latin typeface="Courier Std" pitchFamily="49" charset="0"/>
                </a:rPr>
                <a:t>return</a:t>
              </a:r>
              <a:r>
                <a:rPr lang="it-IT" sz="1400" b="1" dirty="0">
                  <a:latin typeface="Courier Std" pitchFamily="49" charset="0"/>
                </a:rPr>
                <a:t> x;</a:t>
              </a:r>
            </a:p>
            <a:p>
              <a:r>
                <a:rPr lang="it-IT" sz="1400" b="1" dirty="0">
                  <a:latin typeface="Courier Std" pitchFamily="49" charset="0"/>
                </a:rPr>
                <a:t>    else </a:t>
              </a:r>
              <a:r>
                <a:rPr lang="it-IT" sz="1400" b="1" dirty="0" err="1">
                  <a:latin typeface="Courier Std" pitchFamily="49" charset="0"/>
                </a:rPr>
                <a:t>return</a:t>
              </a:r>
              <a:r>
                <a:rPr lang="it-IT" sz="1400" b="1" dirty="0">
                  <a:latin typeface="Courier Std" pitchFamily="49" charset="0"/>
                </a:rPr>
                <a:t> y;</a:t>
              </a:r>
            </a:p>
            <a:p>
              <a:r>
                <a:rPr lang="it-IT" sz="1400" b="1" dirty="0">
                  <a:latin typeface="Courier Std" pitchFamily="49" charset="0"/>
                </a:rPr>
                <a:t>}</a:t>
              </a:r>
            </a:p>
          </p:txBody>
        </p:sp>
        <p:sp>
          <p:nvSpPr>
            <p:cNvPr id="5" name="CasellaDiTesto 4"/>
            <p:cNvSpPr txBox="1"/>
            <p:nvPr/>
          </p:nvSpPr>
          <p:spPr>
            <a:xfrm>
              <a:off x="395536" y="3284984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u="sng" dirty="0"/>
                <a:t>Esempio:</a:t>
              </a:r>
              <a:r>
                <a:rPr lang="it-IT" dirty="0"/>
                <a:t> cerca l’errore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 flipH="1">
              <a:off x="467544" y="3636163"/>
              <a:ext cx="576064" cy="3128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</p:txBody>
        </p:sp>
      </p:grpSp>
      <p:sp>
        <p:nvSpPr>
          <p:cNvPr id="7" name="Rettangolo arrotondato 6"/>
          <p:cNvSpPr/>
          <p:nvPr/>
        </p:nvSpPr>
        <p:spPr>
          <a:xfrm>
            <a:off x="2051720" y="4782083"/>
            <a:ext cx="1152128" cy="213929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arrotondato 7"/>
          <p:cNvSpPr/>
          <p:nvPr/>
        </p:nvSpPr>
        <p:spPr>
          <a:xfrm>
            <a:off x="4067944" y="4782082"/>
            <a:ext cx="4914242" cy="42786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// Errore: </a:t>
            </a:r>
            <a:r>
              <a:rPr lang="it-IT" sz="1400" b="1" dirty="0" err="1">
                <a:solidFill>
                  <a:schemeClr val="accent5"/>
                </a:solidFill>
                <a:latin typeface="Courier Std" pitchFamily="49" charset="0"/>
              </a:rPr>
              <a:t>max</a:t>
            </a:r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 non è visibile perché il</a:t>
            </a:r>
            <a:b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</a:br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// compilatore non l’ha mai vista prima</a:t>
            </a:r>
          </a:p>
        </p:txBody>
      </p:sp>
      <p:sp>
        <p:nvSpPr>
          <p:cNvPr id="9" name="Rettangolo arrotondato 8"/>
          <p:cNvSpPr/>
          <p:nvPr/>
        </p:nvSpPr>
        <p:spPr>
          <a:xfrm>
            <a:off x="4067944" y="5877272"/>
            <a:ext cx="5130266" cy="79208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/* Qui definisco </a:t>
            </a:r>
            <a:r>
              <a:rPr lang="it-IT" sz="1400" b="1" dirty="0" err="1">
                <a:solidFill>
                  <a:schemeClr val="accent5"/>
                </a:solidFill>
                <a:latin typeface="Courier Std" pitchFamily="49" charset="0"/>
              </a:rPr>
              <a:t>max</a:t>
            </a:r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, ma il compilatore partendo a compilare dalla riga 1, ha già «incontrato» ed ha già generato l’errore e bloccato la compilazione. */</a:t>
            </a:r>
          </a:p>
        </p:txBody>
      </p:sp>
      <p:sp>
        <p:nvSpPr>
          <p:cNvPr id="11" name="Segnaposto numero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69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Visibilità delle funzioni</a:t>
            </a:r>
          </a:p>
        </p:txBody>
      </p:sp>
      <p:sp>
        <p:nvSpPr>
          <p:cNvPr id="7" name="Rettangolo arrotondato 6"/>
          <p:cNvSpPr/>
          <p:nvPr/>
        </p:nvSpPr>
        <p:spPr>
          <a:xfrm>
            <a:off x="964964" y="2852936"/>
            <a:ext cx="2454907" cy="306549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arrotondato 7"/>
          <p:cNvSpPr/>
          <p:nvPr/>
        </p:nvSpPr>
        <p:spPr>
          <a:xfrm>
            <a:off x="3900804" y="2852936"/>
            <a:ext cx="4914242" cy="64807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/* Dichiaro </a:t>
            </a:r>
            <a:r>
              <a:rPr lang="it-IT" sz="1400" b="1" dirty="0" err="1">
                <a:solidFill>
                  <a:schemeClr val="accent5"/>
                </a:solidFill>
                <a:latin typeface="Courier Std" pitchFamily="49" charset="0"/>
              </a:rPr>
              <a:t>max</a:t>
            </a:r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() fuori dal </a:t>
            </a:r>
            <a:r>
              <a:rPr lang="it-IT" sz="1400" b="1" dirty="0" err="1">
                <a:solidFill>
                  <a:schemeClr val="accent5"/>
                </a:solidFill>
                <a:latin typeface="Courier Std" pitchFamily="49" charset="0"/>
              </a:rPr>
              <a:t>main</a:t>
            </a:r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() e d’ora in poi il compilatore sa che questa funzione è definita da qualche parte */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381261" y="2060848"/>
            <a:ext cx="5976664" cy="3942559"/>
            <a:chOff x="381261" y="2060848"/>
            <a:chExt cx="5976664" cy="3942559"/>
          </a:xfrm>
        </p:grpSpPr>
        <p:grpSp>
          <p:nvGrpSpPr>
            <p:cNvPr id="6" name="Gruppo 5"/>
            <p:cNvGrpSpPr/>
            <p:nvPr/>
          </p:nvGrpSpPr>
          <p:grpSpPr>
            <a:xfrm>
              <a:off x="381261" y="2060848"/>
              <a:ext cx="5976664" cy="3910119"/>
              <a:chOff x="395536" y="3284984"/>
              <a:chExt cx="5976664" cy="3910119"/>
            </a:xfrm>
          </p:grpSpPr>
          <p:sp>
            <p:nvSpPr>
              <p:cNvPr id="4" name="CasellaDiTesto 3"/>
              <p:cNvSpPr txBox="1"/>
              <p:nvPr/>
            </p:nvSpPr>
            <p:spPr>
              <a:xfrm>
                <a:off x="971600" y="3655673"/>
                <a:ext cx="54006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#include &lt;</a:t>
                </a:r>
                <a:r>
                  <a:rPr lang="it-IT" sz="1400" b="1" dirty="0" err="1">
                    <a:latin typeface="Courier Std" pitchFamily="49" charset="0"/>
                  </a:rPr>
                  <a:t>stdio.h</a:t>
                </a:r>
                <a:r>
                  <a:rPr lang="it-IT" sz="1400" b="1" dirty="0">
                    <a:latin typeface="Courier Std" pitchFamily="49" charset="0"/>
                  </a:rPr>
                  <a:t>&gt;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x,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y);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main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void</a:t>
                </a:r>
                <a:r>
                  <a:rPr lang="it-IT" sz="1400" b="1" dirty="0">
                    <a:latin typeface="Courier Std" pitchFamily="49" charset="0"/>
                  </a:rPr>
                  <a:t>){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a, </a:t>
                </a:r>
                <a:r>
                  <a:rPr lang="it-IT" sz="1400" b="1" dirty="0" err="1">
                    <a:latin typeface="Courier Std" pitchFamily="49" charset="0"/>
                  </a:rPr>
                  <a:t>b,c</a:t>
                </a:r>
                <a:r>
                  <a:rPr lang="it-IT" sz="1400" b="1" dirty="0">
                    <a:latin typeface="Courier Std" pitchFamily="49" charset="0"/>
                  </a:rPr>
                  <a:t>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scanf</a:t>
                </a:r>
                <a:r>
                  <a:rPr lang="it-IT" sz="1400" b="1" dirty="0">
                    <a:latin typeface="Courier Std" pitchFamily="49" charset="0"/>
                  </a:rPr>
                  <a:t>(“%</a:t>
                </a:r>
                <a:r>
                  <a:rPr lang="it-IT" sz="1400" b="1" dirty="0" err="1">
                    <a:latin typeface="Courier Std" pitchFamily="49" charset="0"/>
                  </a:rPr>
                  <a:t>d%d</a:t>
                </a:r>
                <a:r>
                  <a:rPr lang="it-IT" sz="1400" b="1" dirty="0">
                    <a:latin typeface="Courier Std" pitchFamily="49" charset="0"/>
                  </a:rPr>
                  <a:t>”,&amp;</a:t>
                </a:r>
                <a:r>
                  <a:rPr lang="it-IT" sz="1400" b="1" dirty="0" err="1">
                    <a:latin typeface="Courier Std" pitchFamily="49" charset="0"/>
                  </a:rPr>
                  <a:t>a,&amp;b</a:t>
                </a:r>
                <a:r>
                  <a:rPr lang="it-IT" sz="1400" b="1" dirty="0">
                    <a:latin typeface="Courier Std" pitchFamily="49" charset="0"/>
                  </a:rPr>
                  <a:t>); 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 =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a,b</a:t>
                </a:r>
                <a:r>
                  <a:rPr lang="it-IT" sz="1400" b="1" dirty="0">
                    <a:latin typeface="Courier Std" pitchFamily="49" charset="0"/>
                  </a:rPr>
                  <a:t>);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prinf</a:t>
                </a:r>
                <a:r>
                  <a:rPr lang="it-IT" sz="1400" b="1" dirty="0">
                    <a:latin typeface="Courier Std" pitchFamily="49" charset="0"/>
                  </a:rPr>
                  <a:t>(“il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 è %</a:t>
                </a:r>
                <a:r>
                  <a:rPr lang="it-IT" sz="1400" b="1" dirty="0" err="1">
                    <a:latin typeface="Courier Std" pitchFamily="49" charset="0"/>
                  </a:rPr>
                  <a:t>d”,c</a:t>
                </a:r>
                <a:r>
                  <a:rPr lang="it-IT" sz="1400" b="1" dirty="0">
                    <a:latin typeface="Courier Std" pitchFamily="49" charset="0"/>
                  </a:rPr>
                  <a:t>); 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0; 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x,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y) {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if</a:t>
                </a:r>
                <a:r>
                  <a:rPr lang="it-IT" sz="1400" b="1" dirty="0">
                    <a:latin typeface="Courier Std" pitchFamily="49" charset="0"/>
                  </a:rPr>
                  <a:t> (x &gt;= y)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x;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else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y;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</p:txBody>
          </p:sp>
          <p:sp>
            <p:nvSpPr>
              <p:cNvPr id="5" name="CasellaDiTesto 4"/>
              <p:cNvSpPr txBox="1"/>
              <p:nvPr/>
            </p:nvSpPr>
            <p:spPr>
              <a:xfrm>
                <a:off x="395536" y="3284984"/>
                <a:ext cx="30963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/>
                  <a:t>: soluzione</a:t>
                </a:r>
              </a:p>
            </p:txBody>
          </p:sp>
        </p:grpSp>
        <p:sp>
          <p:nvSpPr>
            <p:cNvPr id="9" name="CasellaDiTesto 8"/>
            <p:cNvSpPr txBox="1"/>
            <p:nvPr/>
          </p:nvSpPr>
          <p:spPr>
            <a:xfrm flipH="1">
              <a:off x="395536" y="2420888"/>
              <a:ext cx="576064" cy="3582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16.</a:t>
              </a:r>
            </a:p>
          </p:txBody>
        </p:sp>
      </p:grpSp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501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Visibilità delle funzioni</a:t>
            </a:r>
          </a:p>
        </p:txBody>
      </p:sp>
      <p:sp>
        <p:nvSpPr>
          <p:cNvPr id="7" name="Rettangolo arrotondato 6"/>
          <p:cNvSpPr/>
          <p:nvPr/>
        </p:nvSpPr>
        <p:spPr>
          <a:xfrm>
            <a:off x="964964" y="2852936"/>
            <a:ext cx="2886956" cy="100811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arrotondato 7"/>
          <p:cNvSpPr/>
          <p:nvPr/>
        </p:nvSpPr>
        <p:spPr>
          <a:xfrm>
            <a:off x="3900804" y="2852936"/>
            <a:ext cx="4914242" cy="100811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/* Definisco </a:t>
            </a:r>
            <a:r>
              <a:rPr lang="it-IT" sz="1400" b="1" dirty="0" err="1">
                <a:solidFill>
                  <a:schemeClr val="accent5"/>
                </a:solidFill>
                <a:latin typeface="Courier Std" pitchFamily="49" charset="0"/>
              </a:rPr>
              <a:t>max</a:t>
            </a:r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() prima del </a:t>
            </a:r>
            <a:r>
              <a:rPr lang="it-IT" sz="1400" b="1" dirty="0" err="1">
                <a:solidFill>
                  <a:schemeClr val="accent5"/>
                </a:solidFill>
                <a:latin typeface="Courier Std" pitchFamily="49" charset="0"/>
              </a:rPr>
              <a:t>main</a:t>
            </a:r>
            <a:r>
              <a:rPr lang="it-IT" sz="1400" b="1" dirty="0">
                <a:solidFill>
                  <a:schemeClr val="accent5"/>
                </a:solidFill>
                <a:latin typeface="Courier Std" pitchFamily="49" charset="0"/>
              </a:rPr>
              <a:t>() istruendo il compilatore sulla funzione che potrebbe incontrare nel proseguo della compilazione.*/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381260" y="2060848"/>
            <a:ext cx="5976665" cy="3694676"/>
            <a:chOff x="381260" y="2060848"/>
            <a:chExt cx="5976665" cy="3694676"/>
          </a:xfrm>
        </p:grpSpPr>
        <p:grpSp>
          <p:nvGrpSpPr>
            <p:cNvPr id="6" name="Gruppo 5"/>
            <p:cNvGrpSpPr/>
            <p:nvPr/>
          </p:nvGrpSpPr>
          <p:grpSpPr>
            <a:xfrm>
              <a:off x="381260" y="2060848"/>
              <a:ext cx="5976665" cy="3694676"/>
              <a:chOff x="395535" y="3284984"/>
              <a:chExt cx="5976665" cy="3694676"/>
            </a:xfrm>
          </p:grpSpPr>
          <p:sp>
            <p:nvSpPr>
              <p:cNvPr id="4" name="CasellaDiTesto 3"/>
              <p:cNvSpPr txBox="1"/>
              <p:nvPr/>
            </p:nvSpPr>
            <p:spPr>
              <a:xfrm>
                <a:off x="971600" y="3655673"/>
                <a:ext cx="5400600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#include &lt;</a:t>
                </a:r>
                <a:r>
                  <a:rPr lang="it-IT" sz="1400" b="1" dirty="0" err="1">
                    <a:latin typeface="Courier Std" pitchFamily="49" charset="0"/>
                  </a:rPr>
                  <a:t>stdio.h</a:t>
                </a:r>
                <a:r>
                  <a:rPr lang="it-IT" sz="1400" b="1" dirty="0">
                    <a:latin typeface="Courier Std" pitchFamily="49" charset="0"/>
                  </a:rPr>
                  <a:t>&gt;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x,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y) {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if</a:t>
                </a:r>
                <a:r>
                  <a:rPr lang="it-IT" sz="1400" b="1" dirty="0">
                    <a:latin typeface="Courier Std" pitchFamily="49" charset="0"/>
                  </a:rPr>
                  <a:t> (x &gt;= y)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x;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else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y;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main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void</a:t>
                </a:r>
                <a:r>
                  <a:rPr lang="it-IT" sz="1400" b="1" dirty="0">
                    <a:latin typeface="Courier Std" pitchFamily="49" charset="0"/>
                  </a:rPr>
                  <a:t>){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a, </a:t>
                </a:r>
                <a:r>
                  <a:rPr lang="it-IT" sz="1400" b="1" dirty="0" err="1">
                    <a:latin typeface="Courier Std" pitchFamily="49" charset="0"/>
                  </a:rPr>
                  <a:t>b,c</a:t>
                </a:r>
                <a:r>
                  <a:rPr lang="it-IT" sz="1400" b="1" dirty="0">
                    <a:latin typeface="Courier Std" pitchFamily="49" charset="0"/>
                  </a:rPr>
                  <a:t>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scanf</a:t>
                </a:r>
                <a:r>
                  <a:rPr lang="it-IT" sz="1400" b="1" dirty="0">
                    <a:latin typeface="Courier Std" pitchFamily="49" charset="0"/>
                  </a:rPr>
                  <a:t>(“%</a:t>
                </a:r>
                <a:r>
                  <a:rPr lang="it-IT" sz="1400" b="1" dirty="0" err="1">
                    <a:latin typeface="Courier Std" pitchFamily="49" charset="0"/>
                  </a:rPr>
                  <a:t>d%d</a:t>
                </a:r>
                <a:r>
                  <a:rPr lang="it-IT" sz="1400" b="1" dirty="0">
                    <a:latin typeface="Courier Std" pitchFamily="49" charset="0"/>
                  </a:rPr>
                  <a:t>”,&amp;</a:t>
                </a:r>
                <a:r>
                  <a:rPr lang="it-IT" sz="1400" b="1" dirty="0" err="1">
                    <a:latin typeface="Courier Std" pitchFamily="49" charset="0"/>
                  </a:rPr>
                  <a:t>a,&amp;b</a:t>
                </a:r>
                <a:r>
                  <a:rPr lang="it-IT" sz="1400" b="1" dirty="0">
                    <a:latin typeface="Courier Std" pitchFamily="49" charset="0"/>
                  </a:rPr>
                  <a:t>); 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 =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a,b</a:t>
                </a:r>
                <a:r>
                  <a:rPr lang="it-IT" sz="1400" b="1" dirty="0">
                    <a:latin typeface="Courier Std" pitchFamily="49" charset="0"/>
                  </a:rPr>
                  <a:t>);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prinf</a:t>
                </a:r>
                <a:r>
                  <a:rPr lang="it-IT" sz="1400" b="1" dirty="0">
                    <a:latin typeface="Courier Std" pitchFamily="49" charset="0"/>
                  </a:rPr>
                  <a:t>(“il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 è %</a:t>
                </a:r>
                <a:r>
                  <a:rPr lang="it-IT" sz="1400" b="1" dirty="0" err="1">
                    <a:latin typeface="Courier Std" pitchFamily="49" charset="0"/>
                  </a:rPr>
                  <a:t>d”,c</a:t>
                </a:r>
                <a:r>
                  <a:rPr lang="it-IT" sz="1400" b="1" dirty="0">
                    <a:latin typeface="Courier Std" pitchFamily="49" charset="0"/>
                  </a:rPr>
                  <a:t>); 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0; 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</p:txBody>
          </p:sp>
          <p:sp>
            <p:nvSpPr>
              <p:cNvPr id="5" name="CasellaDiTesto 4"/>
              <p:cNvSpPr txBox="1"/>
              <p:nvPr/>
            </p:nvSpPr>
            <p:spPr>
              <a:xfrm>
                <a:off x="395535" y="3284984"/>
                <a:ext cx="383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/>
                  <a:t>: soluzione </a:t>
                </a:r>
                <a:r>
                  <a:rPr lang="it-IT" dirty="0">
                    <a:solidFill>
                      <a:srgbClr val="FF0000"/>
                    </a:solidFill>
                  </a:rPr>
                  <a:t>deprecata!!!</a:t>
                </a:r>
              </a:p>
            </p:txBody>
          </p:sp>
        </p:grpSp>
        <p:sp>
          <p:nvSpPr>
            <p:cNvPr id="9" name="CasellaDiTesto 8"/>
            <p:cNvSpPr txBox="1"/>
            <p:nvPr/>
          </p:nvSpPr>
          <p:spPr>
            <a:xfrm flipH="1">
              <a:off x="395536" y="2420888"/>
              <a:ext cx="576064" cy="3128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</p:txBody>
        </p:sp>
      </p:grpSp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881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87208" cy="1371600"/>
          </a:xfrm>
        </p:spPr>
        <p:txBody>
          <a:bodyPr>
            <a:normAutofit/>
          </a:bodyPr>
          <a:lstStyle/>
          <a:p>
            <a:r>
              <a:rPr lang="it-IT" dirty="0"/>
              <a:t>Visibilità delle funzioni: gli </a:t>
            </a:r>
            <a:r>
              <a:rPr lang="it-IT" dirty="0" err="1"/>
              <a:t>Header</a:t>
            </a:r>
            <a:r>
              <a:rPr lang="it-IT" dirty="0"/>
              <a:t> </a:t>
            </a:r>
            <a:r>
              <a:rPr lang="it-IT" dirty="0" err="1"/>
              <a:t>files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381260" y="2060848"/>
            <a:ext cx="541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Esempio</a:t>
            </a:r>
            <a:r>
              <a:rPr lang="it-IT" dirty="0"/>
              <a:t>: soluzione </a:t>
            </a:r>
            <a:r>
              <a:rPr lang="it-IT" b="1" dirty="0">
                <a:solidFill>
                  <a:srgbClr val="00B050"/>
                </a:solidFill>
              </a:rPr>
              <a:t>professionale !</a:t>
            </a:r>
          </a:p>
        </p:txBody>
      </p:sp>
      <p:sp>
        <p:nvSpPr>
          <p:cNvPr id="8" name="Rettangolo arrotondato 7"/>
          <p:cNvSpPr/>
          <p:nvPr/>
        </p:nvSpPr>
        <p:spPr>
          <a:xfrm>
            <a:off x="251520" y="5484490"/>
            <a:ext cx="4392488" cy="118487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dirty="0">
                <a:solidFill>
                  <a:srgbClr val="00B050"/>
                </a:solidFill>
                <a:latin typeface="Courier Std" pitchFamily="49" charset="0"/>
              </a:rPr>
              <a:t>Nella stessa cartella del sorgente contenente il </a:t>
            </a:r>
            <a:r>
              <a:rPr lang="it-IT" sz="1400" b="1" dirty="0" err="1">
                <a:solidFill>
                  <a:srgbClr val="00B050"/>
                </a:solidFill>
                <a:latin typeface="Courier Std" pitchFamily="49" charset="0"/>
              </a:rPr>
              <a:t>main</a:t>
            </a:r>
            <a:r>
              <a:rPr lang="it-IT" sz="1400" b="1" dirty="0">
                <a:solidFill>
                  <a:srgbClr val="00B050"/>
                </a:solidFill>
                <a:latin typeface="Courier Std" pitchFamily="49" charset="0"/>
              </a:rPr>
              <a:t> (</a:t>
            </a:r>
            <a:r>
              <a:rPr lang="it-IT" sz="1400" b="1" dirty="0" err="1">
                <a:solidFill>
                  <a:srgbClr val="00B050"/>
                </a:solidFill>
                <a:latin typeface="Courier Std" pitchFamily="49" charset="0"/>
              </a:rPr>
              <a:t>massimo.c</a:t>
            </a:r>
            <a:r>
              <a:rPr lang="it-IT" sz="1400" b="1" dirty="0">
                <a:solidFill>
                  <a:srgbClr val="00B050"/>
                </a:solidFill>
                <a:latin typeface="Courier Std" pitchFamily="49" charset="0"/>
              </a:rPr>
              <a:t>), creo un file distinto con le sole dichiarazioni (</a:t>
            </a:r>
            <a:r>
              <a:rPr lang="it-IT" sz="1400" b="1" dirty="0" err="1">
                <a:solidFill>
                  <a:srgbClr val="00B050"/>
                </a:solidFill>
                <a:latin typeface="Courier Std" pitchFamily="49" charset="0"/>
              </a:rPr>
              <a:t>mylib.h</a:t>
            </a:r>
            <a:r>
              <a:rPr lang="it-IT" sz="1400" b="1" dirty="0">
                <a:solidFill>
                  <a:srgbClr val="00B050"/>
                </a:solidFill>
                <a:latin typeface="Courier Std" pitchFamily="49" charset="0"/>
              </a:rPr>
              <a:t>) e il corrispettivo file con le definizioni (</a:t>
            </a:r>
            <a:r>
              <a:rPr lang="it-IT" sz="1400" b="1" dirty="0" err="1">
                <a:solidFill>
                  <a:srgbClr val="00B050"/>
                </a:solidFill>
                <a:latin typeface="Courier Std" pitchFamily="49" charset="0"/>
              </a:rPr>
              <a:t>mylib.c</a:t>
            </a:r>
            <a:r>
              <a:rPr lang="it-IT" sz="1400" b="1" dirty="0">
                <a:solidFill>
                  <a:srgbClr val="00B050"/>
                </a:solidFill>
                <a:latin typeface="Courier Std" pitchFamily="49" charset="0"/>
              </a:rPr>
              <a:t>).</a:t>
            </a:r>
          </a:p>
        </p:txBody>
      </p:sp>
      <p:grpSp>
        <p:nvGrpSpPr>
          <p:cNvPr id="14" name="Gruppo 13"/>
          <p:cNvGrpSpPr/>
          <p:nvPr/>
        </p:nvGrpSpPr>
        <p:grpSpPr>
          <a:xfrm>
            <a:off x="467544" y="2869533"/>
            <a:ext cx="4641260" cy="2491836"/>
            <a:chOff x="467544" y="2869533"/>
            <a:chExt cx="4641260" cy="2491836"/>
          </a:xfrm>
        </p:grpSpPr>
        <p:sp>
          <p:nvSpPr>
            <p:cNvPr id="4" name="CasellaDiTesto 3"/>
            <p:cNvSpPr txBox="1"/>
            <p:nvPr/>
          </p:nvSpPr>
          <p:spPr>
            <a:xfrm>
              <a:off x="918065" y="2869607"/>
              <a:ext cx="4190739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dirty="0">
                  <a:latin typeface="Courier Std" pitchFamily="49" charset="0"/>
                </a:rPr>
                <a:t>#include &lt;</a:t>
              </a:r>
              <a:r>
                <a:rPr lang="it-IT" sz="1400" b="1" dirty="0" err="1">
                  <a:latin typeface="Courier Std" pitchFamily="49" charset="0"/>
                </a:rPr>
                <a:t>stdio.h</a:t>
              </a:r>
              <a:r>
                <a:rPr lang="it-IT" sz="1400" b="1" dirty="0">
                  <a:latin typeface="Courier Std" pitchFamily="49" charset="0"/>
                </a:rPr>
                <a:t>&gt;</a:t>
              </a:r>
            </a:p>
            <a:p>
              <a:r>
                <a:rPr lang="it-IT" sz="1400" b="1" dirty="0">
                  <a:latin typeface="Courier Std" pitchFamily="49" charset="0"/>
                </a:rPr>
                <a:t>#include “</a:t>
              </a:r>
              <a:r>
                <a:rPr lang="it-IT" sz="1400" b="1" dirty="0" err="1">
                  <a:latin typeface="Courier Std" pitchFamily="49" charset="0"/>
                </a:rPr>
                <a:t>mylib.h</a:t>
              </a:r>
              <a:r>
                <a:rPr lang="it-IT" sz="1400" b="1" dirty="0">
                  <a:latin typeface="Courier Std" pitchFamily="49" charset="0"/>
                </a:rPr>
                <a:t>”</a:t>
              </a:r>
            </a:p>
            <a:p>
              <a:endParaRPr lang="it-IT" sz="1400" b="1" dirty="0">
                <a:latin typeface="Courier Std" pitchFamily="49" charset="0"/>
              </a:endParaRPr>
            </a:p>
            <a:p>
              <a:r>
                <a:rPr lang="it-IT" sz="1400" b="1" dirty="0" err="1">
                  <a:latin typeface="Courier Std" pitchFamily="49" charset="0"/>
                </a:rPr>
                <a:t>int</a:t>
              </a:r>
              <a:r>
                <a:rPr lang="it-IT" sz="1400" b="1" dirty="0">
                  <a:latin typeface="Courier Std" pitchFamily="49" charset="0"/>
                </a:rPr>
                <a:t> </a:t>
              </a:r>
              <a:r>
                <a:rPr lang="it-IT" sz="1400" b="1" dirty="0" err="1">
                  <a:latin typeface="Courier Std" pitchFamily="49" charset="0"/>
                </a:rPr>
                <a:t>main</a:t>
              </a:r>
              <a:r>
                <a:rPr lang="it-IT" sz="1400" b="1" dirty="0">
                  <a:latin typeface="Courier Std" pitchFamily="49" charset="0"/>
                </a:rPr>
                <a:t>(</a:t>
              </a:r>
              <a:r>
                <a:rPr lang="it-IT" sz="1400" b="1" dirty="0" err="1">
                  <a:latin typeface="Courier Std" pitchFamily="49" charset="0"/>
                </a:rPr>
                <a:t>void</a:t>
              </a:r>
              <a:r>
                <a:rPr lang="it-IT" sz="1400" b="1" dirty="0">
                  <a:latin typeface="Courier Std" pitchFamily="49" charset="0"/>
                </a:rPr>
                <a:t>){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int</a:t>
              </a:r>
              <a:r>
                <a:rPr lang="it-IT" sz="1400" b="1" dirty="0">
                  <a:latin typeface="Courier Std" pitchFamily="49" charset="0"/>
                </a:rPr>
                <a:t> a, </a:t>
              </a:r>
              <a:r>
                <a:rPr lang="it-IT" sz="1400" b="1" dirty="0" err="1">
                  <a:latin typeface="Courier Std" pitchFamily="49" charset="0"/>
                </a:rPr>
                <a:t>b,c</a:t>
              </a:r>
              <a:r>
                <a:rPr lang="it-IT" sz="1400" b="1" dirty="0">
                  <a:latin typeface="Courier Std" pitchFamily="49" charset="0"/>
                </a:rPr>
                <a:t>;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scanf</a:t>
              </a:r>
              <a:r>
                <a:rPr lang="it-IT" sz="1400" b="1" dirty="0">
                  <a:latin typeface="Courier Std" pitchFamily="49" charset="0"/>
                </a:rPr>
                <a:t>(“%</a:t>
              </a:r>
              <a:r>
                <a:rPr lang="it-IT" sz="1400" b="1" dirty="0" err="1">
                  <a:latin typeface="Courier Std" pitchFamily="49" charset="0"/>
                </a:rPr>
                <a:t>d%d</a:t>
              </a:r>
              <a:r>
                <a:rPr lang="it-IT" sz="1400" b="1" dirty="0">
                  <a:latin typeface="Courier Std" pitchFamily="49" charset="0"/>
                </a:rPr>
                <a:t>”,&amp;</a:t>
              </a:r>
              <a:r>
                <a:rPr lang="it-IT" sz="1400" b="1" dirty="0" err="1">
                  <a:latin typeface="Courier Std" pitchFamily="49" charset="0"/>
                </a:rPr>
                <a:t>a,&amp;b</a:t>
              </a:r>
              <a:r>
                <a:rPr lang="it-IT" sz="1400" b="1" dirty="0">
                  <a:latin typeface="Courier Std" pitchFamily="49" charset="0"/>
                </a:rPr>
                <a:t>); 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max</a:t>
              </a:r>
              <a:r>
                <a:rPr lang="it-IT" sz="1400" b="1" dirty="0">
                  <a:latin typeface="Courier Std" pitchFamily="49" charset="0"/>
                </a:rPr>
                <a:t> = </a:t>
              </a:r>
              <a:r>
                <a:rPr lang="it-IT" sz="1400" b="1" dirty="0" err="1">
                  <a:latin typeface="Courier Std" pitchFamily="49" charset="0"/>
                </a:rPr>
                <a:t>max</a:t>
              </a:r>
              <a:r>
                <a:rPr lang="it-IT" sz="1400" b="1" dirty="0">
                  <a:latin typeface="Courier Std" pitchFamily="49" charset="0"/>
                </a:rPr>
                <a:t>(</a:t>
              </a:r>
              <a:r>
                <a:rPr lang="it-IT" sz="1400" b="1" dirty="0" err="1">
                  <a:latin typeface="Courier Std" pitchFamily="49" charset="0"/>
                </a:rPr>
                <a:t>a,b</a:t>
              </a:r>
              <a:r>
                <a:rPr lang="it-IT" sz="1400" b="1" dirty="0">
                  <a:latin typeface="Courier Std" pitchFamily="49" charset="0"/>
                </a:rPr>
                <a:t>);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prinf</a:t>
              </a:r>
              <a:r>
                <a:rPr lang="it-IT" sz="1400" b="1" dirty="0">
                  <a:latin typeface="Courier Std" pitchFamily="49" charset="0"/>
                </a:rPr>
                <a:t>(“il </a:t>
              </a:r>
              <a:r>
                <a:rPr lang="it-IT" sz="1400" b="1" dirty="0" err="1">
                  <a:latin typeface="Courier Std" pitchFamily="49" charset="0"/>
                </a:rPr>
                <a:t>max</a:t>
              </a:r>
              <a:r>
                <a:rPr lang="it-IT" sz="1400" b="1" dirty="0">
                  <a:latin typeface="Courier Std" pitchFamily="49" charset="0"/>
                </a:rPr>
                <a:t> è %</a:t>
              </a:r>
              <a:r>
                <a:rPr lang="it-IT" sz="1400" b="1" dirty="0" err="1">
                  <a:latin typeface="Courier Std" pitchFamily="49" charset="0"/>
                </a:rPr>
                <a:t>d”,c</a:t>
              </a:r>
              <a:r>
                <a:rPr lang="it-IT" sz="1400" b="1" dirty="0">
                  <a:latin typeface="Courier Std" pitchFamily="49" charset="0"/>
                </a:rPr>
                <a:t>); </a:t>
              </a:r>
            </a:p>
            <a:p>
              <a:r>
                <a:rPr lang="it-IT" sz="1400" b="1" dirty="0">
                  <a:latin typeface="Courier Std" pitchFamily="49" charset="0"/>
                </a:rPr>
                <a:t>    </a:t>
              </a:r>
              <a:r>
                <a:rPr lang="it-IT" sz="1400" b="1" dirty="0" err="1">
                  <a:latin typeface="Courier Std" pitchFamily="49" charset="0"/>
                </a:rPr>
                <a:t>return</a:t>
              </a:r>
              <a:r>
                <a:rPr lang="it-IT" sz="1400" b="1" dirty="0">
                  <a:latin typeface="Courier Std" pitchFamily="49" charset="0"/>
                </a:rPr>
                <a:t> 0; </a:t>
              </a:r>
            </a:p>
            <a:p>
              <a:r>
                <a:rPr lang="it-IT" sz="1400" b="1" dirty="0">
                  <a:latin typeface="Courier Std" pitchFamily="49" charset="0"/>
                </a:rPr>
                <a:t>}</a:t>
              </a:r>
            </a:p>
            <a:p>
              <a:endParaRPr lang="it-IT" sz="1400" b="1" dirty="0">
                <a:latin typeface="Courier Std" pitchFamily="49" charset="0"/>
              </a:endParaRPr>
            </a:p>
          </p:txBody>
        </p:sp>
        <p:sp>
          <p:nvSpPr>
            <p:cNvPr id="9" name="CasellaDiTesto 8"/>
            <p:cNvSpPr txBox="1"/>
            <p:nvPr/>
          </p:nvSpPr>
          <p:spPr>
            <a:xfrm flipH="1">
              <a:off x="467544" y="2869533"/>
              <a:ext cx="576064" cy="2491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</p:txBody>
        </p:sp>
      </p:grpSp>
      <p:grpSp>
        <p:nvGrpSpPr>
          <p:cNvPr id="13" name="Gruppo 12"/>
          <p:cNvGrpSpPr/>
          <p:nvPr/>
        </p:nvGrpSpPr>
        <p:grpSpPr>
          <a:xfrm>
            <a:off x="611560" y="2492896"/>
            <a:ext cx="3600400" cy="2880040"/>
            <a:chOff x="611560" y="2492896"/>
            <a:chExt cx="3600400" cy="2880040"/>
          </a:xfrm>
        </p:grpSpPr>
        <p:sp>
          <p:nvSpPr>
            <p:cNvPr id="10" name="CasellaDiTesto 9"/>
            <p:cNvSpPr txBox="1"/>
            <p:nvPr/>
          </p:nvSpPr>
          <p:spPr>
            <a:xfrm flipH="1">
              <a:off x="611560" y="2492896"/>
              <a:ext cx="3600000" cy="36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it-IT" sz="1600" b="1" dirty="0" err="1">
                  <a:solidFill>
                    <a:schemeClr val="tx2"/>
                  </a:solidFill>
                  <a:latin typeface="Courier New" pitchFamily="49" charset="0"/>
                  <a:cs typeface="Courier New" pitchFamily="49" charset="0"/>
                </a:rPr>
                <a:t>massimo.c</a:t>
              </a:r>
              <a:endParaRPr lang="it-IT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" name="Rettangolo 2"/>
            <p:cNvSpPr/>
            <p:nvPr/>
          </p:nvSpPr>
          <p:spPr>
            <a:xfrm>
              <a:off x="611560" y="2852936"/>
              <a:ext cx="3600400" cy="2520000"/>
            </a:xfrm>
            <a:prstGeom prst="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7" name="Gruppo 26"/>
          <p:cNvGrpSpPr/>
          <p:nvPr/>
        </p:nvGrpSpPr>
        <p:grpSpPr>
          <a:xfrm>
            <a:off x="4796873" y="2756875"/>
            <a:ext cx="3600400" cy="1200234"/>
            <a:chOff x="4796873" y="2756875"/>
            <a:chExt cx="3600400" cy="1200234"/>
          </a:xfrm>
        </p:grpSpPr>
        <p:grpSp>
          <p:nvGrpSpPr>
            <p:cNvPr id="15" name="Gruppo 14"/>
            <p:cNvGrpSpPr/>
            <p:nvPr/>
          </p:nvGrpSpPr>
          <p:grpSpPr>
            <a:xfrm>
              <a:off x="4796873" y="2756875"/>
              <a:ext cx="3600400" cy="1200234"/>
              <a:chOff x="611560" y="2492896"/>
              <a:chExt cx="3600400" cy="1200234"/>
            </a:xfrm>
          </p:grpSpPr>
          <p:sp>
            <p:nvSpPr>
              <p:cNvPr id="16" name="CasellaDiTesto 15"/>
              <p:cNvSpPr txBox="1"/>
              <p:nvPr/>
            </p:nvSpPr>
            <p:spPr>
              <a:xfrm flipH="1">
                <a:off x="611560" y="2492896"/>
                <a:ext cx="3600000" cy="4031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it-IT" sz="1600" b="1" dirty="0" err="1">
                    <a:solidFill>
                      <a:schemeClr val="tx2"/>
                    </a:solidFill>
                    <a:latin typeface="Courier New" pitchFamily="49" charset="0"/>
                    <a:cs typeface="Courier New" pitchFamily="49" charset="0"/>
                  </a:rPr>
                  <a:t>mylib.h</a:t>
                </a:r>
                <a:endParaRPr lang="it-IT" sz="1600" b="1" dirty="0">
                  <a:solidFill>
                    <a:schemeClr val="tx2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7" name="Rettangolo 16"/>
              <p:cNvSpPr/>
              <p:nvPr/>
            </p:nvSpPr>
            <p:spPr>
              <a:xfrm>
                <a:off x="611560" y="2876989"/>
                <a:ext cx="3600400" cy="816141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18" name="Gruppo 17"/>
            <p:cNvGrpSpPr/>
            <p:nvPr/>
          </p:nvGrpSpPr>
          <p:grpSpPr>
            <a:xfrm>
              <a:off x="4860032" y="3212976"/>
              <a:ext cx="3456384" cy="528606"/>
              <a:chOff x="467544" y="2869533"/>
              <a:chExt cx="4641260" cy="528606"/>
            </a:xfrm>
          </p:grpSpPr>
          <p:sp>
            <p:nvSpPr>
              <p:cNvPr id="19" name="CasellaDiTesto 18"/>
              <p:cNvSpPr txBox="1"/>
              <p:nvPr/>
            </p:nvSpPr>
            <p:spPr>
              <a:xfrm>
                <a:off x="918065" y="2869607"/>
                <a:ext cx="41907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x,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y);</a:t>
                </a:r>
              </a:p>
            </p:txBody>
          </p:sp>
          <p:sp>
            <p:nvSpPr>
              <p:cNvPr id="20" name="CasellaDiTesto 19"/>
              <p:cNvSpPr txBox="1"/>
              <p:nvPr/>
            </p:nvSpPr>
            <p:spPr>
              <a:xfrm flipH="1">
                <a:off x="467544" y="2869533"/>
                <a:ext cx="576064" cy="528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01.</a:t>
                </a:r>
              </a:p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02.</a:t>
                </a:r>
              </a:p>
            </p:txBody>
          </p:sp>
        </p:grpSp>
      </p:grpSp>
      <p:grpSp>
        <p:nvGrpSpPr>
          <p:cNvPr id="28" name="Gruppo 27"/>
          <p:cNvGrpSpPr/>
          <p:nvPr/>
        </p:nvGrpSpPr>
        <p:grpSpPr>
          <a:xfrm>
            <a:off x="4830823" y="4465973"/>
            <a:ext cx="3600400" cy="2203387"/>
            <a:chOff x="4830823" y="4465973"/>
            <a:chExt cx="3600400" cy="2203387"/>
          </a:xfrm>
        </p:grpSpPr>
        <p:grpSp>
          <p:nvGrpSpPr>
            <p:cNvPr id="21" name="Gruppo 20"/>
            <p:cNvGrpSpPr/>
            <p:nvPr/>
          </p:nvGrpSpPr>
          <p:grpSpPr>
            <a:xfrm>
              <a:off x="4830823" y="4465973"/>
              <a:ext cx="3600400" cy="2203387"/>
              <a:chOff x="611560" y="2521757"/>
              <a:chExt cx="3600400" cy="2203387"/>
            </a:xfrm>
          </p:grpSpPr>
          <p:sp>
            <p:nvSpPr>
              <p:cNvPr id="22" name="CasellaDiTesto 21"/>
              <p:cNvSpPr txBox="1"/>
              <p:nvPr/>
            </p:nvSpPr>
            <p:spPr>
              <a:xfrm flipH="1">
                <a:off x="611560" y="2521757"/>
                <a:ext cx="3600000" cy="4031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it-IT" sz="1600" b="1" dirty="0" err="1">
                    <a:solidFill>
                      <a:schemeClr val="tx2"/>
                    </a:solidFill>
                    <a:latin typeface="Courier New" pitchFamily="49" charset="0"/>
                    <a:cs typeface="Courier New" pitchFamily="49" charset="0"/>
                  </a:rPr>
                  <a:t>mylib.c</a:t>
                </a:r>
                <a:endParaRPr lang="it-IT" sz="1600" b="1" dirty="0">
                  <a:solidFill>
                    <a:schemeClr val="tx2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3" name="Rettangolo 22"/>
              <p:cNvSpPr/>
              <p:nvPr/>
            </p:nvSpPr>
            <p:spPr>
              <a:xfrm>
                <a:off x="611560" y="2924944"/>
                <a:ext cx="3600400" cy="1800200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24" name="Gruppo 23"/>
            <p:cNvGrpSpPr/>
            <p:nvPr/>
          </p:nvGrpSpPr>
          <p:grpSpPr>
            <a:xfrm>
              <a:off x="4860032" y="4916618"/>
              <a:ext cx="3456384" cy="1619289"/>
              <a:chOff x="467544" y="2869533"/>
              <a:chExt cx="3456384" cy="1619289"/>
            </a:xfrm>
          </p:grpSpPr>
          <p:sp>
            <p:nvSpPr>
              <p:cNvPr id="25" name="CasellaDiTesto 24"/>
              <p:cNvSpPr txBox="1"/>
              <p:nvPr/>
            </p:nvSpPr>
            <p:spPr>
              <a:xfrm>
                <a:off x="918065" y="2869607"/>
                <a:ext cx="300586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#...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max</a:t>
                </a:r>
                <a:r>
                  <a:rPr lang="it-IT" sz="1400" b="1" dirty="0">
                    <a:latin typeface="Courier Std" pitchFamily="49" charset="0"/>
                  </a:rPr>
                  <a:t>(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x,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y) {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if</a:t>
                </a:r>
                <a:r>
                  <a:rPr lang="it-IT" sz="1400" b="1" dirty="0">
                    <a:latin typeface="Courier Std" pitchFamily="49" charset="0"/>
                  </a:rPr>
                  <a:t> (x &gt;= y)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x;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else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y;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</p:txBody>
          </p:sp>
          <p:sp>
            <p:nvSpPr>
              <p:cNvPr id="26" name="CasellaDiTesto 25"/>
              <p:cNvSpPr txBox="1"/>
              <p:nvPr/>
            </p:nvSpPr>
            <p:spPr>
              <a:xfrm flipH="1">
                <a:off x="467544" y="2869533"/>
                <a:ext cx="576064" cy="161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01.</a:t>
                </a:r>
              </a:p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02.</a:t>
                </a:r>
              </a:p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03.</a:t>
                </a:r>
              </a:p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04.</a:t>
                </a:r>
              </a:p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05.</a:t>
                </a:r>
              </a:p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06.</a:t>
                </a:r>
              </a:p>
              <a:p>
                <a:pPr algn="r">
                  <a:lnSpc>
                    <a:spcPct val="135000"/>
                  </a:lnSpc>
                </a:pPr>
                <a:r>
                  <a:rPr lang="it-IT" sz="1050" dirty="0">
                    <a:solidFill>
                      <a:schemeClr val="bg1">
                        <a:lumMod val="50000"/>
                      </a:schemeClr>
                    </a:solidFill>
                    <a:latin typeface="Courier Std" pitchFamily="49" charset="0"/>
                  </a:rPr>
                  <a:t>07.</a:t>
                </a:r>
              </a:p>
            </p:txBody>
          </p:sp>
        </p:grpSp>
      </p:grpSp>
      <p:sp>
        <p:nvSpPr>
          <p:cNvPr id="30" name="Freccia ad arco 29"/>
          <p:cNvSpPr/>
          <p:nvPr/>
        </p:nvSpPr>
        <p:spPr>
          <a:xfrm rot="6938066">
            <a:off x="2260652" y="703244"/>
            <a:ext cx="2186109" cy="3436618"/>
          </a:xfrm>
          <a:prstGeom prst="circularArrow">
            <a:avLst>
              <a:gd name="adj1" fmla="val 2911"/>
              <a:gd name="adj2" fmla="val 791338"/>
              <a:gd name="adj3" fmla="val 20768036"/>
              <a:gd name="adj4" fmla="val 16170261"/>
              <a:gd name="adj5" fmla="val 48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1" name="Freccia ad arco 30"/>
          <p:cNvSpPr/>
          <p:nvPr/>
        </p:nvSpPr>
        <p:spPr>
          <a:xfrm rot="8581602">
            <a:off x="2655459" y="1494532"/>
            <a:ext cx="2186109" cy="4613606"/>
          </a:xfrm>
          <a:prstGeom prst="circularArrow">
            <a:avLst>
              <a:gd name="adj1" fmla="val 2911"/>
              <a:gd name="adj2" fmla="val 791338"/>
              <a:gd name="adj3" fmla="val 20768036"/>
              <a:gd name="adj4" fmla="val 16170261"/>
              <a:gd name="adj5" fmla="val 4862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2" name="Rettangolo arrotondato 31"/>
          <p:cNvSpPr/>
          <p:nvPr/>
        </p:nvSpPr>
        <p:spPr>
          <a:xfrm>
            <a:off x="5321689" y="1484783"/>
            <a:ext cx="3570791" cy="116358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t-IT" sz="1400" dirty="0">
                <a:solidFill>
                  <a:schemeClr val="tx1"/>
                </a:solidFill>
              </a:rPr>
              <a:t>Nota: in tutti i moderni IDE, l’uso dei </a:t>
            </a:r>
            <a:r>
              <a:rPr lang="it-IT" sz="1400" i="1" dirty="0">
                <a:solidFill>
                  <a:schemeClr val="tx1"/>
                </a:solidFill>
              </a:rPr>
              <a:t>file </a:t>
            </a:r>
            <a:r>
              <a:rPr lang="it-IT" sz="1400" i="1" dirty="0" err="1">
                <a:solidFill>
                  <a:schemeClr val="tx1"/>
                </a:solidFill>
              </a:rPr>
              <a:t>header</a:t>
            </a:r>
            <a:r>
              <a:rPr lang="it-IT" sz="1400" i="1" dirty="0">
                <a:solidFill>
                  <a:schemeClr val="tx1"/>
                </a:solidFill>
              </a:rPr>
              <a:t> </a:t>
            </a:r>
            <a:r>
              <a:rPr lang="it-IT" sz="1400" dirty="0">
                <a:solidFill>
                  <a:schemeClr val="tx1"/>
                </a:solidFill>
              </a:rPr>
              <a:t>(programmazione modulare) è possibile partendo da «</a:t>
            </a:r>
            <a:r>
              <a:rPr lang="it-IT" sz="1400" dirty="0">
                <a:solidFill>
                  <a:srgbClr val="00B0F0"/>
                </a:solidFill>
              </a:rPr>
              <a:t>nuovo progetto</a:t>
            </a:r>
            <a:r>
              <a:rPr lang="it-IT" sz="1400" dirty="0">
                <a:solidFill>
                  <a:schemeClr val="tx1"/>
                </a:solidFill>
              </a:rPr>
              <a:t>» invece che da «nuovo sorgente»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28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egnaposto numero diapositiva 5">
            <a:extLst>
              <a:ext uri="{FF2B5EF4-FFF2-40B4-BE49-F238E27FC236}">
                <a16:creationId xmlns="" xmlns:a16="http://schemas.microsoft.com/office/drawing/2014/main" id="{44A16CCD-D8F1-4F18-A009-0B15DC0D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74E4910-0ED9-411B-AFFD-4903EA61962E}" type="slidenum">
              <a:rPr lang="ar-SA" altLang="it-IT"/>
              <a:pPr eaLnBrk="1" hangingPunct="1"/>
              <a:t>20</a:t>
            </a:fld>
            <a:endParaRPr lang="en-US" altLang="it-IT"/>
          </a:p>
        </p:txBody>
      </p:sp>
      <p:sp>
        <p:nvSpPr>
          <p:cNvPr id="4100" name="Rectangle 2">
            <a:extLst>
              <a:ext uri="{FF2B5EF4-FFF2-40B4-BE49-F238E27FC236}">
                <a16:creationId xmlns="" xmlns:a16="http://schemas.microsoft.com/office/drawing/2014/main" id="{0C0597DD-77CF-4FBD-80A7-05CCD675F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211144" cy="1371600"/>
          </a:xfrm>
        </p:spPr>
        <p:txBody>
          <a:bodyPr/>
          <a:lstStyle/>
          <a:p>
            <a:pPr eaLnBrk="1" hangingPunct="1"/>
            <a:r>
              <a:rPr lang="en-US" altLang="it-IT" dirty="0" err="1"/>
              <a:t>FunzionI</a:t>
            </a:r>
            <a:r>
              <a:rPr lang="en-US" altLang="it-IT" dirty="0"/>
              <a:t> NON STANDARD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="" xmlns:a16="http://schemas.microsoft.com/office/drawing/2014/main" id="{CCA7EAF4-E1AF-4FC2-AAE1-646828FC4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Sono funzioni che </a:t>
            </a:r>
            <a:r>
              <a:rPr lang="it-IT" sz="2400" dirty="0">
                <a:solidFill>
                  <a:srgbClr val="00B0F0"/>
                </a:solidFill>
              </a:rPr>
              <a:t>cambiano a seconda del SO o del Compilatore </a:t>
            </a:r>
            <a:r>
              <a:rPr lang="it-IT" sz="2400" dirty="0"/>
              <a:t>(</a:t>
            </a:r>
            <a:r>
              <a:rPr lang="it-IT" sz="2400" dirty="0">
                <a:sym typeface="Wingdings" panose="05000000000000000000" pitchFamily="2" charset="2"/>
              </a:rPr>
              <a:t> NON portabili)</a:t>
            </a:r>
            <a:endParaRPr lang="it-IT" sz="2400" dirty="0"/>
          </a:p>
          <a:p>
            <a:pPr eaLnBrk="1" hangingPunct="1">
              <a:lnSpc>
                <a:spcPct val="80000"/>
              </a:lnSpc>
            </a:pPr>
            <a:endParaRPr lang="en-US" altLang="it-IT" sz="2400" dirty="0"/>
          </a:p>
          <a:p>
            <a:pPr eaLnBrk="1" hangingPunct="1">
              <a:lnSpc>
                <a:spcPct val="80000"/>
              </a:lnSpc>
            </a:pPr>
            <a:r>
              <a:rPr lang="en-US" altLang="it-IT" sz="2400" dirty="0" err="1"/>
              <a:t>conio.h</a:t>
            </a:r>
            <a:r>
              <a:rPr lang="en-US" altLang="it-IT" sz="2400" dirty="0"/>
              <a:t> </a:t>
            </a:r>
            <a:r>
              <a:rPr lang="en-US" altLang="it-IT" sz="2400" dirty="0">
                <a:sym typeface="Wingdings" panose="05000000000000000000" pitchFamily="2" charset="2"/>
              </a:rPr>
              <a:t> </a:t>
            </a:r>
            <a:r>
              <a:rPr lang="en-US" altLang="it-IT" sz="2400" dirty="0" err="1">
                <a:sym typeface="Wingdings" panose="05000000000000000000" pitchFamily="2" charset="2"/>
              </a:rPr>
              <a:t>kbhit</a:t>
            </a:r>
            <a:r>
              <a:rPr lang="en-US" altLang="it-IT" sz="2400" dirty="0">
                <a:sym typeface="Wingdings" panose="05000000000000000000" pitchFamily="2" charset="2"/>
              </a:rPr>
              <a:t>(), </a:t>
            </a:r>
            <a:r>
              <a:rPr lang="en-US" altLang="it-IT" sz="2400" dirty="0" err="1">
                <a:sym typeface="Wingdings" panose="05000000000000000000" pitchFamily="2" charset="2"/>
              </a:rPr>
              <a:t>getch</a:t>
            </a:r>
            <a:r>
              <a:rPr lang="en-US" altLang="it-IT" sz="2400" dirty="0">
                <a:sym typeface="Wingdings" panose="05000000000000000000" pitchFamily="2" charset="2"/>
              </a:rPr>
              <a:t>()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2400" dirty="0" err="1">
                <a:sym typeface="Wingdings" panose="05000000000000000000" pitchFamily="2" charset="2"/>
              </a:rPr>
              <a:t>windows.h</a:t>
            </a:r>
            <a:r>
              <a:rPr lang="en-US" altLang="it-IT" sz="2400" dirty="0">
                <a:sym typeface="Wingdings" panose="05000000000000000000" pitchFamily="2" charset="2"/>
              </a:rPr>
              <a:t>  Beep(), Sleep()</a:t>
            </a:r>
          </a:p>
          <a:p>
            <a:pPr eaLnBrk="1" hangingPunct="1">
              <a:lnSpc>
                <a:spcPct val="80000"/>
              </a:lnSpc>
            </a:pPr>
            <a:endParaRPr lang="en-US" altLang="it-IT" sz="24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it-IT" sz="2400" dirty="0" err="1">
                <a:sym typeface="Wingdings" panose="05000000000000000000" pitchFamily="2" charset="2"/>
              </a:rPr>
              <a:t>stdlib.h</a:t>
            </a:r>
            <a:r>
              <a:rPr lang="en-US" altLang="it-IT" sz="2400" dirty="0">
                <a:sym typeface="Wingdings" panose="05000000000000000000" pitchFamily="2" charset="2"/>
              </a:rPr>
              <a:t>  system</a:t>
            </a:r>
            <a:r>
              <a:rPr lang="en-US" altLang="it-IT" sz="2400">
                <a:sym typeface="Wingdings" panose="05000000000000000000" pitchFamily="2" charset="2"/>
              </a:rPr>
              <a:t>()* </a:t>
            </a:r>
            <a:endParaRPr lang="en-US" altLang="it-IT" sz="2400" dirty="0"/>
          </a:p>
        </p:txBody>
      </p:sp>
    </p:spTree>
    <p:extLst>
      <p:ext uri="{BB962C8B-B14F-4D97-AF65-F5344CB8AC3E}">
        <p14:creationId xmlns:p14="http://schemas.microsoft.com/office/powerpoint/2010/main" val="4070019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DomandA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it-IT" dirty="0"/>
              <a:t>Che differenza c’è tra parametri Formali e parametri Attuali?</a:t>
            </a:r>
          </a:p>
          <a:p>
            <a:pPr marL="342900" indent="-342900">
              <a:buFont typeface="Arial" pitchFamily="34" charset="0"/>
              <a:buChar char="•"/>
            </a:pPr>
            <a:endParaRPr lang="it-IT" dirty="0"/>
          </a:p>
          <a:p>
            <a:endParaRPr lang="it-IT" dirty="0"/>
          </a:p>
        </p:txBody>
      </p:sp>
      <p:graphicFrame>
        <p:nvGraphicFramePr>
          <p:cNvPr id="4" name="Diagramma 3"/>
          <p:cNvGraphicFramePr/>
          <p:nvPr>
            <p:extLst>
              <p:ext uri="{D42A27DB-BD31-4B8C-83A1-F6EECF244321}">
                <p14:modId xmlns:p14="http://schemas.microsoft.com/office/powerpoint/2010/main" val="42145142"/>
              </p:ext>
            </p:extLst>
          </p:nvPr>
        </p:nvGraphicFramePr>
        <p:xfrm>
          <a:off x="611560" y="2492896"/>
          <a:ext cx="756084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5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65D0A33-CD8D-4655-81AF-B36D6CEF28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765D0A33-CD8D-4655-81AF-B36D6CEF28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B14DEF-DB0B-4BF5-8830-0B9A1294B0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B7B14DEF-DB0B-4BF5-8830-0B9A1294B0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3AB6D1-459D-4F22-BD75-5F29A326C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973AB6D1-459D-4F22-BD75-5F29A326C0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6527FA-8BC2-47B4-9333-BE2FB9FE2E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996527FA-8BC2-47B4-9333-BE2FB9FE2E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DomandA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it-IT" dirty="0"/>
              <a:t>Che differenza c’è tra parametri Formali e parametri Attuali?</a:t>
            </a:r>
          </a:p>
          <a:p>
            <a:pPr marL="342900" indent="-342900">
              <a:buFont typeface="Arial" pitchFamily="34" charset="0"/>
              <a:buChar char="•"/>
            </a:pPr>
            <a:endParaRPr lang="it-IT" dirty="0"/>
          </a:p>
          <a:p>
            <a:endParaRPr lang="it-IT" dirty="0"/>
          </a:p>
        </p:txBody>
      </p:sp>
      <p:graphicFrame>
        <p:nvGraphicFramePr>
          <p:cNvPr id="4" name="Diagramma 3"/>
          <p:cNvGraphicFramePr/>
          <p:nvPr>
            <p:extLst>
              <p:ext uri="{D42A27DB-BD31-4B8C-83A1-F6EECF244321}">
                <p14:modId xmlns:p14="http://schemas.microsoft.com/office/powerpoint/2010/main" val="3472247503"/>
              </p:ext>
            </p:extLst>
          </p:nvPr>
        </p:nvGraphicFramePr>
        <p:xfrm>
          <a:off x="611560" y="2492896"/>
          <a:ext cx="756084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egnaposto contenuto 2"/>
          <p:cNvSpPr txBox="1">
            <a:spLocks/>
          </p:cNvSpPr>
          <p:nvPr/>
        </p:nvSpPr>
        <p:spPr>
          <a:xfrm>
            <a:off x="1171972" y="2708920"/>
            <a:ext cx="6419056" cy="3821532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Font typeface="Arial" pitchFamily="34" charset="0"/>
              <a:buNone/>
            </a:pPr>
            <a:r>
              <a:rPr lang="it-IT" b="1" u="sng" dirty="0">
                <a:latin typeface="Courier Std" pitchFamily="49" charset="0"/>
                <a:cs typeface="Courier New" pitchFamily="49" charset="0"/>
              </a:rPr>
              <a:t>Esempio</a:t>
            </a:r>
          </a:p>
          <a:p>
            <a:pPr lvl="1" indent="0">
              <a:buFont typeface="Arial" pitchFamily="34" charset="0"/>
              <a:buNone/>
            </a:pPr>
            <a:endParaRPr lang="it-IT" b="1" dirty="0">
              <a:latin typeface="Courier Std" pitchFamily="49" charset="0"/>
              <a:cs typeface="Courier New" pitchFamily="49" charset="0"/>
            </a:endParaRPr>
          </a:p>
          <a:p>
            <a:pPr lvl="1" indent="0">
              <a:buNone/>
            </a:pPr>
            <a:r>
              <a:rPr lang="it-IT" b="1" dirty="0">
                <a:latin typeface="+mj-lt"/>
                <a:cs typeface="Courier New" pitchFamily="49" charset="0"/>
              </a:rPr>
              <a:t>Dichiarazione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float circonferenza (float raggio);</a:t>
            </a:r>
          </a:p>
          <a:p>
            <a:pPr lvl="1" indent="0">
              <a:buNone/>
            </a:pPr>
            <a:endParaRPr lang="it-IT" b="1" dirty="0">
              <a:latin typeface="Courier Std" pitchFamily="49" charset="0"/>
              <a:cs typeface="Courier New" pitchFamily="49" charset="0"/>
            </a:endParaRPr>
          </a:p>
          <a:p>
            <a:pPr lvl="1" indent="0">
              <a:buNone/>
            </a:pPr>
            <a:r>
              <a:rPr lang="it-IT" b="1" dirty="0">
                <a:latin typeface="+mj-lt"/>
                <a:cs typeface="Courier New" pitchFamily="49" charset="0"/>
              </a:rPr>
              <a:t>Invocazione</a:t>
            </a:r>
          </a:p>
          <a:p>
            <a:pPr lvl="1" indent="0">
              <a:buNone/>
            </a:pPr>
            <a:r>
              <a:rPr lang="it-IT" b="1" dirty="0">
                <a:latin typeface="Courier Std" pitchFamily="49" charset="0"/>
                <a:cs typeface="Courier New" pitchFamily="49" charset="0"/>
              </a:rPr>
              <a:t>c = circonferenza(5.0);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4067944" y="5195753"/>
            <a:ext cx="3089152" cy="1329593"/>
            <a:chOff x="3140199" y="3501008"/>
            <a:chExt cx="1937172" cy="971908"/>
          </a:xfrm>
        </p:grpSpPr>
        <p:sp>
          <p:nvSpPr>
            <p:cNvPr id="7" name="Ovale 6"/>
            <p:cNvSpPr/>
            <p:nvPr/>
          </p:nvSpPr>
          <p:spPr>
            <a:xfrm>
              <a:off x="3383868" y="3501008"/>
              <a:ext cx="324036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Rettangolo arrotondato 7"/>
            <p:cNvSpPr/>
            <p:nvPr/>
          </p:nvSpPr>
          <p:spPr>
            <a:xfrm>
              <a:off x="3140199" y="4040868"/>
              <a:ext cx="1937172" cy="432048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>
                  <a:solidFill>
                    <a:schemeClr val="accent5"/>
                  </a:solidFill>
                  <a:latin typeface="+mj-lt"/>
                </a:rPr>
                <a:t>ATTUALE </a:t>
              </a:r>
            </a:p>
          </p:txBody>
        </p:sp>
        <p:cxnSp>
          <p:nvCxnSpPr>
            <p:cNvPr id="10" name="Connettore 2 9"/>
            <p:cNvCxnSpPr>
              <a:stCxn id="7" idx="5"/>
            </p:cNvCxnSpPr>
            <p:nvPr/>
          </p:nvCxnSpPr>
          <p:spPr>
            <a:xfrm>
              <a:off x="3660450" y="3777590"/>
              <a:ext cx="326895" cy="3495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5" name="Gruppo 14"/>
          <p:cNvGrpSpPr/>
          <p:nvPr/>
        </p:nvGrpSpPr>
        <p:grpSpPr>
          <a:xfrm>
            <a:off x="4939232" y="3125981"/>
            <a:ext cx="3089152" cy="1405116"/>
            <a:chOff x="3414460" y="2797931"/>
            <a:chExt cx="1937172" cy="1027113"/>
          </a:xfrm>
        </p:grpSpPr>
        <p:sp>
          <p:nvSpPr>
            <p:cNvPr id="16" name="Ovale 15"/>
            <p:cNvSpPr/>
            <p:nvPr/>
          </p:nvSpPr>
          <p:spPr>
            <a:xfrm>
              <a:off x="3906659" y="3501008"/>
              <a:ext cx="677331" cy="32403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Rettangolo arrotondato 16"/>
            <p:cNvSpPr/>
            <p:nvPr/>
          </p:nvSpPr>
          <p:spPr>
            <a:xfrm>
              <a:off x="3414460" y="2797931"/>
              <a:ext cx="1937172" cy="432048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>
                  <a:solidFill>
                    <a:schemeClr val="accent5"/>
                  </a:solidFill>
                  <a:latin typeface="+mj-lt"/>
                </a:rPr>
                <a:t>FORMALE</a:t>
              </a:r>
            </a:p>
          </p:txBody>
        </p:sp>
        <p:cxnSp>
          <p:nvCxnSpPr>
            <p:cNvPr id="18" name="Connettore 2 17"/>
            <p:cNvCxnSpPr>
              <a:stCxn id="16" idx="0"/>
            </p:cNvCxnSpPr>
            <p:nvPr/>
          </p:nvCxnSpPr>
          <p:spPr>
            <a:xfrm flipV="1">
              <a:off x="4245325" y="3124707"/>
              <a:ext cx="112888" cy="3763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255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Comunicazione tra Chiamante e Funzione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Freccia a destra rientrata 5"/>
          <p:cNvSpPr/>
          <p:nvPr/>
        </p:nvSpPr>
        <p:spPr>
          <a:xfrm flipH="1">
            <a:off x="1763688" y="3789280"/>
            <a:ext cx="4896064" cy="2160000"/>
          </a:xfrm>
          <a:prstGeom prst="notchedRightArrow">
            <a:avLst>
              <a:gd name="adj1" fmla="val 68897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lvl="0" algn="ctr"/>
            <a:r>
              <a:rPr lang="it-IT" dirty="0"/>
              <a:t>Il chiamato deve poter fornire al chiamante i risultati dell’elaborazione</a:t>
            </a:r>
          </a:p>
          <a:p>
            <a:pPr algn="ctr"/>
            <a:endParaRPr lang="it-IT" dirty="0"/>
          </a:p>
        </p:txBody>
      </p:sp>
      <p:sp>
        <p:nvSpPr>
          <p:cNvPr id="7" name="Freccia a destra rientrata 6"/>
          <p:cNvSpPr/>
          <p:nvPr/>
        </p:nvSpPr>
        <p:spPr>
          <a:xfrm>
            <a:off x="1763688" y="1629040"/>
            <a:ext cx="4896064" cy="2160000"/>
          </a:xfrm>
          <a:prstGeom prst="notchedRightArrow">
            <a:avLst>
              <a:gd name="adj1" fmla="val 68143"/>
              <a:gd name="adj2" fmla="val 50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lvl="0" algn="ctr"/>
            <a:r>
              <a:rPr lang="it-IT" dirty="0"/>
              <a:t>Il chiamato deve poter ricevere dal chiamante i valori attuali sui quali eseguire le operazioni definite nel sottoprogramma</a:t>
            </a:r>
          </a:p>
        </p:txBody>
      </p:sp>
      <p:sp>
        <p:nvSpPr>
          <p:cNvPr id="8" name="Rettangolo arrotondato 7"/>
          <p:cNvSpPr/>
          <p:nvPr/>
        </p:nvSpPr>
        <p:spPr>
          <a:xfrm rot="16200000">
            <a:off x="-954344" y="3159240"/>
            <a:ext cx="3600000" cy="12600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dirty="0"/>
              <a:t>CHIAMANTE</a:t>
            </a:r>
          </a:p>
        </p:txBody>
      </p:sp>
      <p:sp>
        <p:nvSpPr>
          <p:cNvPr id="9" name="Rettangolo arrotondato 8"/>
          <p:cNvSpPr/>
          <p:nvPr/>
        </p:nvSpPr>
        <p:spPr>
          <a:xfrm rot="16200000">
            <a:off x="5814408" y="3159240"/>
            <a:ext cx="3600000" cy="12600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dirty="0"/>
              <a:t>FUNZIONE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3862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Comunicazione tra Chiamante e Funzione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Nell’</a:t>
            </a:r>
            <a:r>
              <a:rPr lang="it-IT" dirty="0">
                <a:solidFill>
                  <a:srgbClr val="00B0F0"/>
                </a:solidFill>
              </a:rPr>
              <a:t>approccio elementare </a:t>
            </a:r>
            <a:r>
              <a:rPr lang="it-IT" dirty="0"/>
              <a:t>lo scambio di informazioni tra chiamante e chiamato può avvenire: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 OUTPUT - valore restituito da una funzione (dal chiamato al chiamante)</a:t>
            </a:r>
          </a:p>
          <a:p>
            <a:pPr marL="800100" lvl="1" indent="-342900"/>
            <a:r>
              <a:rPr lang="it-IT" dirty="0"/>
              <a:t>vale solo per le funzioni (non per le procedure)</a:t>
            </a:r>
          </a:p>
          <a:p>
            <a:pPr marL="800100" lvl="1" indent="-342900"/>
            <a:r>
              <a:rPr lang="it-IT" dirty="0"/>
              <a:t>per fornire un valore al chiamante (tramite </a:t>
            </a:r>
            <a:r>
              <a:rPr lang="it-IT" b="1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INPUT - passaggio dei parametri (dal chiamante al chiamato)</a:t>
            </a:r>
          </a:p>
          <a:p>
            <a:pPr marL="800100" lvl="1" indent="-342900"/>
            <a:r>
              <a:rPr lang="it-IT" dirty="0"/>
              <a:t>per fornire valori in ingresso al chiamato</a:t>
            </a:r>
          </a:p>
          <a:p>
            <a:pPr marL="800100" lvl="1" indent="-342900"/>
            <a:r>
              <a:rPr lang="it-IT" dirty="0"/>
              <a:t>Possiamo passare uno nessuno o più parametri di vari tipi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 I/O - variabili globali (in entrambe le direzioni)</a:t>
            </a:r>
          </a:p>
          <a:p>
            <a:pPr marL="800100" lvl="1" indent="-342900"/>
            <a:r>
              <a:rPr lang="it-IT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deprecato!!!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27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D720A5FA-6741-4DC6-8AA3-61B79FAC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Memory Layout in C Program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86943499-A913-4FDC-A5D8-AF359934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25</a:t>
            </a:fld>
            <a:endParaRPr lang="it-IT"/>
          </a:p>
        </p:txBody>
      </p:sp>
      <p:pic>
        <p:nvPicPr>
          <p:cNvPr id="1026" name="Picture 2" descr="Risultato immagini per program memory stack heap literal">
            <a:extLst>
              <a:ext uri="{FF2B5EF4-FFF2-40B4-BE49-F238E27FC236}">
                <a16:creationId xmlns="" xmlns:a16="http://schemas.microsoft.com/office/drawing/2014/main" id="{4BD9AD31-75BD-4F6A-87AC-3D2D79B5D1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798" y="1844825"/>
            <a:ext cx="7658750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tangolo 4">
            <a:extLst>
              <a:ext uri="{FF2B5EF4-FFF2-40B4-BE49-F238E27FC236}">
                <a16:creationId xmlns="" xmlns:a16="http://schemas.microsoft.com/office/drawing/2014/main" id="{1ABD1A6F-BEA6-4909-AE2E-C6EE5DE90030}"/>
              </a:ext>
            </a:extLst>
          </p:cNvPr>
          <p:cNvSpPr/>
          <p:nvPr/>
        </p:nvSpPr>
        <p:spPr>
          <a:xfrm>
            <a:off x="1403648" y="6273315"/>
            <a:ext cx="1584176" cy="32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0x00000000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="" xmlns:a16="http://schemas.microsoft.com/office/drawing/2014/main" id="{3D84DD43-E56D-450A-8D82-93138B1D0D24}"/>
              </a:ext>
            </a:extLst>
          </p:cNvPr>
          <p:cNvSpPr/>
          <p:nvPr/>
        </p:nvSpPr>
        <p:spPr>
          <a:xfrm>
            <a:off x="1403648" y="1844825"/>
            <a:ext cx="1584176" cy="2880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0xFFFFFFFF</a:t>
            </a:r>
          </a:p>
        </p:txBody>
      </p:sp>
    </p:spTree>
    <p:extLst>
      <p:ext uri="{BB962C8B-B14F-4D97-AF65-F5344CB8AC3E}">
        <p14:creationId xmlns:p14="http://schemas.microsoft.com/office/powerpoint/2010/main" val="3080299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Ambiente di Esecuzione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0"/>
            <a:ext cx="5842992" cy="4373563"/>
          </a:xfrm>
        </p:spPr>
        <p:txBody>
          <a:bodyPr>
            <a:normAutofit/>
          </a:bodyPr>
          <a:lstStyle/>
          <a:p>
            <a:r>
              <a:rPr lang="it-IT" dirty="0"/>
              <a:t>• L’ambiente di esecuzione di una funzione viene creato al momento della chiamata e rilasciato quando la funzione termina</a:t>
            </a:r>
          </a:p>
          <a:p>
            <a:r>
              <a:rPr lang="it-IT" dirty="0"/>
              <a:t>• In una sequenza di chiamate, l’ultima chiamata è la prima a terminare</a:t>
            </a:r>
          </a:p>
          <a:p>
            <a:r>
              <a:rPr lang="it-IT" dirty="0"/>
              <a:t>• La zona di memoria di lavoro che contiene l’ambiente di esecuzione di un sottoprogramma è gestito con la logica di una pila (</a:t>
            </a:r>
            <a:r>
              <a:rPr lang="it-IT" dirty="0" err="1"/>
              <a:t>stack</a:t>
            </a:r>
            <a:r>
              <a:rPr lang="it-IT" dirty="0"/>
              <a:t>)</a:t>
            </a:r>
          </a:p>
          <a:p>
            <a:pPr marL="800100" lvl="1" indent="-342900"/>
            <a:r>
              <a:rPr lang="it-IT" dirty="0"/>
              <a:t>L’ultimo elemento inserito nello </a:t>
            </a:r>
            <a:r>
              <a:rPr lang="it-IT" dirty="0" err="1"/>
              <a:t>stack</a:t>
            </a:r>
            <a:r>
              <a:rPr lang="it-IT" dirty="0"/>
              <a:t> è il primo ad essere estratto</a:t>
            </a:r>
          </a:p>
          <a:p>
            <a:pPr marL="800100" lvl="1" indent="-342900"/>
            <a:r>
              <a:rPr lang="it-IT" dirty="0"/>
              <a:t>Logica LIFO (Last In First Out)</a:t>
            </a:r>
          </a:p>
        </p:txBody>
      </p:sp>
      <p:sp>
        <p:nvSpPr>
          <p:cNvPr id="17" name="Rettangolo 16"/>
          <p:cNvSpPr/>
          <p:nvPr/>
        </p:nvSpPr>
        <p:spPr>
          <a:xfrm>
            <a:off x="6660232" y="1757467"/>
            <a:ext cx="2160000" cy="4680000"/>
          </a:xfrm>
          <a:prstGeom prst="rect">
            <a:avLst/>
          </a:prstGeom>
          <a:solidFill>
            <a:srgbClr val="C8C8B1">
              <a:alpha val="2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/>
          <p:cNvSpPr txBox="1"/>
          <p:nvPr/>
        </p:nvSpPr>
        <p:spPr>
          <a:xfrm>
            <a:off x="6660232" y="1388135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u="sng" cap="small" dirty="0"/>
              <a:t>Memoria</a:t>
            </a:r>
          </a:p>
        </p:txBody>
      </p:sp>
      <p:sp>
        <p:nvSpPr>
          <p:cNvPr id="19" name="Rettangolo 18"/>
          <p:cNvSpPr/>
          <p:nvPr/>
        </p:nvSpPr>
        <p:spPr>
          <a:xfrm>
            <a:off x="6660232" y="6077947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/>
              <a:t>Variabili d’ambiente</a:t>
            </a:r>
          </a:p>
        </p:txBody>
      </p:sp>
      <p:sp>
        <p:nvSpPr>
          <p:cNvPr id="20" name="Rettangolo 19"/>
          <p:cNvSpPr/>
          <p:nvPr/>
        </p:nvSpPr>
        <p:spPr>
          <a:xfrm>
            <a:off x="6660232" y="3053611"/>
            <a:ext cx="2160000" cy="3024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HEAP</a:t>
            </a:r>
            <a:endParaRPr lang="it-IT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r>
              <a:rPr lang="it-IT" sz="20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it-IT" sz="20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ttangolo 20"/>
          <p:cNvSpPr/>
          <p:nvPr/>
        </p:nvSpPr>
        <p:spPr>
          <a:xfrm>
            <a:off x="6660232" y="2694091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Variabili non inizializzate</a:t>
            </a:r>
          </a:p>
        </p:txBody>
      </p:sp>
      <p:sp>
        <p:nvSpPr>
          <p:cNvPr id="22" name="Rettangolo 21"/>
          <p:cNvSpPr/>
          <p:nvPr/>
        </p:nvSpPr>
        <p:spPr>
          <a:xfrm>
            <a:off x="6660232" y="2334571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Variabili inizializzate</a:t>
            </a:r>
          </a:p>
        </p:txBody>
      </p:sp>
      <p:sp>
        <p:nvSpPr>
          <p:cNvPr id="23" name="Rettangolo 22"/>
          <p:cNvSpPr/>
          <p:nvPr/>
        </p:nvSpPr>
        <p:spPr>
          <a:xfrm>
            <a:off x="6660232" y="1757467"/>
            <a:ext cx="2160000" cy="5771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…</a:t>
            </a:r>
          </a:p>
        </p:txBody>
      </p:sp>
      <p:sp>
        <p:nvSpPr>
          <p:cNvPr id="24" name="Freccia in giù 23"/>
          <p:cNvSpPr/>
          <p:nvPr/>
        </p:nvSpPr>
        <p:spPr>
          <a:xfrm>
            <a:off x="7581424" y="3593931"/>
            <a:ext cx="317976" cy="53980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/>
          <p:cNvSpPr/>
          <p:nvPr/>
        </p:nvSpPr>
        <p:spPr>
          <a:xfrm flipV="1">
            <a:off x="7632340" y="4997827"/>
            <a:ext cx="317976" cy="53980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223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Ambiente di Esecuzione: lo </a:t>
            </a:r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0"/>
            <a:ext cx="5842992" cy="4373563"/>
          </a:xfrm>
        </p:spPr>
        <p:txBody>
          <a:bodyPr>
            <a:normAutofit/>
          </a:bodyPr>
          <a:lstStyle/>
          <a:p>
            <a:r>
              <a:rPr lang="it-IT" dirty="0"/>
              <a:t>Nello </a:t>
            </a:r>
            <a:r>
              <a:rPr lang="it-IT" dirty="0" err="1"/>
              <a:t>stack</a:t>
            </a:r>
            <a:r>
              <a:rPr lang="it-IT" dirty="0"/>
              <a:t>, i record sono allocati “uno sopra l’altro”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/>
              <a:t>Il primo record dello </a:t>
            </a:r>
            <a:r>
              <a:rPr lang="it-IT" dirty="0" err="1"/>
              <a:t>stack</a:t>
            </a:r>
            <a:r>
              <a:rPr lang="it-IT" dirty="0"/>
              <a:t> (in cima) è relativo all’ultima funzione chiamata e non ancora terminata (perché?)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dirty="0"/>
              <a:t>Lo </a:t>
            </a:r>
            <a:r>
              <a:rPr lang="it-IT" dirty="0" err="1"/>
              <a:t>stack</a:t>
            </a:r>
            <a:r>
              <a:rPr lang="it-IT" dirty="0"/>
              <a:t> cresce dal basso verso l’alto</a:t>
            </a:r>
          </a:p>
          <a:p>
            <a:endParaRPr lang="it-IT" dirty="0"/>
          </a:p>
          <a:p>
            <a:r>
              <a:rPr lang="it-IT" u="sng" dirty="0"/>
              <a:t>Nota:</a:t>
            </a:r>
          </a:p>
          <a:p>
            <a:r>
              <a:rPr lang="it-IT" i="1" dirty="0" err="1">
                <a:solidFill>
                  <a:srgbClr val="00B050"/>
                </a:solidFill>
              </a:rPr>
              <a:t>Stack</a:t>
            </a:r>
            <a:r>
              <a:rPr lang="it-IT" i="1" dirty="0">
                <a:solidFill>
                  <a:srgbClr val="00B050"/>
                </a:solidFill>
              </a:rPr>
              <a:t> </a:t>
            </a:r>
            <a:r>
              <a:rPr lang="it-IT" i="1" dirty="0" err="1">
                <a:solidFill>
                  <a:srgbClr val="00B050"/>
                </a:solidFill>
              </a:rPr>
              <a:t>overflow</a:t>
            </a:r>
            <a:r>
              <a:rPr lang="it-IT" b="0" dirty="0"/>
              <a:t>: quando l’area della RAM destinata allo </a:t>
            </a:r>
            <a:r>
              <a:rPr lang="it-IT" b="0" dirty="0" err="1"/>
              <a:t>stack</a:t>
            </a:r>
            <a:r>
              <a:rPr lang="it-IT" b="0" dirty="0"/>
              <a:t> viene superata (troppi annidamenti di chiamate)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6646852" y="1876762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it-IT" sz="20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tangolo 14"/>
          <p:cNvSpPr/>
          <p:nvPr/>
        </p:nvSpPr>
        <p:spPr>
          <a:xfrm>
            <a:off x="6156176" y="2353041"/>
            <a:ext cx="2160000" cy="4156433"/>
          </a:xfrm>
          <a:prstGeom prst="rect">
            <a:avLst/>
          </a:prstGeom>
          <a:solidFill>
            <a:srgbClr val="C8C8B1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igura a mano libera 15"/>
          <p:cNvSpPr/>
          <p:nvPr/>
        </p:nvSpPr>
        <p:spPr>
          <a:xfrm>
            <a:off x="6156176" y="2348880"/>
            <a:ext cx="2179320" cy="4162028"/>
          </a:xfrm>
          <a:custGeom>
            <a:avLst/>
            <a:gdLst>
              <a:gd name="connsiteX0" fmla="*/ 0 w 2179320"/>
              <a:gd name="connsiteY0" fmla="*/ 0 h 4686300"/>
              <a:gd name="connsiteX1" fmla="*/ 0 w 2179320"/>
              <a:gd name="connsiteY1" fmla="*/ 4686300 h 4686300"/>
              <a:gd name="connsiteX2" fmla="*/ 2164080 w 2179320"/>
              <a:gd name="connsiteY2" fmla="*/ 4686300 h 4686300"/>
              <a:gd name="connsiteX3" fmla="*/ 2164080 w 2179320"/>
              <a:gd name="connsiteY3" fmla="*/ 7620 h 4686300"/>
              <a:gd name="connsiteX4" fmla="*/ 2179320 w 2179320"/>
              <a:gd name="connsiteY4" fmla="*/ 762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9320" h="4686300">
                <a:moveTo>
                  <a:pt x="0" y="0"/>
                </a:moveTo>
                <a:lnTo>
                  <a:pt x="0" y="4686300"/>
                </a:lnTo>
                <a:lnTo>
                  <a:pt x="2164080" y="4686300"/>
                </a:lnTo>
                <a:lnTo>
                  <a:pt x="2164080" y="7620"/>
                </a:lnTo>
                <a:lnTo>
                  <a:pt x="2179320" y="762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/>
          <p:cNvSpPr/>
          <p:nvPr/>
        </p:nvSpPr>
        <p:spPr>
          <a:xfrm>
            <a:off x="6156176" y="579043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Variabili locali </a:t>
            </a:r>
            <a:r>
              <a:rPr lang="it-IT" sz="1200" b="1" dirty="0" err="1"/>
              <a:t>main</a:t>
            </a:r>
            <a:r>
              <a:rPr lang="it-IT" sz="1200" b="1" dirty="0"/>
              <a:t>()</a:t>
            </a:r>
          </a:p>
        </p:txBody>
      </p:sp>
      <p:sp>
        <p:nvSpPr>
          <p:cNvPr id="18" name="Rettangolo 17"/>
          <p:cNvSpPr/>
          <p:nvPr/>
        </p:nvSpPr>
        <p:spPr>
          <a:xfrm>
            <a:off x="6156176" y="543091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cube()</a:t>
            </a:r>
          </a:p>
        </p:txBody>
      </p:sp>
      <p:sp>
        <p:nvSpPr>
          <p:cNvPr id="19" name="Rettangolo 18"/>
          <p:cNvSpPr/>
          <p:nvPr/>
        </p:nvSpPr>
        <p:spPr>
          <a:xfrm>
            <a:off x="6156176" y="507139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Variabili locali cube()</a:t>
            </a:r>
          </a:p>
        </p:txBody>
      </p:sp>
      <p:sp>
        <p:nvSpPr>
          <p:cNvPr id="20" name="Rettangolo 19"/>
          <p:cNvSpPr/>
          <p:nvPr/>
        </p:nvSpPr>
        <p:spPr>
          <a:xfrm>
            <a:off x="6156176" y="614995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</a:t>
            </a:r>
            <a:r>
              <a:rPr lang="it-IT" sz="1200" b="1" dirty="0" err="1"/>
              <a:t>main</a:t>
            </a:r>
            <a:r>
              <a:rPr lang="it-IT" sz="1200" b="1" dirty="0"/>
              <a:t>()</a:t>
            </a:r>
          </a:p>
        </p:txBody>
      </p:sp>
      <p:sp>
        <p:nvSpPr>
          <p:cNvPr id="21" name="Rettangolo 20"/>
          <p:cNvSpPr/>
          <p:nvPr/>
        </p:nvSpPr>
        <p:spPr>
          <a:xfrm>
            <a:off x="6160740" y="5071394"/>
            <a:ext cx="2155436" cy="71904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/>
          <p:cNvSpPr/>
          <p:nvPr/>
        </p:nvSpPr>
        <p:spPr>
          <a:xfrm>
            <a:off x="6160740" y="5789668"/>
            <a:ext cx="2155436" cy="71904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in giù 22"/>
          <p:cNvSpPr/>
          <p:nvPr/>
        </p:nvSpPr>
        <p:spPr>
          <a:xfrm flipV="1">
            <a:off x="7077188" y="4365104"/>
            <a:ext cx="317976" cy="53980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/>
          <p:cNvSpPr/>
          <p:nvPr/>
        </p:nvSpPr>
        <p:spPr>
          <a:xfrm>
            <a:off x="6156176" y="4720468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…</a:t>
            </a:r>
          </a:p>
        </p:txBody>
      </p:sp>
      <p:sp>
        <p:nvSpPr>
          <p:cNvPr id="25" name="Rettangolo 24"/>
          <p:cNvSpPr/>
          <p:nvPr/>
        </p:nvSpPr>
        <p:spPr>
          <a:xfrm>
            <a:off x="6156176" y="4360948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Variabili locali ….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6160740" y="4360948"/>
            <a:ext cx="2155436" cy="719040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2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07407E-6 L 5.55556E-7 -0.1863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29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 animBg="1"/>
      <p:bldP spid="19" grpId="0" animBg="1"/>
      <p:bldP spid="21" grpId="0" animBg="1"/>
      <p:bldP spid="23" grpId="0" animBg="1"/>
      <p:bldP spid="23" grpId="1" animBg="1"/>
      <p:bldP spid="24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27168" cy="1371600"/>
          </a:xfrm>
        </p:spPr>
        <p:txBody>
          <a:bodyPr>
            <a:normAutofit/>
          </a:bodyPr>
          <a:lstStyle/>
          <a:p>
            <a:r>
              <a:rPr lang="it-IT" dirty="0"/>
              <a:t>Ambiente di esecuzione: il Record di Attivazione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1"/>
            <a:ext cx="5482952" cy="349855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it-IT" dirty="0"/>
              <a:t>Alla chiamata di una funzione: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it-IT" dirty="0"/>
              <a:t>si alloca uno spazio di memoria (</a:t>
            </a:r>
            <a:r>
              <a:rPr lang="it-IT" i="1" dirty="0">
                <a:solidFill>
                  <a:srgbClr val="FF0000"/>
                </a:solidFill>
              </a:rPr>
              <a:t>Record di Attivazione</a:t>
            </a:r>
            <a:r>
              <a:rPr lang="it-IT" dirty="0"/>
              <a:t>) in cima allo</a:t>
            </a:r>
            <a:r>
              <a:rPr lang="it-IT" i="1" dirty="0">
                <a:solidFill>
                  <a:srgbClr val="00B0F0"/>
                </a:solidFill>
              </a:rPr>
              <a:t> </a:t>
            </a:r>
            <a:r>
              <a:rPr lang="it-IT" i="1" dirty="0" err="1">
                <a:solidFill>
                  <a:srgbClr val="00B0F0"/>
                </a:solidFill>
              </a:rPr>
              <a:t>stack</a:t>
            </a:r>
            <a:r>
              <a:rPr lang="it-IT" i="1" dirty="0">
                <a:solidFill>
                  <a:srgbClr val="00B0F0"/>
                </a:solidFill>
              </a:rPr>
              <a:t> </a:t>
            </a:r>
            <a:r>
              <a:rPr lang="it-IT" dirty="0"/>
              <a:t>per contenere:</a:t>
            </a:r>
          </a:p>
          <a:p>
            <a:pPr marL="800100" lvl="1" indent="-342900">
              <a:lnSpc>
                <a:spcPct val="120000"/>
              </a:lnSpc>
              <a:spcBef>
                <a:spcPts val="600"/>
              </a:spcBef>
            </a:pPr>
            <a:r>
              <a:rPr lang="it-IT" dirty="0"/>
              <a:t>l’indirizzo di ritorno al chiamante,</a:t>
            </a:r>
          </a:p>
          <a:p>
            <a:pPr marL="800100" lvl="1" indent="-342900">
              <a:lnSpc>
                <a:spcPct val="120000"/>
              </a:lnSpc>
              <a:spcBef>
                <a:spcPts val="600"/>
              </a:spcBef>
            </a:pPr>
            <a:r>
              <a:rPr lang="it-IT" dirty="0"/>
              <a:t>Risultato (valore di ritorno)</a:t>
            </a:r>
          </a:p>
          <a:p>
            <a:pPr marL="800100" lvl="1" indent="-342900">
              <a:lnSpc>
                <a:spcPct val="120000"/>
              </a:lnSpc>
              <a:spcBef>
                <a:spcPts val="600"/>
              </a:spcBef>
            </a:pPr>
            <a:r>
              <a:rPr lang="it-IT" dirty="0"/>
              <a:t>parametri formali,</a:t>
            </a:r>
          </a:p>
          <a:p>
            <a:pPr marL="800100" lvl="1" indent="-342900">
              <a:lnSpc>
                <a:spcPct val="120000"/>
              </a:lnSpc>
              <a:spcBef>
                <a:spcPts val="600"/>
              </a:spcBef>
            </a:pPr>
            <a:r>
              <a:rPr lang="it-IT" dirty="0"/>
              <a:t>le variabili locali</a:t>
            </a:r>
          </a:p>
          <a:p>
            <a:pPr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it-IT" b="1" dirty="0"/>
              <a:t>della funzione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it-IT" dirty="0"/>
              <a:t> lo spazio viene rilasciato (</a:t>
            </a:r>
            <a:r>
              <a:rPr lang="it-IT" dirty="0">
                <a:solidFill>
                  <a:srgbClr val="00B0F0"/>
                </a:solidFill>
              </a:rPr>
              <a:t>deallocato</a:t>
            </a:r>
            <a:r>
              <a:rPr lang="it-IT" dirty="0"/>
              <a:t>) quando la funzione termina (l’area di memoria è riutilizzabile)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6646852" y="1876762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it-IT" sz="20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ttangolo 12"/>
          <p:cNvSpPr/>
          <p:nvPr/>
        </p:nvSpPr>
        <p:spPr>
          <a:xfrm>
            <a:off x="6156176" y="2353041"/>
            <a:ext cx="2160000" cy="4156433"/>
          </a:xfrm>
          <a:prstGeom prst="rect">
            <a:avLst/>
          </a:prstGeom>
          <a:solidFill>
            <a:srgbClr val="C8C8B1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igura a mano libera 22"/>
          <p:cNvSpPr/>
          <p:nvPr/>
        </p:nvSpPr>
        <p:spPr>
          <a:xfrm>
            <a:off x="6156176" y="2348880"/>
            <a:ext cx="2179320" cy="4162028"/>
          </a:xfrm>
          <a:custGeom>
            <a:avLst/>
            <a:gdLst>
              <a:gd name="connsiteX0" fmla="*/ 0 w 2179320"/>
              <a:gd name="connsiteY0" fmla="*/ 0 h 4686300"/>
              <a:gd name="connsiteX1" fmla="*/ 0 w 2179320"/>
              <a:gd name="connsiteY1" fmla="*/ 4686300 h 4686300"/>
              <a:gd name="connsiteX2" fmla="*/ 2164080 w 2179320"/>
              <a:gd name="connsiteY2" fmla="*/ 4686300 h 4686300"/>
              <a:gd name="connsiteX3" fmla="*/ 2164080 w 2179320"/>
              <a:gd name="connsiteY3" fmla="*/ 7620 h 4686300"/>
              <a:gd name="connsiteX4" fmla="*/ 2179320 w 2179320"/>
              <a:gd name="connsiteY4" fmla="*/ 762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9320" h="4686300">
                <a:moveTo>
                  <a:pt x="0" y="0"/>
                </a:moveTo>
                <a:lnTo>
                  <a:pt x="0" y="4686300"/>
                </a:lnTo>
                <a:lnTo>
                  <a:pt x="2164080" y="4686300"/>
                </a:lnTo>
                <a:lnTo>
                  <a:pt x="2164080" y="7620"/>
                </a:lnTo>
                <a:lnTo>
                  <a:pt x="2179320" y="762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/>
          <p:cNvSpPr/>
          <p:nvPr/>
        </p:nvSpPr>
        <p:spPr>
          <a:xfrm>
            <a:off x="6156176" y="579043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Variabili locali </a:t>
            </a:r>
            <a:r>
              <a:rPr lang="it-IT" sz="1200" b="1" dirty="0" err="1"/>
              <a:t>main</a:t>
            </a:r>
            <a:r>
              <a:rPr lang="it-IT" sz="1200" b="1" dirty="0"/>
              <a:t>()</a:t>
            </a:r>
          </a:p>
        </p:txBody>
      </p:sp>
      <p:sp>
        <p:nvSpPr>
          <p:cNvPr id="25" name="Rettangolo 24"/>
          <p:cNvSpPr/>
          <p:nvPr/>
        </p:nvSpPr>
        <p:spPr>
          <a:xfrm>
            <a:off x="6156176" y="543091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cube()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6156176" y="507139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Variabili locali cube()</a:t>
            </a:r>
          </a:p>
        </p:txBody>
      </p:sp>
      <p:sp>
        <p:nvSpPr>
          <p:cNvPr id="15" name="Rettangolo 14"/>
          <p:cNvSpPr/>
          <p:nvPr/>
        </p:nvSpPr>
        <p:spPr>
          <a:xfrm>
            <a:off x="6156176" y="614995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</a:t>
            </a:r>
            <a:r>
              <a:rPr lang="it-IT" sz="1200" b="1" dirty="0" err="1"/>
              <a:t>main</a:t>
            </a:r>
            <a:r>
              <a:rPr lang="it-IT" sz="1200" b="1" dirty="0"/>
              <a:t>()</a:t>
            </a:r>
          </a:p>
        </p:txBody>
      </p:sp>
      <p:sp>
        <p:nvSpPr>
          <p:cNvPr id="29" name="Parentesi graffa aperta 28"/>
          <p:cNvSpPr/>
          <p:nvPr/>
        </p:nvSpPr>
        <p:spPr>
          <a:xfrm>
            <a:off x="5796136" y="5852160"/>
            <a:ext cx="288032" cy="595588"/>
          </a:xfrm>
          <a:prstGeom prst="leftBrace">
            <a:avLst>
              <a:gd name="adj1" fmla="val 26852"/>
              <a:gd name="adj2" fmla="val 5106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/>
          <p:cNvSpPr txBox="1"/>
          <p:nvPr/>
        </p:nvSpPr>
        <p:spPr>
          <a:xfrm>
            <a:off x="2337460" y="5970194"/>
            <a:ext cx="345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b="1" dirty="0"/>
              <a:t>Record di Attivazione di </a:t>
            </a:r>
            <a:r>
              <a:rPr lang="it-IT" sz="1400" b="1" dirty="0" err="1">
                <a:solidFill>
                  <a:schemeClr val="tx2"/>
                </a:solidFill>
              </a:rPr>
              <a:t>main</a:t>
            </a:r>
            <a:r>
              <a:rPr lang="it-IT" sz="1400" b="1" dirty="0">
                <a:solidFill>
                  <a:schemeClr val="tx2"/>
                </a:solidFill>
              </a:rPr>
              <a:t>()</a:t>
            </a:r>
          </a:p>
        </p:txBody>
      </p:sp>
      <p:sp>
        <p:nvSpPr>
          <p:cNvPr id="33" name="Parentesi graffa aperta 32"/>
          <p:cNvSpPr/>
          <p:nvPr/>
        </p:nvSpPr>
        <p:spPr>
          <a:xfrm>
            <a:off x="5796136" y="5133120"/>
            <a:ext cx="288032" cy="595588"/>
          </a:xfrm>
          <a:prstGeom prst="leftBrace">
            <a:avLst>
              <a:gd name="adj1" fmla="val 26852"/>
              <a:gd name="adj2" fmla="val 5106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/>
          <p:cNvSpPr txBox="1"/>
          <p:nvPr/>
        </p:nvSpPr>
        <p:spPr>
          <a:xfrm>
            <a:off x="2337460" y="5251154"/>
            <a:ext cx="345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b="1" dirty="0"/>
              <a:t>Record di Attivazione di </a:t>
            </a:r>
            <a:r>
              <a:rPr lang="it-IT" sz="1400" b="1" dirty="0">
                <a:solidFill>
                  <a:schemeClr val="accent2"/>
                </a:solidFill>
              </a:rPr>
              <a:t>cube()</a:t>
            </a:r>
          </a:p>
        </p:txBody>
      </p:sp>
      <p:sp>
        <p:nvSpPr>
          <p:cNvPr id="35" name="Rettangolo 34"/>
          <p:cNvSpPr/>
          <p:nvPr/>
        </p:nvSpPr>
        <p:spPr>
          <a:xfrm>
            <a:off x="6160740" y="5071394"/>
            <a:ext cx="2155436" cy="71904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35"/>
          <p:cNvSpPr/>
          <p:nvPr/>
        </p:nvSpPr>
        <p:spPr>
          <a:xfrm>
            <a:off x="6160740" y="5789668"/>
            <a:ext cx="2155436" cy="71904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Freccia in giù 36"/>
          <p:cNvSpPr/>
          <p:nvPr/>
        </p:nvSpPr>
        <p:spPr>
          <a:xfrm flipV="1">
            <a:off x="7077188" y="4365104"/>
            <a:ext cx="317976" cy="53980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320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27168" cy="1371600"/>
          </a:xfrm>
        </p:spPr>
        <p:txBody>
          <a:bodyPr>
            <a:normAutofit/>
          </a:bodyPr>
          <a:lstStyle/>
          <a:p>
            <a:r>
              <a:rPr lang="it-IT" dirty="0"/>
              <a:t>Ambiente di esecuzione: il Record di Attivazione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0"/>
            <a:ext cx="7211144" cy="4373563"/>
          </a:xfrm>
        </p:spPr>
        <p:txBody>
          <a:bodyPr>
            <a:normAutofit lnSpcReduction="10000"/>
          </a:bodyPr>
          <a:lstStyle/>
          <a:p>
            <a:r>
              <a:rPr lang="it-IT" u="sng" dirty="0">
                <a:solidFill>
                  <a:srgbClr val="FF0000"/>
                </a:solidFill>
              </a:rPr>
              <a:t>Nota Bene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La dimensione del record di attivazione è determinata </a:t>
            </a:r>
            <a:r>
              <a:rPr lang="it-IT" sz="2400" i="1" dirty="0">
                <a:solidFill>
                  <a:srgbClr val="00B050"/>
                </a:solidFill>
              </a:rPr>
              <a:t>compile-time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Il numero di attivazioni della funzione non è noto a priori, ma solo </a:t>
            </a:r>
            <a:r>
              <a:rPr lang="it-IT" sz="2400" i="1" dirty="0" err="1">
                <a:solidFill>
                  <a:srgbClr val="00B0F0"/>
                </a:solidFill>
              </a:rPr>
              <a:t>run</a:t>
            </a:r>
            <a:r>
              <a:rPr lang="it-IT" sz="2400" i="1" dirty="0">
                <a:solidFill>
                  <a:srgbClr val="00B0F0"/>
                </a:solidFill>
              </a:rPr>
              <a:t>-time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la funzione chiamante non può interagire con una variabile locale della funzione chiamata (e viceversa)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ad attivazioni successive di una stessa funzione corrispondono variabili (locazioni di memoria) diverse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44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Domanda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0"/>
            <a:ext cx="6923112" cy="4373563"/>
          </a:xfrm>
        </p:spPr>
        <p:txBody>
          <a:bodyPr/>
          <a:lstStyle/>
          <a:p>
            <a:r>
              <a:rPr lang="it-IT" dirty="0"/>
              <a:t>Chi occupa il primo record di attivazione?</a:t>
            </a:r>
          </a:p>
          <a:p>
            <a:endParaRPr lang="it-IT" dirty="0"/>
          </a:p>
          <a:p>
            <a:pPr algn="just"/>
            <a:r>
              <a:rPr lang="it-IT" dirty="0">
                <a:sym typeface="Wingdings" pitchFamily="2" charset="2"/>
              </a:rPr>
              <a:t> </a:t>
            </a:r>
            <a:r>
              <a:rPr lang="it-IT" dirty="0">
                <a:solidFill>
                  <a:srgbClr val="00B0F0"/>
                </a:solidFill>
              </a:rPr>
              <a:t>Il primo record di attivazione è destinato al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()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28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Passaggio dei parametri</a:t>
            </a:r>
          </a:p>
        </p:txBody>
      </p:sp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457200" y="1752600"/>
            <a:ext cx="8075240" cy="4916760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PASSAGGIO PER VALORE</a:t>
            </a:r>
            <a:r>
              <a:rPr lang="it-IT" dirty="0"/>
              <a:t/>
            </a:r>
            <a:br>
              <a:rPr lang="it-IT" dirty="0"/>
            </a:br>
            <a:r>
              <a:rPr lang="it-IT" dirty="0"/>
              <a:t>Con la chiamata il </a:t>
            </a:r>
            <a:r>
              <a:rPr lang="it-IT" dirty="0">
                <a:solidFill>
                  <a:srgbClr val="00B0F0"/>
                </a:solidFill>
              </a:rPr>
              <a:t>valore del parametro attuale</a:t>
            </a:r>
            <a:r>
              <a:rPr lang="it-IT" dirty="0"/>
              <a:t> viene </a:t>
            </a:r>
            <a:r>
              <a:rPr lang="it-IT" dirty="0">
                <a:solidFill>
                  <a:srgbClr val="00B0F0"/>
                </a:solidFill>
              </a:rPr>
              <a:t>copiato</a:t>
            </a:r>
            <a:r>
              <a:rPr lang="it-IT" dirty="0"/>
              <a:t> nelle celle di memoria del corrispondente </a:t>
            </a:r>
            <a:r>
              <a:rPr lang="it-IT" dirty="0">
                <a:solidFill>
                  <a:srgbClr val="00B0F0"/>
                </a:solidFill>
              </a:rPr>
              <a:t>parametro formale</a:t>
            </a:r>
            <a:r>
              <a:rPr lang="it-IT" dirty="0"/>
              <a:t>. (il parametro formale e parametro attuale si riferiscono a due </a:t>
            </a:r>
            <a:r>
              <a:rPr lang="it-IT" b="1" dirty="0">
                <a:solidFill>
                  <a:schemeClr val="accent5"/>
                </a:solidFill>
              </a:rPr>
              <a:t>diverse locazioni </a:t>
            </a:r>
            <a:r>
              <a:rPr lang="it-IT" dirty="0">
                <a:solidFill>
                  <a:schemeClr val="accent5"/>
                </a:solidFill>
              </a:rPr>
              <a:t>di memoria</a:t>
            </a:r>
            <a:r>
              <a:rPr lang="it-IT" dirty="0"/>
              <a:t>)</a:t>
            </a:r>
          </a:p>
          <a:p>
            <a:pPr marL="1485900" lvl="2" indent="-342900">
              <a:lnSpc>
                <a:spcPct val="120000"/>
              </a:lnSpc>
              <a:spcAft>
                <a:spcPts val="600"/>
              </a:spcAft>
            </a:pPr>
            <a:r>
              <a:rPr lang="it-IT" dirty="0"/>
              <a:t>Il sottoprogramma in esecuzione lavora nel suo ambiente (parametri formali)</a:t>
            </a:r>
          </a:p>
          <a:p>
            <a:pPr marL="1485900" lvl="2" indent="-342900">
              <a:lnSpc>
                <a:spcPct val="120000"/>
              </a:lnSpc>
              <a:spcAft>
                <a:spcPts val="600"/>
              </a:spcAft>
            </a:pPr>
            <a:r>
              <a:rPr lang="it-IT" dirty="0"/>
              <a:t>I parametri attuali non vengono modificati</a:t>
            </a:r>
          </a:p>
          <a:p>
            <a:pPr lvl="2" indent="0">
              <a:lnSpc>
                <a:spcPct val="120000"/>
              </a:lnSpc>
              <a:spcAft>
                <a:spcPts val="600"/>
              </a:spcAft>
              <a:buNone/>
            </a:pPr>
            <a:endParaRPr lang="it-IT" dirty="0"/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PASSAGGIO PER INDIRIZZO (RIFERIMENTO)</a:t>
            </a:r>
            <a:r>
              <a:rPr lang="it-IT" dirty="0"/>
              <a:t/>
            </a:r>
            <a:br>
              <a:rPr lang="it-IT" dirty="0"/>
            </a:br>
            <a:r>
              <a:rPr lang="it-IT" b="1" dirty="0"/>
              <a:t>Con la chiamata l’</a:t>
            </a:r>
            <a:r>
              <a:rPr lang="it-IT" b="1" dirty="0">
                <a:solidFill>
                  <a:srgbClr val="00B0F0"/>
                </a:solidFill>
              </a:rPr>
              <a:t>indirizzo dei parametri attuali </a:t>
            </a:r>
            <a:r>
              <a:rPr lang="it-IT" b="1" dirty="0"/>
              <a:t>viene </a:t>
            </a:r>
            <a:r>
              <a:rPr lang="it-IT" b="1" dirty="0">
                <a:solidFill>
                  <a:srgbClr val="00B0F0"/>
                </a:solidFill>
              </a:rPr>
              <a:t>associato</a:t>
            </a:r>
            <a:r>
              <a:rPr lang="it-IT" b="1" dirty="0"/>
              <a:t> ai </a:t>
            </a:r>
            <a:r>
              <a:rPr lang="it-IT" b="1" dirty="0">
                <a:solidFill>
                  <a:srgbClr val="00B0F0"/>
                </a:solidFill>
              </a:rPr>
              <a:t>parametri formali</a:t>
            </a:r>
            <a:r>
              <a:rPr lang="it-IT" b="1" dirty="0"/>
              <a:t>. (il parametro attuale e il parametro formale si riferiscono alla </a:t>
            </a:r>
            <a:r>
              <a:rPr lang="it-IT" b="1" dirty="0">
                <a:solidFill>
                  <a:srgbClr val="00B050"/>
                </a:solidFill>
              </a:rPr>
              <a:t>stessa locazione di memoria</a:t>
            </a:r>
            <a:r>
              <a:rPr lang="it-IT" b="1" dirty="0"/>
              <a:t>)</a:t>
            </a:r>
          </a:p>
          <a:p>
            <a:pPr marL="1485900" lvl="2" indent="-342900">
              <a:lnSpc>
                <a:spcPct val="120000"/>
              </a:lnSpc>
              <a:spcAft>
                <a:spcPts val="600"/>
              </a:spcAft>
            </a:pPr>
            <a:r>
              <a:rPr lang="it-IT" dirty="0"/>
              <a:t>Il sottoprogramma in esecuzione lavora nel suo ambiente sui parametri formali (e di conseguenza anche sui parametri attuali) e ogni modifica sul parametro formale è una modifica del corrispondente parametro attuale</a:t>
            </a:r>
          </a:p>
          <a:p>
            <a:pPr marL="1485900" lvl="2" indent="-342900">
              <a:lnSpc>
                <a:spcPct val="120000"/>
              </a:lnSpc>
              <a:spcAft>
                <a:spcPts val="600"/>
              </a:spcAft>
            </a:pPr>
            <a:r>
              <a:rPr lang="it-IT" dirty="0"/>
              <a:t>Gli effetti del sottoprogramma si manifestano nel chiamante (il suo Record di Attivazione viene modificato)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610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3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3582157E-4B9E-40C3-9DE6-02BB9E6B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8363272" cy="1371600"/>
          </a:xfrm>
        </p:spPr>
        <p:txBody>
          <a:bodyPr/>
          <a:lstStyle/>
          <a:p>
            <a:r>
              <a:rPr lang="it-IT" dirty="0" smtClean="0"/>
              <a:t>Passaggio per valore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="" xmlns:a16="http://schemas.microsoft.com/office/drawing/2014/main" id="{F8959554-D618-4B64-BC9C-A98AA489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32</a:t>
            </a:fld>
            <a:endParaRPr lang="it-IT"/>
          </a:p>
        </p:txBody>
      </p:sp>
      <p:pic>
        <p:nvPicPr>
          <p:cNvPr id="1026" name="Picture 2" descr="https://media.geeksforgeeks.org/wp-content/cdn-uploads/Call-By-Value.png">
            <a:extLst>
              <a:ext uri="{FF2B5EF4-FFF2-40B4-BE49-F238E27FC236}">
                <a16:creationId xmlns="" xmlns:a16="http://schemas.microsoft.com/office/drawing/2014/main" id="{E64D4E89-14B8-4EB8-AC47-4478154E6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16832"/>
            <a:ext cx="7620000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047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Passaggio dei parametri: per valore</a:t>
            </a:r>
          </a:p>
        </p:txBody>
      </p:sp>
      <p:grpSp>
        <p:nvGrpSpPr>
          <p:cNvPr id="11" name="Gruppo 10"/>
          <p:cNvGrpSpPr/>
          <p:nvPr/>
        </p:nvGrpSpPr>
        <p:grpSpPr>
          <a:xfrm>
            <a:off x="381260" y="2060848"/>
            <a:ext cx="4982828" cy="3942559"/>
            <a:chOff x="381260" y="2060848"/>
            <a:chExt cx="4982828" cy="3942559"/>
          </a:xfrm>
        </p:grpSpPr>
        <p:grpSp>
          <p:nvGrpSpPr>
            <p:cNvPr id="12" name="Gruppo 11"/>
            <p:cNvGrpSpPr/>
            <p:nvPr/>
          </p:nvGrpSpPr>
          <p:grpSpPr>
            <a:xfrm>
              <a:off x="381260" y="2060848"/>
              <a:ext cx="4982828" cy="3479232"/>
              <a:chOff x="395535" y="3284984"/>
              <a:chExt cx="4982828" cy="3479232"/>
            </a:xfrm>
          </p:grpSpPr>
          <p:sp>
            <p:nvSpPr>
              <p:cNvPr id="14" name="CasellaDiTesto 13"/>
              <p:cNvSpPr txBox="1"/>
              <p:nvPr/>
            </p:nvSpPr>
            <p:spPr>
              <a:xfrm>
                <a:off x="971600" y="3655673"/>
                <a:ext cx="4406763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float circonferenza(float raggio)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{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float c;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c = raggio * 3.14;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raggio = 7; </a:t>
                </a:r>
                <a:r>
                  <a:rPr lang="it-IT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/*istruzione senza senso: cosa succede modificando il valore di un parametro Formale */</a:t>
                </a:r>
              </a:p>
              <a:p>
                <a:pPr lvl="1"/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c;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pPr lvl="1"/>
                <a:r>
                  <a:rPr lang="it-IT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/* nel </a:t>
                </a:r>
                <a:r>
                  <a:rPr lang="it-IT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main</a:t>
                </a:r>
                <a:r>
                  <a:rPr lang="it-IT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 */</a:t>
                </a:r>
              </a:p>
              <a:p>
                <a:pPr lvl="2"/>
                <a:r>
                  <a:rPr lang="it-IT" sz="1400" b="1" dirty="0">
                    <a:latin typeface="Courier Std" pitchFamily="49" charset="0"/>
                  </a:rPr>
                  <a:t>float </a:t>
                </a:r>
                <a:r>
                  <a:rPr lang="it-IT" sz="1400" b="1" dirty="0" err="1">
                    <a:latin typeface="Courier Std" pitchFamily="49" charset="0"/>
                  </a:rPr>
                  <a:t>c,r</a:t>
                </a:r>
                <a:r>
                  <a:rPr lang="it-IT" sz="1400" b="1" dirty="0">
                    <a:latin typeface="Courier Std" pitchFamily="49" charset="0"/>
                  </a:rPr>
                  <a:t>=5;</a:t>
                </a:r>
              </a:p>
              <a:p>
                <a:pPr lvl="2"/>
                <a:r>
                  <a:rPr lang="it-IT" sz="1400" b="1" dirty="0">
                    <a:latin typeface="Courier Std" pitchFamily="49" charset="0"/>
                  </a:rPr>
                  <a:t>c=circonferenza(r);</a:t>
                </a:r>
              </a:p>
              <a:p>
                <a:pPr lvl="1"/>
                <a:r>
                  <a:rPr lang="it-IT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/*Attenzione! r vale sempre 5 */</a:t>
                </a:r>
              </a:p>
            </p:txBody>
          </p:sp>
          <p:sp>
            <p:nvSpPr>
              <p:cNvPr id="15" name="CasellaDiTesto 14"/>
              <p:cNvSpPr txBox="1"/>
              <p:nvPr/>
            </p:nvSpPr>
            <p:spPr>
              <a:xfrm>
                <a:off x="395535" y="3284984"/>
                <a:ext cx="383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/>
                  <a:t>:</a:t>
                </a:r>
                <a:endParaRPr lang="it-IT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CasellaDiTesto 12"/>
            <p:cNvSpPr txBox="1"/>
            <p:nvPr/>
          </p:nvSpPr>
          <p:spPr>
            <a:xfrm flipH="1">
              <a:off x="395536" y="2420888"/>
              <a:ext cx="576064" cy="3582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16.</a:t>
              </a:r>
            </a:p>
          </p:txBody>
        </p:sp>
      </p:grpSp>
      <p:sp>
        <p:nvSpPr>
          <p:cNvPr id="16" name="CasellaDiTesto 15"/>
          <p:cNvSpPr txBox="1"/>
          <p:nvPr/>
        </p:nvSpPr>
        <p:spPr>
          <a:xfrm>
            <a:off x="6646852" y="1876762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it-IT" sz="20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6156176" y="2353041"/>
            <a:ext cx="2160000" cy="4156433"/>
          </a:xfrm>
          <a:prstGeom prst="rect">
            <a:avLst/>
          </a:prstGeom>
          <a:solidFill>
            <a:srgbClr val="C8C8B1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igura a mano libera 17"/>
          <p:cNvSpPr/>
          <p:nvPr/>
        </p:nvSpPr>
        <p:spPr>
          <a:xfrm>
            <a:off x="6156176" y="2348880"/>
            <a:ext cx="2179320" cy="4162028"/>
          </a:xfrm>
          <a:custGeom>
            <a:avLst/>
            <a:gdLst>
              <a:gd name="connsiteX0" fmla="*/ 0 w 2179320"/>
              <a:gd name="connsiteY0" fmla="*/ 0 h 4686300"/>
              <a:gd name="connsiteX1" fmla="*/ 0 w 2179320"/>
              <a:gd name="connsiteY1" fmla="*/ 4686300 h 4686300"/>
              <a:gd name="connsiteX2" fmla="*/ 2164080 w 2179320"/>
              <a:gd name="connsiteY2" fmla="*/ 4686300 h 4686300"/>
              <a:gd name="connsiteX3" fmla="*/ 2164080 w 2179320"/>
              <a:gd name="connsiteY3" fmla="*/ 7620 h 4686300"/>
              <a:gd name="connsiteX4" fmla="*/ 2179320 w 2179320"/>
              <a:gd name="connsiteY4" fmla="*/ 762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9320" h="4686300">
                <a:moveTo>
                  <a:pt x="0" y="0"/>
                </a:moveTo>
                <a:lnTo>
                  <a:pt x="0" y="4686300"/>
                </a:lnTo>
                <a:lnTo>
                  <a:pt x="2164080" y="4686300"/>
                </a:lnTo>
                <a:lnTo>
                  <a:pt x="2164080" y="7620"/>
                </a:lnTo>
                <a:lnTo>
                  <a:pt x="2179320" y="762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/>
          <p:cNvSpPr/>
          <p:nvPr/>
        </p:nvSpPr>
        <p:spPr>
          <a:xfrm>
            <a:off x="6156176" y="579043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20" name="Rettangolo 19"/>
          <p:cNvSpPr/>
          <p:nvPr/>
        </p:nvSpPr>
        <p:spPr>
          <a:xfrm>
            <a:off x="6156176" y="543091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21" name="Rettangolo 20"/>
          <p:cNvSpPr/>
          <p:nvPr/>
        </p:nvSpPr>
        <p:spPr>
          <a:xfrm>
            <a:off x="6156176" y="507139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22" name="Rettangolo 21"/>
          <p:cNvSpPr/>
          <p:nvPr/>
        </p:nvSpPr>
        <p:spPr>
          <a:xfrm>
            <a:off x="6156176" y="614995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</a:t>
            </a:r>
            <a:r>
              <a:rPr lang="it-IT" sz="1200" b="1" dirty="0" err="1"/>
              <a:t>main</a:t>
            </a:r>
            <a:r>
              <a:rPr lang="it-IT" sz="1200" b="1" dirty="0"/>
              <a:t>()</a:t>
            </a:r>
          </a:p>
        </p:txBody>
      </p:sp>
      <p:sp>
        <p:nvSpPr>
          <p:cNvPr id="23" name="Rettangolo 22"/>
          <p:cNvSpPr/>
          <p:nvPr/>
        </p:nvSpPr>
        <p:spPr>
          <a:xfrm>
            <a:off x="6160740" y="5071394"/>
            <a:ext cx="2155436" cy="71904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/>
          <p:cNvSpPr/>
          <p:nvPr/>
        </p:nvSpPr>
        <p:spPr>
          <a:xfrm>
            <a:off x="6160740" y="5789668"/>
            <a:ext cx="2155436" cy="71904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/>
          <p:cNvSpPr/>
          <p:nvPr/>
        </p:nvSpPr>
        <p:spPr>
          <a:xfrm flipV="1">
            <a:off x="7086848" y="5126995"/>
            <a:ext cx="317976" cy="53980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7" name="Gruppo 26"/>
          <p:cNvGrpSpPr/>
          <p:nvPr/>
        </p:nvGrpSpPr>
        <p:grpSpPr>
          <a:xfrm>
            <a:off x="6228184" y="5862182"/>
            <a:ext cx="972080" cy="246221"/>
            <a:chOff x="6264216" y="5862182"/>
            <a:chExt cx="972080" cy="246221"/>
          </a:xfrm>
        </p:grpSpPr>
        <p:sp>
          <p:nvSpPr>
            <p:cNvPr id="3" name="Rettangolo 2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???</a:t>
              </a:r>
            </a:p>
          </p:txBody>
        </p:sp>
        <p:sp>
          <p:nvSpPr>
            <p:cNvPr id="26" name="CasellaDiTesto 25"/>
            <p:cNvSpPr txBox="1"/>
            <p:nvPr/>
          </p:nvSpPr>
          <p:spPr>
            <a:xfrm>
              <a:off x="6264216" y="5862182"/>
              <a:ext cx="25200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C</a:t>
              </a:r>
            </a:p>
          </p:txBody>
        </p:sp>
      </p:grpSp>
      <p:grpSp>
        <p:nvGrpSpPr>
          <p:cNvPr id="29" name="Gruppo 28"/>
          <p:cNvGrpSpPr/>
          <p:nvPr/>
        </p:nvGrpSpPr>
        <p:grpSpPr>
          <a:xfrm>
            <a:off x="7272328" y="5862182"/>
            <a:ext cx="972080" cy="246221"/>
            <a:chOff x="6264216" y="5862182"/>
            <a:chExt cx="972080" cy="246221"/>
          </a:xfrm>
        </p:grpSpPr>
        <p:sp>
          <p:nvSpPr>
            <p:cNvPr id="30" name="Rettangolo 29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CasellaDiTesto 30"/>
            <p:cNvSpPr txBox="1"/>
            <p:nvPr/>
          </p:nvSpPr>
          <p:spPr>
            <a:xfrm>
              <a:off x="6264216" y="5862182"/>
              <a:ext cx="25200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r</a:t>
              </a:r>
            </a:p>
          </p:txBody>
        </p:sp>
      </p:grpSp>
      <p:grpSp>
        <p:nvGrpSpPr>
          <p:cNvPr id="32" name="Gruppo 31"/>
          <p:cNvGrpSpPr/>
          <p:nvPr/>
        </p:nvGrpSpPr>
        <p:grpSpPr>
          <a:xfrm>
            <a:off x="6354184" y="5487563"/>
            <a:ext cx="1527020" cy="246221"/>
            <a:chOff x="5709276" y="5862182"/>
            <a:chExt cx="1527020" cy="246221"/>
          </a:xfrm>
        </p:grpSpPr>
        <p:sp>
          <p:nvSpPr>
            <p:cNvPr id="33" name="Rettangolo 32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CasellaDiTesto 33"/>
            <p:cNvSpPr txBox="1"/>
            <p:nvPr/>
          </p:nvSpPr>
          <p:spPr>
            <a:xfrm>
              <a:off x="5709276" y="5862182"/>
              <a:ext cx="80694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it-IT" sz="1600" b="1" dirty="0">
                  <a:latin typeface="Courier Std" pitchFamily="49" charset="0"/>
                </a:rPr>
                <a:t>raggio</a:t>
              </a:r>
            </a:p>
          </p:txBody>
        </p:sp>
      </p:grpSp>
      <p:grpSp>
        <p:nvGrpSpPr>
          <p:cNvPr id="35" name="Gruppo 34"/>
          <p:cNvGrpSpPr/>
          <p:nvPr/>
        </p:nvGrpSpPr>
        <p:grpSpPr>
          <a:xfrm>
            <a:off x="6899712" y="5126995"/>
            <a:ext cx="972080" cy="246221"/>
            <a:chOff x="6264216" y="5862182"/>
            <a:chExt cx="972080" cy="246221"/>
          </a:xfrm>
        </p:grpSpPr>
        <p:sp>
          <p:nvSpPr>
            <p:cNvPr id="36" name="Rettangolo 35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CasellaDiTesto 36"/>
            <p:cNvSpPr txBox="1"/>
            <p:nvPr/>
          </p:nvSpPr>
          <p:spPr>
            <a:xfrm>
              <a:off x="6264216" y="5862182"/>
              <a:ext cx="25200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C</a:t>
              </a:r>
            </a:p>
          </p:txBody>
        </p:sp>
      </p:grpSp>
      <p:sp>
        <p:nvSpPr>
          <p:cNvPr id="40" name="Rettangolo 39"/>
          <p:cNvSpPr/>
          <p:nvPr/>
        </p:nvSpPr>
        <p:spPr>
          <a:xfrm>
            <a:off x="7164288" y="54972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Freccia circolare in su 27"/>
          <p:cNvSpPr/>
          <p:nvPr/>
        </p:nvSpPr>
        <p:spPr>
          <a:xfrm rot="13988750">
            <a:off x="7831909" y="5480539"/>
            <a:ext cx="602329" cy="342175"/>
          </a:xfrm>
          <a:prstGeom prst="curved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1" name="Rettangolo 40"/>
          <p:cNvSpPr/>
          <p:nvPr/>
        </p:nvSpPr>
        <p:spPr>
          <a:xfrm>
            <a:off x="7159596" y="51420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15,7</a:t>
            </a:r>
          </a:p>
        </p:txBody>
      </p:sp>
      <p:sp>
        <p:nvSpPr>
          <p:cNvPr id="42" name="Freccia circolare in su 41"/>
          <p:cNvSpPr/>
          <p:nvPr/>
        </p:nvSpPr>
        <p:spPr>
          <a:xfrm rot="7973276">
            <a:off x="6065359" y="5194300"/>
            <a:ext cx="1221532" cy="413888"/>
          </a:xfrm>
          <a:prstGeom prst="curved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3" name="Rettangolo 42"/>
          <p:cNvSpPr/>
          <p:nvPr/>
        </p:nvSpPr>
        <p:spPr>
          <a:xfrm>
            <a:off x="6480264" y="5877296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15,7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023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96296E-6 L -1.11111E-6 -0.16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3" grpId="0" animBg="1"/>
      <p:bldP spid="23" grpId="1" animBg="1"/>
      <p:bldP spid="25" grpId="0" animBg="1"/>
      <p:bldP spid="25" grpId="1" animBg="1"/>
      <p:bldP spid="40" grpId="0" animBg="1"/>
      <p:bldP spid="40" grpId="1" animBg="1"/>
      <p:bldP spid="28" grpId="0" animBg="1"/>
      <p:bldP spid="28" grpId="1" animBg="1"/>
      <p:bldP spid="41" grpId="0" animBg="1"/>
      <p:bldP spid="41" grpId="1" animBg="1"/>
      <p:bldP spid="42" grpId="0" animBg="1"/>
      <p:bldP spid="42" grpId="1" animBg="1"/>
      <p:bldP spid="4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Esempio</a:t>
            </a:r>
          </a:p>
        </p:txBody>
      </p:sp>
      <p:grpSp>
        <p:nvGrpSpPr>
          <p:cNvPr id="11" name="Gruppo 10"/>
          <p:cNvGrpSpPr/>
          <p:nvPr/>
        </p:nvGrpSpPr>
        <p:grpSpPr>
          <a:xfrm>
            <a:off x="381260" y="2060848"/>
            <a:ext cx="5558892" cy="4596969"/>
            <a:chOff x="381260" y="2060848"/>
            <a:chExt cx="5558892" cy="4596969"/>
          </a:xfrm>
        </p:grpSpPr>
        <p:grpSp>
          <p:nvGrpSpPr>
            <p:cNvPr id="12" name="Gruppo 11"/>
            <p:cNvGrpSpPr/>
            <p:nvPr/>
          </p:nvGrpSpPr>
          <p:grpSpPr>
            <a:xfrm>
              <a:off x="381260" y="2060848"/>
              <a:ext cx="5558892" cy="4556450"/>
              <a:chOff x="395535" y="3284984"/>
              <a:chExt cx="5558892" cy="4556450"/>
            </a:xfrm>
          </p:grpSpPr>
          <p:sp>
            <p:nvSpPr>
              <p:cNvPr id="14" name="CasellaDiTesto 13"/>
              <p:cNvSpPr txBox="1"/>
              <p:nvPr/>
            </p:nvSpPr>
            <p:spPr>
              <a:xfrm>
                <a:off x="971600" y="3655673"/>
                <a:ext cx="4982827" cy="4185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n-NO" sz="1400" b="1" dirty="0">
                    <a:latin typeface="Courier Std" pitchFamily="49" charset="0"/>
                  </a:rPr>
                  <a:t>int comp_sum (int);</a:t>
                </a:r>
              </a:p>
              <a:p>
                <a:endParaRPr lang="nn-NO" sz="1400" b="1" dirty="0">
                  <a:latin typeface="Courier Std" pitchFamily="49" charset="0"/>
                </a:endParaRPr>
              </a:p>
              <a:p>
                <a:r>
                  <a:rPr lang="nn-NO" sz="1400" b="1" dirty="0">
                    <a:latin typeface="Courier Std" pitchFamily="49" charset="0"/>
                  </a:rPr>
                  <a:t>int main()</a:t>
                </a:r>
              </a:p>
              <a:p>
                <a:r>
                  <a:rPr lang="nn-NO" sz="1400" b="1" dirty="0">
                    <a:latin typeface="Courier Std" pitchFamily="49" charset="0"/>
                  </a:rPr>
                  <a:t>{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int n = 5, sum;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printf (“%d\n”, n);  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sum = comp_sum(n);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printf (“%d\n”, n); 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printf (“%d\n”, sum);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return 0; </a:t>
                </a:r>
              </a:p>
              <a:p>
                <a:r>
                  <a:rPr lang="nn-NO" sz="1400" b="1" dirty="0">
                    <a:latin typeface="Courier Std" pitchFamily="49" charset="0"/>
                  </a:rPr>
                  <a:t>}</a:t>
                </a:r>
              </a:p>
              <a:p>
                <a:endParaRPr lang="nn-NO" sz="1400" b="1" dirty="0">
                  <a:latin typeface="Courier Std" pitchFamily="49" charset="0"/>
                </a:endParaRPr>
              </a:p>
              <a:p>
                <a:r>
                  <a:rPr lang="nn-NO" sz="1400" b="1" dirty="0">
                    <a:latin typeface="Courier Std" pitchFamily="49" charset="0"/>
                  </a:rPr>
                  <a:t>int comp_sum (int val)</a:t>
                </a:r>
              </a:p>
              <a:p>
                <a:r>
                  <a:rPr lang="nn-NO" sz="1400" b="1" dirty="0">
                    <a:latin typeface="Courier Std" pitchFamily="49" charset="0"/>
                  </a:rPr>
                  <a:t>{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int sum = 0;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for ( ; val &gt; 0; --val)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	sum += val;</a:t>
                </a:r>
              </a:p>
              <a:p>
                <a:pPr lvl="1"/>
                <a:r>
                  <a:rPr lang="nn-NO" sz="1400" b="1" dirty="0">
                    <a:latin typeface="Courier Std" pitchFamily="49" charset="0"/>
                  </a:rPr>
                  <a:t>return sum;</a:t>
                </a:r>
              </a:p>
              <a:p>
                <a:r>
                  <a:rPr lang="nn-NO" sz="1400" b="1" dirty="0">
                    <a:latin typeface="Courier Std" pitchFamily="49" charset="0"/>
                  </a:rPr>
                  <a:t>}</a:t>
                </a:r>
                <a:endParaRPr lang="it-IT" sz="1400" dirty="0">
                  <a:latin typeface="Courier Std" pitchFamily="49" charset="0"/>
                </a:endParaRPr>
              </a:p>
            </p:txBody>
          </p:sp>
          <p:sp>
            <p:nvSpPr>
              <p:cNvPr id="15" name="CasellaDiTesto 14"/>
              <p:cNvSpPr txBox="1"/>
              <p:nvPr/>
            </p:nvSpPr>
            <p:spPr>
              <a:xfrm>
                <a:off x="395535" y="3284984"/>
                <a:ext cx="383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/>
                  <a:t>:</a:t>
                </a:r>
                <a:endParaRPr lang="it-IT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CasellaDiTesto 12"/>
            <p:cNvSpPr txBox="1"/>
            <p:nvPr/>
          </p:nvSpPr>
          <p:spPr>
            <a:xfrm flipH="1">
              <a:off x="395536" y="2420888"/>
              <a:ext cx="576064" cy="423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19.</a:t>
              </a:r>
            </a:p>
          </p:txBody>
        </p:sp>
      </p:grpSp>
      <p:sp>
        <p:nvSpPr>
          <p:cNvPr id="8" name="Rettangolo 7"/>
          <p:cNvSpPr/>
          <p:nvPr/>
        </p:nvSpPr>
        <p:spPr>
          <a:xfrm>
            <a:off x="6156176" y="2353041"/>
            <a:ext cx="2160000" cy="4156433"/>
          </a:xfrm>
          <a:prstGeom prst="rect">
            <a:avLst/>
          </a:prstGeom>
          <a:solidFill>
            <a:srgbClr val="C8C8B1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igura a mano libera 8"/>
          <p:cNvSpPr/>
          <p:nvPr/>
        </p:nvSpPr>
        <p:spPr>
          <a:xfrm>
            <a:off x="6156176" y="2348880"/>
            <a:ext cx="2179320" cy="4162028"/>
          </a:xfrm>
          <a:custGeom>
            <a:avLst/>
            <a:gdLst>
              <a:gd name="connsiteX0" fmla="*/ 0 w 2179320"/>
              <a:gd name="connsiteY0" fmla="*/ 0 h 4686300"/>
              <a:gd name="connsiteX1" fmla="*/ 0 w 2179320"/>
              <a:gd name="connsiteY1" fmla="*/ 4686300 h 4686300"/>
              <a:gd name="connsiteX2" fmla="*/ 2164080 w 2179320"/>
              <a:gd name="connsiteY2" fmla="*/ 4686300 h 4686300"/>
              <a:gd name="connsiteX3" fmla="*/ 2164080 w 2179320"/>
              <a:gd name="connsiteY3" fmla="*/ 7620 h 4686300"/>
              <a:gd name="connsiteX4" fmla="*/ 2179320 w 2179320"/>
              <a:gd name="connsiteY4" fmla="*/ 762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9320" h="4686300">
                <a:moveTo>
                  <a:pt x="0" y="0"/>
                </a:moveTo>
                <a:lnTo>
                  <a:pt x="0" y="4686300"/>
                </a:lnTo>
                <a:lnTo>
                  <a:pt x="2164080" y="4686300"/>
                </a:lnTo>
                <a:lnTo>
                  <a:pt x="2164080" y="7620"/>
                </a:lnTo>
                <a:lnTo>
                  <a:pt x="2179320" y="762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/>
          <p:cNvSpPr/>
          <p:nvPr/>
        </p:nvSpPr>
        <p:spPr>
          <a:xfrm>
            <a:off x="6156176" y="579043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16" name="Rettangolo 15"/>
          <p:cNvSpPr/>
          <p:nvPr/>
        </p:nvSpPr>
        <p:spPr>
          <a:xfrm>
            <a:off x="6156176" y="543091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17" name="Rettangolo 16"/>
          <p:cNvSpPr/>
          <p:nvPr/>
        </p:nvSpPr>
        <p:spPr>
          <a:xfrm>
            <a:off x="6156176" y="507139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18" name="Rettangolo 17"/>
          <p:cNvSpPr/>
          <p:nvPr/>
        </p:nvSpPr>
        <p:spPr>
          <a:xfrm>
            <a:off x="6156176" y="614995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</a:t>
            </a:r>
            <a:r>
              <a:rPr lang="it-IT" sz="1200" b="1" dirty="0" err="1"/>
              <a:t>main</a:t>
            </a:r>
            <a:r>
              <a:rPr lang="it-IT" sz="1200" b="1" dirty="0"/>
              <a:t>()</a:t>
            </a:r>
          </a:p>
        </p:txBody>
      </p:sp>
      <p:sp>
        <p:nvSpPr>
          <p:cNvPr id="19" name="Rettangolo 18"/>
          <p:cNvSpPr/>
          <p:nvPr/>
        </p:nvSpPr>
        <p:spPr>
          <a:xfrm>
            <a:off x="6160740" y="5071394"/>
            <a:ext cx="2155436" cy="71904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/>
          <p:cNvSpPr/>
          <p:nvPr/>
        </p:nvSpPr>
        <p:spPr>
          <a:xfrm>
            <a:off x="6160740" y="5789668"/>
            <a:ext cx="2155436" cy="71904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2" name="Gruppo 21"/>
          <p:cNvGrpSpPr/>
          <p:nvPr/>
        </p:nvGrpSpPr>
        <p:grpSpPr>
          <a:xfrm>
            <a:off x="6228184" y="5862182"/>
            <a:ext cx="972080" cy="246221"/>
            <a:chOff x="6264216" y="5862182"/>
            <a:chExt cx="972080" cy="246221"/>
          </a:xfrm>
        </p:grpSpPr>
        <p:sp>
          <p:nvSpPr>
            <p:cNvPr id="23" name="Rettangolo 22"/>
            <p:cNvSpPr/>
            <p:nvPr/>
          </p:nvSpPr>
          <p:spPr>
            <a:xfrm>
              <a:off x="6712157" y="5877272"/>
              <a:ext cx="524139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???</a:t>
              </a:r>
            </a:p>
          </p:txBody>
        </p:sp>
        <p:sp>
          <p:nvSpPr>
            <p:cNvPr id="24" name="CasellaDiTesto 23"/>
            <p:cNvSpPr txBox="1"/>
            <p:nvPr/>
          </p:nvSpPr>
          <p:spPr>
            <a:xfrm>
              <a:off x="6264216" y="5862182"/>
              <a:ext cx="52947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sum</a:t>
              </a:r>
            </a:p>
          </p:txBody>
        </p:sp>
      </p:grpSp>
      <p:grpSp>
        <p:nvGrpSpPr>
          <p:cNvPr id="25" name="Gruppo 24"/>
          <p:cNvGrpSpPr/>
          <p:nvPr/>
        </p:nvGrpSpPr>
        <p:grpSpPr>
          <a:xfrm>
            <a:off x="7385792" y="5847051"/>
            <a:ext cx="858616" cy="246221"/>
            <a:chOff x="6377680" y="5847051"/>
            <a:chExt cx="858616" cy="246221"/>
          </a:xfrm>
        </p:grpSpPr>
        <p:sp>
          <p:nvSpPr>
            <p:cNvPr id="26" name="Rettangolo 25"/>
            <p:cNvSpPr/>
            <p:nvPr/>
          </p:nvSpPr>
          <p:spPr>
            <a:xfrm>
              <a:off x="6660232" y="5877272"/>
              <a:ext cx="576064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7" name="CasellaDiTesto 26"/>
            <p:cNvSpPr txBox="1"/>
            <p:nvPr/>
          </p:nvSpPr>
          <p:spPr>
            <a:xfrm>
              <a:off x="6377680" y="5847051"/>
              <a:ext cx="25200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n</a:t>
              </a:r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6354184" y="5487563"/>
            <a:ext cx="1527020" cy="246221"/>
            <a:chOff x="5709276" y="5862182"/>
            <a:chExt cx="1527020" cy="246221"/>
          </a:xfrm>
        </p:grpSpPr>
        <p:sp>
          <p:nvSpPr>
            <p:cNvPr id="29" name="Rettangolo 28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CasellaDiTesto 29"/>
            <p:cNvSpPr txBox="1"/>
            <p:nvPr/>
          </p:nvSpPr>
          <p:spPr>
            <a:xfrm>
              <a:off x="5709276" y="5862182"/>
              <a:ext cx="80694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it-IT" sz="1600" b="1" dirty="0">
                  <a:latin typeface="Courier Std" pitchFamily="49" charset="0"/>
                </a:rPr>
                <a:t>val</a:t>
              </a:r>
            </a:p>
          </p:txBody>
        </p:sp>
      </p:grpSp>
      <p:grpSp>
        <p:nvGrpSpPr>
          <p:cNvPr id="31" name="Gruppo 30"/>
          <p:cNvGrpSpPr/>
          <p:nvPr/>
        </p:nvGrpSpPr>
        <p:grpSpPr>
          <a:xfrm>
            <a:off x="6588224" y="5126995"/>
            <a:ext cx="1283568" cy="246221"/>
            <a:chOff x="5952728" y="5862182"/>
            <a:chExt cx="1283568" cy="246221"/>
          </a:xfrm>
        </p:grpSpPr>
        <p:sp>
          <p:nvSpPr>
            <p:cNvPr id="32" name="Rettangolo 31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" name="CasellaDiTesto 32"/>
            <p:cNvSpPr txBox="1"/>
            <p:nvPr/>
          </p:nvSpPr>
          <p:spPr>
            <a:xfrm>
              <a:off x="5952728" y="5862182"/>
              <a:ext cx="563488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it-IT" sz="1600" b="1" dirty="0">
                  <a:latin typeface="Courier Std" pitchFamily="49" charset="0"/>
                </a:rPr>
                <a:t>sum</a:t>
              </a:r>
            </a:p>
          </p:txBody>
        </p:sp>
      </p:grpSp>
      <p:sp>
        <p:nvSpPr>
          <p:cNvPr id="34" name="Rettangolo 33"/>
          <p:cNvSpPr/>
          <p:nvPr/>
        </p:nvSpPr>
        <p:spPr>
          <a:xfrm>
            <a:off x="7164288" y="54972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Freccia circolare in su 34"/>
          <p:cNvSpPr/>
          <p:nvPr/>
        </p:nvSpPr>
        <p:spPr>
          <a:xfrm rot="13988750">
            <a:off x="7831909" y="5480539"/>
            <a:ext cx="602329" cy="342175"/>
          </a:xfrm>
          <a:prstGeom prst="curved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6" name="Rettangolo 35"/>
          <p:cNvSpPr/>
          <p:nvPr/>
        </p:nvSpPr>
        <p:spPr>
          <a:xfrm>
            <a:off x="7151712" y="51420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7" name="Freccia circolare in su 36"/>
          <p:cNvSpPr/>
          <p:nvPr/>
        </p:nvSpPr>
        <p:spPr>
          <a:xfrm rot="7973276">
            <a:off x="6065359" y="5194300"/>
            <a:ext cx="1221532" cy="413888"/>
          </a:xfrm>
          <a:prstGeom prst="curved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8" name="Rettangolo 37"/>
          <p:cNvSpPr/>
          <p:nvPr/>
        </p:nvSpPr>
        <p:spPr>
          <a:xfrm>
            <a:off x="6676125" y="5881584"/>
            <a:ext cx="518007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9" name="Rettangolo 38"/>
          <p:cNvSpPr/>
          <p:nvPr/>
        </p:nvSpPr>
        <p:spPr>
          <a:xfrm>
            <a:off x="7164288" y="54972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0" name="Rettangolo 39"/>
          <p:cNvSpPr/>
          <p:nvPr/>
        </p:nvSpPr>
        <p:spPr>
          <a:xfrm>
            <a:off x="7161124" y="5148569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1" name="Rettangolo 40"/>
          <p:cNvSpPr/>
          <p:nvPr/>
        </p:nvSpPr>
        <p:spPr>
          <a:xfrm>
            <a:off x="7173700" y="5503769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" name="Rettangolo 41"/>
          <p:cNvSpPr/>
          <p:nvPr/>
        </p:nvSpPr>
        <p:spPr>
          <a:xfrm>
            <a:off x="7147008" y="5148624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43" name="Rettangolo 42"/>
          <p:cNvSpPr/>
          <p:nvPr/>
        </p:nvSpPr>
        <p:spPr>
          <a:xfrm>
            <a:off x="7159584" y="5503824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ettangolo 43"/>
          <p:cNvSpPr/>
          <p:nvPr/>
        </p:nvSpPr>
        <p:spPr>
          <a:xfrm>
            <a:off x="7156892" y="51420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5" name="Rettangolo 44"/>
          <p:cNvSpPr/>
          <p:nvPr/>
        </p:nvSpPr>
        <p:spPr>
          <a:xfrm>
            <a:off x="7169468" y="54972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" name="Rettangolo 45"/>
          <p:cNvSpPr/>
          <p:nvPr/>
        </p:nvSpPr>
        <p:spPr>
          <a:xfrm>
            <a:off x="7147008" y="51420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47" name="Rettangolo 46"/>
          <p:cNvSpPr/>
          <p:nvPr/>
        </p:nvSpPr>
        <p:spPr>
          <a:xfrm>
            <a:off x="7159584" y="54972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34</a:t>
            </a:fld>
            <a:endParaRPr lang="it-IT"/>
          </a:p>
        </p:txBody>
      </p:sp>
      <p:sp>
        <p:nvSpPr>
          <p:cNvPr id="21" name="Freccia in giù 20"/>
          <p:cNvSpPr/>
          <p:nvPr/>
        </p:nvSpPr>
        <p:spPr>
          <a:xfrm flipV="1">
            <a:off x="7147008" y="5250085"/>
            <a:ext cx="257816" cy="41671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8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96296E-6 L -1.11111E-6 -0.16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9" grpId="0" animBg="1"/>
      <p:bldP spid="19" grpId="1" animBg="1"/>
      <p:bldP spid="34" grpId="0" animBg="1"/>
      <p:bldP spid="34" grpId="1" animBg="1"/>
      <p:bldP spid="34" grpId="2" animBg="1"/>
      <p:bldP spid="35" grpId="0" animBg="1"/>
      <p:bldP spid="35" grpId="1" animBg="1"/>
      <p:bldP spid="36" grpId="0" animBg="1"/>
      <p:bldP spid="36" grpId="1" animBg="1"/>
      <p:bldP spid="36" grpId="2" animBg="1"/>
      <p:bldP spid="37" grpId="0" animBg="1"/>
      <p:bldP spid="37" grpId="1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21" grpId="0" animBg="1"/>
      <p:bldP spid="2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Esempio</a:t>
            </a:r>
          </a:p>
        </p:txBody>
      </p:sp>
      <p:grpSp>
        <p:nvGrpSpPr>
          <p:cNvPr id="11" name="Gruppo 10"/>
          <p:cNvGrpSpPr/>
          <p:nvPr/>
        </p:nvGrpSpPr>
        <p:grpSpPr>
          <a:xfrm>
            <a:off x="381260" y="2060848"/>
            <a:ext cx="5630900" cy="3942559"/>
            <a:chOff x="381260" y="2060848"/>
            <a:chExt cx="5630900" cy="3942559"/>
          </a:xfrm>
        </p:grpSpPr>
        <p:grpSp>
          <p:nvGrpSpPr>
            <p:cNvPr id="12" name="Gruppo 11"/>
            <p:cNvGrpSpPr/>
            <p:nvPr/>
          </p:nvGrpSpPr>
          <p:grpSpPr>
            <a:xfrm>
              <a:off x="381260" y="2060848"/>
              <a:ext cx="5630900" cy="3263789"/>
              <a:chOff x="395535" y="3284984"/>
              <a:chExt cx="5630900" cy="3263789"/>
            </a:xfrm>
          </p:grpSpPr>
          <p:sp>
            <p:nvSpPr>
              <p:cNvPr id="14" name="CasellaDiTesto 13"/>
              <p:cNvSpPr txBox="1"/>
              <p:nvPr/>
            </p:nvSpPr>
            <p:spPr>
              <a:xfrm>
                <a:off x="971600" y="3655673"/>
                <a:ext cx="4982827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/* Uso di </a:t>
                </a:r>
                <a:r>
                  <a:rPr lang="it-IT" sz="1400" b="1" dirty="0" err="1">
                    <a:latin typeface="Courier Std" pitchFamily="49" charset="0"/>
                  </a:rPr>
                  <a:t>getchar</a:t>
                </a:r>
                <a:r>
                  <a:rPr lang="it-IT" sz="1400" b="1" dirty="0">
                    <a:latin typeface="Courier Std" pitchFamily="49" charset="0"/>
                  </a:rPr>
                  <a:t> e </a:t>
                </a:r>
                <a:r>
                  <a:rPr lang="it-IT" sz="1400" b="1" dirty="0" err="1">
                    <a:latin typeface="Courier Std" pitchFamily="49" charset="0"/>
                  </a:rPr>
                  <a:t>putchar</a:t>
                </a:r>
                <a:r>
                  <a:rPr lang="it-IT" sz="1400" b="1" dirty="0">
                    <a:latin typeface="Courier Std" pitchFamily="49" charset="0"/>
                  </a:rPr>
                  <a:t> */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>
                    <a:latin typeface="Courier Std" pitchFamily="49" charset="0"/>
                  </a:rPr>
                  <a:t>#include &lt;</a:t>
                </a:r>
                <a:r>
                  <a:rPr lang="it-IT" sz="1400" b="1" dirty="0" err="1">
                    <a:latin typeface="Courier Std" pitchFamily="49" charset="0"/>
                  </a:rPr>
                  <a:t>stdio.h</a:t>
                </a:r>
                <a:r>
                  <a:rPr lang="it-IT" sz="1400" b="1" dirty="0">
                    <a:latin typeface="Courier Std" pitchFamily="49" charset="0"/>
                  </a:rPr>
                  <a:t>&gt;</a:t>
                </a: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main</a:t>
                </a:r>
                <a:r>
                  <a:rPr lang="it-IT" sz="1400" b="1" dirty="0">
                    <a:latin typeface="Courier Std" pitchFamily="49" charset="0"/>
                  </a:rPr>
                  <a:t>()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{</a:t>
                </a:r>
              </a:p>
              <a:p>
                <a:pPr lvl="1"/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c;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while ( (c = </a:t>
                </a:r>
                <a:r>
                  <a:rPr lang="it-IT" sz="1400" b="1" dirty="0" err="1">
                    <a:latin typeface="Courier Std" pitchFamily="49" charset="0"/>
                  </a:rPr>
                  <a:t>getchar</a:t>
                </a:r>
                <a:r>
                  <a:rPr lang="it-IT" sz="1400" b="1" dirty="0">
                    <a:latin typeface="Courier Std" pitchFamily="49" charset="0"/>
                  </a:rPr>
                  <a:t>( ) ) != ‘\n’)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	</a:t>
                </a:r>
                <a:r>
                  <a:rPr lang="it-IT" sz="1400" b="1" dirty="0" err="1">
                    <a:latin typeface="Courier Std" pitchFamily="49" charset="0"/>
                  </a:rPr>
                  <a:t>if</a:t>
                </a:r>
                <a:r>
                  <a:rPr lang="it-IT" sz="1400" b="1" dirty="0">
                    <a:latin typeface="Courier Std" pitchFamily="49" charset="0"/>
                  </a:rPr>
                  <a:t> (c &gt;= ‘A’ &amp;&amp; c &lt;= ‘Z’)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		</a:t>
                </a:r>
                <a:r>
                  <a:rPr lang="it-IT" sz="1400" b="1" dirty="0" err="1">
                    <a:latin typeface="Courier Std" pitchFamily="49" charset="0"/>
                  </a:rPr>
                  <a:t>putchar</a:t>
                </a:r>
                <a:r>
                  <a:rPr lang="it-IT" sz="1400" b="1" dirty="0">
                    <a:latin typeface="Courier Std" pitchFamily="49" charset="0"/>
                  </a:rPr>
                  <a:t> (c + ‘a’ </a:t>
                </a:r>
                <a:r>
                  <a:rPr lang="it-IT" sz="1400" b="1" dirty="0">
                    <a:latin typeface="Courier Std" pitchFamily="49" charset="0"/>
                  </a:rPr>
                  <a:t>- </a:t>
                </a:r>
                <a:r>
                  <a:rPr lang="it-IT" sz="1400" b="1" dirty="0" smtClean="0">
                    <a:latin typeface="Courier Std" pitchFamily="49" charset="0"/>
                  </a:rPr>
                  <a:t>‘A</a:t>
                </a:r>
                <a:r>
                  <a:rPr lang="it-IT" sz="1400" b="1" dirty="0">
                    <a:latin typeface="Courier Std" pitchFamily="49" charset="0"/>
                  </a:rPr>
                  <a:t>’);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	else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		</a:t>
                </a:r>
                <a:r>
                  <a:rPr lang="it-IT" sz="1400" b="1" dirty="0" err="1">
                    <a:latin typeface="Courier Std" pitchFamily="49" charset="0"/>
                  </a:rPr>
                  <a:t>putchar</a:t>
                </a:r>
                <a:r>
                  <a:rPr lang="it-IT" sz="1400" b="1" dirty="0">
                    <a:latin typeface="Courier Std" pitchFamily="49" charset="0"/>
                  </a:rPr>
                  <a:t> (c + ‘A’ </a:t>
                </a:r>
                <a:r>
                  <a:rPr lang="it-IT" sz="1400" b="1" dirty="0">
                    <a:latin typeface="Courier Std" pitchFamily="49" charset="0"/>
                  </a:rPr>
                  <a:t>- </a:t>
                </a:r>
                <a:r>
                  <a:rPr lang="it-IT" sz="1400" b="1" dirty="0" smtClean="0">
                    <a:latin typeface="Courier Std" pitchFamily="49" charset="0"/>
                  </a:rPr>
                  <a:t>‘a</a:t>
                </a:r>
                <a:r>
                  <a:rPr lang="it-IT" sz="1400" b="1" dirty="0">
                    <a:latin typeface="Courier Std" pitchFamily="49" charset="0"/>
                  </a:rPr>
                  <a:t>’);</a:t>
                </a:r>
              </a:p>
              <a:p>
                <a:pPr lvl="1"/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0;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  <a:endParaRPr lang="it-IT" sz="1400" dirty="0">
                  <a:latin typeface="Courier Std" pitchFamily="49" charset="0"/>
                </a:endParaRPr>
              </a:p>
            </p:txBody>
          </p:sp>
          <p:sp>
            <p:nvSpPr>
              <p:cNvPr id="15" name="CasellaDiTesto 14"/>
              <p:cNvSpPr txBox="1"/>
              <p:nvPr/>
            </p:nvSpPr>
            <p:spPr>
              <a:xfrm>
                <a:off x="395535" y="3284984"/>
                <a:ext cx="5630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 smtClean="0"/>
                  <a:t>: ritorno e passaggio per copia</a:t>
                </a:r>
                <a:endParaRPr lang="it-IT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CasellaDiTesto 12"/>
            <p:cNvSpPr txBox="1"/>
            <p:nvPr/>
          </p:nvSpPr>
          <p:spPr>
            <a:xfrm flipH="1">
              <a:off x="395536" y="2420888"/>
              <a:ext cx="576064" cy="3582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16.</a:t>
              </a:r>
            </a:p>
          </p:txBody>
        </p:sp>
      </p:grp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8313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78296" cy="1371600"/>
          </a:xfrm>
        </p:spPr>
        <p:txBody>
          <a:bodyPr>
            <a:normAutofit/>
          </a:bodyPr>
          <a:lstStyle/>
          <a:p>
            <a:r>
              <a:rPr lang="it-IT" dirty="0"/>
              <a:t>Passaggio dei parametri: Per Indirizzo</a:t>
            </a:r>
          </a:p>
        </p:txBody>
      </p:sp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it-IT" sz="2400" dirty="0"/>
              <a:t>se la funzione deve restituire </a:t>
            </a:r>
            <a:r>
              <a:rPr lang="it-IT" sz="2400" dirty="0">
                <a:solidFill>
                  <a:srgbClr val="00B0F0"/>
                </a:solidFill>
              </a:rPr>
              <a:t>più di un risultato </a:t>
            </a:r>
            <a:r>
              <a:rPr lang="it-IT" sz="2400" dirty="0"/>
              <a:t>non si può utilizzare il </a:t>
            </a:r>
            <a:r>
              <a:rPr lang="it-IT" sz="2400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400" dirty="0"/>
              <a:t>(</a:t>
            </a:r>
            <a:r>
              <a:rPr lang="it-IT" sz="2400" dirty="0">
                <a:solidFill>
                  <a:schemeClr val="accent2"/>
                </a:solidFill>
              </a:rPr>
              <a:t>perché?</a:t>
            </a:r>
            <a:r>
              <a:rPr lang="it-IT" sz="2400" dirty="0"/>
              <a:t>)</a:t>
            </a:r>
            <a:endParaRPr lang="it-IT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it-IT" sz="2400" dirty="0"/>
              <a:t>la tecnica utilizzata è quella del passaggio dei parametri per riferimento </a:t>
            </a:r>
            <a:r>
              <a:rPr lang="it-IT" sz="2400" dirty="0" smtClean="0"/>
              <a:t>(o indirizzo</a:t>
            </a:r>
            <a:r>
              <a:rPr lang="it-IT" sz="2400" dirty="0"/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it-IT" sz="2400" dirty="0"/>
              <a:t>più in generale il passaggio per riferimento consente alla funzione di modificare </a:t>
            </a:r>
            <a:r>
              <a:rPr lang="it-IT" sz="2400" dirty="0" smtClean="0"/>
              <a:t>le variabili del chiamante (passate per indirizzo)</a:t>
            </a:r>
            <a:endParaRPr lang="it-IT" sz="2400" dirty="0"/>
          </a:p>
          <a:p>
            <a:pPr marL="342900" indent="-342900">
              <a:buFont typeface="Arial" pitchFamily="34" charset="0"/>
              <a:buChar char="•"/>
            </a:pPr>
            <a:endParaRPr lang="it-IT" sz="2400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92918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Passaggio dei parametri: nel C</a:t>
            </a:r>
          </a:p>
        </p:txBody>
      </p:sp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457200" y="1752600"/>
            <a:ext cx="8291264" cy="491676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/>
              <a:t>In C </a:t>
            </a:r>
            <a:r>
              <a:rPr lang="it-IT" sz="2600" u="sng" dirty="0">
                <a:solidFill>
                  <a:srgbClr val="00B0F0"/>
                </a:solidFill>
              </a:rPr>
              <a:t>non esiste </a:t>
            </a:r>
            <a:r>
              <a:rPr lang="it-IT" sz="2600" dirty="0"/>
              <a:t>un costrutto sintattico per distinguere tra passaggio dei parametri per valore e per indirizzo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/>
              <a:t>Il passaggio è sempre per </a:t>
            </a:r>
            <a:r>
              <a:rPr lang="it-IT" sz="2600" dirty="0" smtClean="0"/>
              <a:t>valore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it-IT" sz="1400" dirty="0" smtClean="0">
                <a:latin typeface="Courier Std" pitchFamily="49" charset="0"/>
              </a:rPr>
              <a:t>float circonferenza(float raggio); /*passaggio per valore*/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 smtClean="0"/>
              <a:t>Per </a:t>
            </a:r>
            <a:r>
              <a:rPr lang="it-IT" sz="2600" dirty="0"/>
              <a:t>ottenere il passaggio per indirizzo è necessario utilizzare parametri formali di tipo indirizzo (puntatori)</a:t>
            </a:r>
          </a:p>
          <a:p>
            <a:pPr marL="914400" lvl="2" indent="0">
              <a:lnSpc>
                <a:spcPct val="130000"/>
              </a:lnSpc>
              <a:buNone/>
            </a:pPr>
            <a:r>
              <a:rPr lang="it-IT" sz="1400" dirty="0">
                <a:latin typeface="Courier Std" pitchFamily="49" charset="0"/>
              </a:rPr>
              <a:t>float circonferenza(float *raggio</a:t>
            </a:r>
            <a:r>
              <a:rPr lang="it-IT" sz="1400" dirty="0" smtClean="0">
                <a:latin typeface="Courier Std" pitchFamily="49" charset="0"/>
              </a:rPr>
              <a:t>); /*</a:t>
            </a:r>
            <a:r>
              <a:rPr lang="it-IT" sz="1400" dirty="0">
                <a:latin typeface="Courier Std" pitchFamily="49" charset="0"/>
              </a:rPr>
              <a:t>passaggio per indirizzo*/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16299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87208" cy="1371600"/>
          </a:xfrm>
        </p:spPr>
        <p:txBody>
          <a:bodyPr/>
          <a:lstStyle/>
          <a:p>
            <a:r>
              <a:rPr lang="it-IT" dirty="0"/>
              <a:t>Passaggio dei parametri: </a:t>
            </a:r>
            <a:br>
              <a:rPr lang="it-IT" dirty="0"/>
            </a:br>
            <a:r>
              <a:rPr lang="it-IT" dirty="0"/>
              <a:t>i Puntatori</a:t>
            </a:r>
          </a:p>
        </p:txBody>
      </p:sp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457200" y="1752600"/>
            <a:ext cx="8075240" cy="491676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/>
              <a:t>Se la funzione conoscesse la posizione (indirizzo) in memoria dei parametri attuali potrebbe accedervi per modificarli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>
                <a:solidFill>
                  <a:srgbClr val="00B0F0"/>
                </a:solidFill>
              </a:rPr>
              <a:t>Un puntatore è </a:t>
            </a:r>
            <a:r>
              <a:rPr lang="it-IT" sz="2600" dirty="0" smtClean="0">
                <a:solidFill>
                  <a:srgbClr val="00B0F0"/>
                </a:solidFill>
              </a:rPr>
              <a:t>proprio un </a:t>
            </a:r>
            <a:r>
              <a:rPr lang="it-IT" sz="2600" dirty="0">
                <a:solidFill>
                  <a:srgbClr val="00B0F0"/>
                </a:solidFill>
              </a:rPr>
              <a:t>indirizzo di memoria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/>
              <a:t>A differenza delle variabili viste fino ad ora, che contengono valori numerici, le</a:t>
            </a:r>
            <a:r>
              <a:rPr lang="it-IT" sz="2600" dirty="0">
                <a:solidFill>
                  <a:srgbClr val="00B050"/>
                </a:solidFill>
              </a:rPr>
              <a:t> variabili puntatore contengono INDIRIZZI </a:t>
            </a:r>
            <a:r>
              <a:rPr lang="it-IT" sz="2600" dirty="0" smtClean="0"/>
              <a:t>che puntano a </a:t>
            </a:r>
            <a:r>
              <a:rPr lang="it-IT" sz="2600" dirty="0"/>
              <a:t>variabili contenenti dati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t-IT" sz="2600" dirty="0"/>
              <a:t>Gli indirizzi hanno dimensione fissata  dall’architettura</a:t>
            </a:r>
            <a:r>
              <a:rPr lang="it-IT" sz="2600" b="0" dirty="0"/>
              <a:t> </a:t>
            </a:r>
            <a:r>
              <a:rPr lang="it-IT" sz="2200" b="0" dirty="0"/>
              <a:t>(x32 </a:t>
            </a:r>
            <a:r>
              <a:rPr lang="it-IT" sz="2200" b="0" dirty="0">
                <a:sym typeface="Wingdings" pitchFamily="2" charset="2"/>
              </a:rPr>
              <a:t> 4B, x64  8B</a:t>
            </a:r>
            <a:r>
              <a:rPr lang="it-IT" sz="2200" b="0" dirty="0" smtClean="0">
                <a:sym typeface="Wingdings" pitchFamily="2" charset="2"/>
              </a:rPr>
              <a:t>, in generale basta stampare </a:t>
            </a:r>
            <a:r>
              <a:rPr lang="it-IT" sz="2200" dirty="0" err="1" smtClean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sizeof</a:t>
            </a:r>
            <a:r>
              <a:rPr lang="it-IT" sz="2200" dirty="0" smtClean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(</a:t>
            </a:r>
            <a:r>
              <a:rPr lang="it-IT" sz="2200" b="0" dirty="0" err="1" smtClean="0">
                <a:cs typeface="Courier New" pitchFamily="49" charset="0"/>
                <a:sym typeface="Wingdings" pitchFamily="2" charset="2"/>
              </a:rPr>
              <a:t>int</a:t>
            </a:r>
            <a:r>
              <a:rPr lang="it-IT" sz="2200" i="1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*</a:t>
            </a:r>
            <a:r>
              <a:rPr lang="it-IT" sz="2200" dirty="0" smtClean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) </a:t>
            </a:r>
            <a:r>
              <a:rPr lang="it-IT" sz="2200" b="0" dirty="0">
                <a:sym typeface="Wingdings" pitchFamily="2" charset="2"/>
              </a:rPr>
              <a:t>per saperlo)</a:t>
            </a:r>
            <a:endParaRPr lang="it-IT" sz="2200" b="0" dirty="0"/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8687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Passaggio dei parametri: Puntatori</a:t>
            </a:r>
          </a:p>
        </p:txBody>
      </p:sp>
      <p:grpSp>
        <p:nvGrpSpPr>
          <p:cNvPr id="11" name="Gruppo 10"/>
          <p:cNvGrpSpPr/>
          <p:nvPr/>
        </p:nvGrpSpPr>
        <p:grpSpPr>
          <a:xfrm>
            <a:off x="381260" y="2060848"/>
            <a:ext cx="8367204" cy="4378832"/>
            <a:chOff x="381260" y="2060848"/>
            <a:chExt cx="8367204" cy="4378832"/>
          </a:xfrm>
        </p:grpSpPr>
        <p:grpSp>
          <p:nvGrpSpPr>
            <p:cNvPr id="12" name="Gruppo 11"/>
            <p:cNvGrpSpPr/>
            <p:nvPr/>
          </p:nvGrpSpPr>
          <p:grpSpPr>
            <a:xfrm>
              <a:off x="381260" y="2060848"/>
              <a:ext cx="8367204" cy="4341007"/>
              <a:chOff x="395535" y="3284984"/>
              <a:chExt cx="8367204" cy="4341007"/>
            </a:xfrm>
          </p:grpSpPr>
          <p:sp>
            <p:nvSpPr>
              <p:cNvPr id="14" name="CasellaDiTesto 13"/>
              <p:cNvSpPr txBox="1"/>
              <p:nvPr/>
            </p:nvSpPr>
            <p:spPr>
              <a:xfrm>
                <a:off x="971600" y="3655673"/>
                <a:ext cx="779113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#include &lt;</a:t>
                </a:r>
                <a:r>
                  <a:rPr lang="it-IT" sz="1400" b="1" dirty="0" err="1">
                    <a:latin typeface="Courier Std" pitchFamily="49" charset="0"/>
                  </a:rPr>
                  <a:t>stdio.h</a:t>
                </a:r>
                <a:r>
                  <a:rPr lang="it-IT" sz="1400" b="1" dirty="0">
                    <a:latin typeface="Courier Std" pitchFamily="49" charset="0"/>
                  </a:rPr>
                  <a:t>&gt;</a:t>
                </a: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main</a:t>
                </a:r>
                <a:r>
                  <a:rPr lang="it-IT" sz="1400" b="1" dirty="0">
                    <a:latin typeface="Courier Std" pitchFamily="49" charset="0"/>
                  </a:rPr>
                  <a:t>()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{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*a;     /* dichiaro 'a' puntatore ad intero (32/64 bit)*/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b,c</a:t>
                </a:r>
                <a:r>
                  <a:rPr lang="it-IT" sz="1400" b="1" dirty="0">
                    <a:latin typeface="Courier Std" pitchFamily="49" charset="0"/>
                  </a:rPr>
                  <a:t>;    /* dichiaro 2 interi */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>
                    <a:latin typeface="Courier Std" pitchFamily="49" charset="0"/>
                  </a:rPr>
                  <a:t>    b=10;       /* assegno 10 a b */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a=&amp;b;       /* assegno ad a, l'indirizzo di memoria di b */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c=*a;       /* assegno a c il valore contenuto all'indirizzo di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                memoria specificato da a (cioè l'indirizzo di b).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                Quindi c </a:t>
                </a:r>
                <a:r>
                  <a:rPr lang="it-IT" sz="1400" b="1" dirty="0" err="1">
                    <a:latin typeface="Courier Std" pitchFamily="49" charset="0"/>
                  </a:rPr>
                  <a:t>sara'</a:t>
                </a:r>
                <a:r>
                  <a:rPr lang="it-IT" sz="1400" b="1" dirty="0">
                    <a:latin typeface="Courier Std" pitchFamily="49" charset="0"/>
                  </a:rPr>
                  <a:t> uguale a b */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printf</a:t>
                </a:r>
                <a:r>
                  <a:rPr lang="it-IT" sz="1400" b="1" dirty="0">
                    <a:latin typeface="Courier Std" pitchFamily="49" charset="0"/>
                  </a:rPr>
                  <a:t>("\n\n a = %#x  &amp;a = %#x  *a = %d", a, &amp;a, *a);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printf</a:t>
                </a:r>
                <a:r>
                  <a:rPr lang="it-IT" sz="1400" b="1" dirty="0">
                    <a:latin typeface="Courier Std" pitchFamily="49" charset="0"/>
                  </a:rPr>
                  <a:t>("\n\n b = %d  &amp;b = %#x", b, &amp;b);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printf</a:t>
                </a:r>
                <a:r>
                  <a:rPr lang="it-IT" sz="1400" b="1" dirty="0">
                    <a:latin typeface="Courier Std" pitchFamily="49" charset="0"/>
                  </a:rPr>
                  <a:t>("\n\n c = %d  &amp;c = %#x", c, &amp;c);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0;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</p:txBody>
          </p:sp>
          <p:sp>
            <p:nvSpPr>
              <p:cNvPr id="15" name="CasellaDiTesto 14"/>
              <p:cNvSpPr txBox="1"/>
              <p:nvPr/>
            </p:nvSpPr>
            <p:spPr>
              <a:xfrm>
                <a:off x="395535" y="3284984"/>
                <a:ext cx="383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/>
                  <a:t>:</a:t>
                </a:r>
                <a:endParaRPr lang="it-IT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CasellaDiTesto 12"/>
            <p:cNvSpPr txBox="1"/>
            <p:nvPr/>
          </p:nvSpPr>
          <p:spPr>
            <a:xfrm flipH="1">
              <a:off x="395536" y="2420888"/>
              <a:ext cx="576064" cy="4018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18.</a:t>
              </a:r>
            </a:p>
          </p:txBody>
        </p:sp>
      </p:grpSp>
      <p:sp>
        <p:nvSpPr>
          <p:cNvPr id="44" name="Rettangolo con singolo angolo arrotondato 43"/>
          <p:cNvSpPr/>
          <p:nvPr/>
        </p:nvSpPr>
        <p:spPr>
          <a:xfrm>
            <a:off x="5148064" y="908720"/>
            <a:ext cx="3600400" cy="2160240"/>
          </a:xfrm>
          <a:prstGeom prst="round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it-IT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Operatori UNARI «&amp;» e «*»</a:t>
            </a:r>
          </a:p>
          <a:p>
            <a:pPr lvl="1" indent="-396000">
              <a:lnSpc>
                <a:spcPct val="120000"/>
              </a:lnSpc>
              <a:spcAft>
                <a:spcPts val="600"/>
              </a:spcAft>
            </a:pPr>
            <a:r>
              <a:rPr lang="it-IT" b="1" dirty="0"/>
              <a:t>&amp;</a:t>
            </a:r>
            <a:r>
              <a:rPr lang="it-IT" sz="1400" b="1" dirty="0"/>
              <a:t> = Operatore di estrazione di Indirizzo</a:t>
            </a:r>
            <a:r>
              <a:rPr lang="it-IT" sz="1400" dirty="0"/>
              <a:t>: restituisce l’indirizzo della variabile (</a:t>
            </a:r>
            <a:r>
              <a:rPr lang="it-IT" sz="1400" i="1" dirty="0"/>
              <a:t>referenziazione</a:t>
            </a:r>
            <a:r>
              <a:rPr lang="it-IT" sz="1400" dirty="0"/>
              <a:t>)</a:t>
            </a:r>
          </a:p>
          <a:p>
            <a:pPr lvl="1" indent="-396000">
              <a:lnSpc>
                <a:spcPct val="120000"/>
              </a:lnSpc>
              <a:spcAft>
                <a:spcPts val="600"/>
              </a:spcAft>
            </a:pPr>
            <a:r>
              <a:rPr lang="it-IT" b="1" dirty="0"/>
              <a:t>*</a:t>
            </a:r>
            <a:r>
              <a:rPr lang="it-IT" sz="1400" b="1" dirty="0"/>
              <a:t> = Operatore di </a:t>
            </a:r>
            <a:r>
              <a:rPr lang="it-IT" sz="1400" b="1" dirty="0" err="1"/>
              <a:t>Indirezione</a:t>
            </a:r>
            <a:r>
              <a:rPr lang="it-IT" sz="1400" dirty="0"/>
              <a:t>: restituisce il contenuto della variabile puntata (</a:t>
            </a:r>
            <a:r>
              <a:rPr lang="it-IT" sz="1400" i="1" dirty="0" err="1"/>
              <a:t>dereferenziazione</a:t>
            </a:r>
            <a:r>
              <a:rPr lang="it-IT" sz="1400" dirty="0"/>
              <a:t>)</a:t>
            </a:r>
          </a:p>
        </p:txBody>
      </p:sp>
      <p:sp>
        <p:nvSpPr>
          <p:cNvPr id="9" name="Rettangolo con singolo angolo arrotondato 8"/>
          <p:cNvSpPr/>
          <p:nvPr/>
        </p:nvSpPr>
        <p:spPr>
          <a:xfrm>
            <a:off x="5652120" y="5445224"/>
            <a:ext cx="3312368" cy="1224136"/>
          </a:xfrm>
          <a:prstGeom prst="round1Rect">
            <a:avLst>
              <a:gd name="adj" fmla="val 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tIns="0" rIns="0" bIns="0" rtlCol="0" anchor="ctr"/>
          <a:lstStyle/>
          <a:p>
            <a:pPr>
              <a:spcAft>
                <a:spcPts val="600"/>
              </a:spcAft>
            </a:pPr>
            <a:r>
              <a:rPr lang="it-IT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N.B.</a:t>
            </a:r>
          </a:p>
          <a:p>
            <a:pPr marL="61200" lvl="1">
              <a:spcAft>
                <a:spcPts val="600"/>
              </a:spcAft>
            </a:pPr>
            <a:r>
              <a:rPr lang="it-IT" sz="1400" dirty="0">
                <a:latin typeface="Arial" pitchFamily="34" charset="0"/>
                <a:cs typeface="Arial" pitchFamily="34" charset="0"/>
              </a:rPr>
              <a:t>‘</a:t>
            </a:r>
            <a:r>
              <a:rPr lang="it-IT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it-IT" sz="1400" dirty="0">
                <a:latin typeface="Arial" pitchFamily="34" charset="0"/>
                <a:cs typeface="Arial" pitchFamily="34" charset="0"/>
              </a:rPr>
              <a:t>’  </a:t>
            </a:r>
            <a:r>
              <a:rPr lang="it-IT" sz="1400" b="1" dirty="0">
                <a:latin typeface="Arial" pitchFamily="34" charset="0"/>
                <a:cs typeface="Arial" pitchFamily="34" charset="0"/>
              </a:rPr>
              <a:t>NON</a:t>
            </a:r>
            <a:r>
              <a:rPr lang="it-IT" sz="1400" dirty="0">
                <a:latin typeface="Arial" pitchFamily="34" charset="0"/>
                <a:cs typeface="Arial" pitchFamily="34" charset="0"/>
              </a:rPr>
              <a:t> è l’operatore «Puntatore»</a:t>
            </a:r>
          </a:p>
          <a:p>
            <a:pPr marL="61200" lvl="1">
              <a:spcAft>
                <a:spcPts val="600"/>
              </a:spcAft>
            </a:pPr>
            <a:r>
              <a:rPr lang="it-IT" sz="1400" dirty="0">
                <a:latin typeface="Arial" pitchFamily="34" charset="0"/>
                <a:cs typeface="Arial" pitchFamily="34" charset="0"/>
              </a:rPr>
              <a:t>‘</a:t>
            </a:r>
            <a:r>
              <a:rPr lang="it-IT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it-IT" sz="1400" dirty="0">
                <a:latin typeface="Arial" pitchFamily="34" charset="0"/>
                <a:cs typeface="Arial" pitchFamily="34" charset="0"/>
              </a:rPr>
              <a:t>’ è il PUNTATORE: «variabile puntatore»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196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 bldLvl="2" animBg="1"/>
      <p:bldP spid="9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Passaggio dei parametri: Puntatori</a:t>
            </a:r>
          </a:p>
        </p:txBody>
      </p:sp>
      <p:grpSp>
        <p:nvGrpSpPr>
          <p:cNvPr id="11" name="Gruppo 10"/>
          <p:cNvGrpSpPr/>
          <p:nvPr/>
        </p:nvGrpSpPr>
        <p:grpSpPr>
          <a:xfrm>
            <a:off x="381260" y="2060848"/>
            <a:ext cx="8367204" cy="4378832"/>
            <a:chOff x="381260" y="2060848"/>
            <a:chExt cx="8367204" cy="4378832"/>
          </a:xfrm>
        </p:grpSpPr>
        <p:grpSp>
          <p:nvGrpSpPr>
            <p:cNvPr id="12" name="Gruppo 11"/>
            <p:cNvGrpSpPr/>
            <p:nvPr/>
          </p:nvGrpSpPr>
          <p:grpSpPr>
            <a:xfrm>
              <a:off x="381260" y="2060848"/>
              <a:ext cx="8367204" cy="4341007"/>
              <a:chOff x="395535" y="3284984"/>
              <a:chExt cx="8367204" cy="4341007"/>
            </a:xfrm>
          </p:grpSpPr>
          <p:sp>
            <p:nvSpPr>
              <p:cNvPr id="14" name="CasellaDiTesto 13"/>
              <p:cNvSpPr txBox="1"/>
              <p:nvPr/>
            </p:nvSpPr>
            <p:spPr>
              <a:xfrm>
                <a:off x="971600" y="3655673"/>
                <a:ext cx="779113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#include &lt;</a:t>
                </a:r>
                <a:r>
                  <a:rPr lang="it-IT" sz="1400" b="1" dirty="0" err="1">
                    <a:latin typeface="Courier Std" pitchFamily="49" charset="0"/>
                  </a:rPr>
                  <a:t>stdio.h</a:t>
                </a:r>
                <a:r>
                  <a:rPr lang="it-IT" sz="1400" b="1" dirty="0">
                    <a:latin typeface="Courier Std" pitchFamily="49" charset="0"/>
                  </a:rPr>
                  <a:t>&gt;</a:t>
                </a:r>
              </a:p>
              <a:p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main</a:t>
                </a:r>
                <a:r>
                  <a:rPr lang="it-IT" sz="1400" b="1" dirty="0">
                    <a:latin typeface="Courier Std" pitchFamily="49" charset="0"/>
                  </a:rPr>
                  <a:t>()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{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*a;     /* dichiaro 'a' puntatore ad intero (32/64 bit)*/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int</a:t>
                </a:r>
                <a:r>
                  <a:rPr lang="it-IT" sz="1400" b="1" dirty="0">
                    <a:latin typeface="Courier Std" pitchFamily="49" charset="0"/>
                  </a:rPr>
                  <a:t> </a:t>
                </a:r>
                <a:r>
                  <a:rPr lang="it-IT" sz="1400" b="1" dirty="0" err="1">
                    <a:latin typeface="Courier Std" pitchFamily="49" charset="0"/>
                  </a:rPr>
                  <a:t>b,c</a:t>
                </a:r>
                <a:r>
                  <a:rPr lang="it-IT" sz="1400" b="1" dirty="0">
                    <a:latin typeface="Courier Std" pitchFamily="49" charset="0"/>
                  </a:rPr>
                  <a:t>;    /* dichiaro 2 interi */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>
                    <a:latin typeface="Courier Std" pitchFamily="49" charset="0"/>
                  </a:rPr>
                  <a:t>    b=10;       /* assegno 10 a b */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a=&amp;b;       /* assegno ad a, l'indirizzo di memoria di b */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c=*a;       /* assegno a c il valore contenuto all'indirizzo di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                memoria specificato da a (cioè l'indirizzo di b).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                Quindi c </a:t>
                </a:r>
                <a:r>
                  <a:rPr lang="it-IT" sz="1400" b="1" dirty="0" err="1">
                    <a:latin typeface="Courier Std" pitchFamily="49" charset="0"/>
                  </a:rPr>
                  <a:t>sara'</a:t>
                </a:r>
                <a:r>
                  <a:rPr lang="it-IT" sz="1400" b="1" dirty="0">
                    <a:latin typeface="Courier Std" pitchFamily="49" charset="0"/>
                  </a:rPr>
                  <a:t> uguale a b */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printf</a:t>
                </a:r>
                <a:r>
                  <a:rPr lang="it-IT" sz="1400" b="1" dirty="0">
                    <a:latin typeface="Courier Std" pitchFamily="49" charset="0"/>
                  </a:rPr>
                  <a:t>("\n\n a = %#x  &amp;a = %#x  *a = %d", a, &amp;a, *a);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printf</a:t>
                </a:r>
                <a:r>
                  <a:rPr lang="it-IT" sz="1400" b="1" dirty="0">
                    <a:latin typeface="Courier Std" pitchFamily="49" charset="0"/>
                  </a:rPr>
                  <a:t>("\n\n b = %d  &amp;b = %#x", b, &amp;b);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printf</a:t>
                </a:r>
                <a:r>
                  <a:rPr lang="it-IT" sz="1400" b="1" dirty="0">
                    <a:latin typeface="Courier Std" pitchFamily="49" charset="0"/>
                  </a:rPr>
                  <a:t>("\n\n c = %d  &amp;c = %#x", c, &amp;c);</a:t>
                </a:r>
              </a:p>
              <a:p>
                <a:endParaRPr lang="it-IT" sz="1400" b="1" dirty="0">
                  <a:latin typeface="Courier Std" pitchFamily="49" charset="0"/>
                </a:endParaRPr>
              </a:p>
              <a:p>
                <a:r>
                  <a:rPr lang="it-IT" sz="1400" b="1" dirty="0">
                    <a:latin typeface="Courier Std" pitchFamily="49" charset="0"/>
                  </a:rPr>
                  <a:t>    </a:t>
                </a:r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0;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</p:txBody>
          </p:sp>
          <p:sp>
            <p:nvSpPr>
              <p:cNvPr id="15" name="CasellaDiTesto 14"/>
              <p:cNvSpPr txBox="1"/>
              <p:nvPr/>
            </p:nvSpPr>
            <p:spPr>
              <a:xfrm>
                <a:off x="395535" y="3284984"/>
                <a:ext cx="383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/>
                  <a:t>:</a:t>
                </a:r>
                <a:endParaRPr lang="it-IT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CasellaDiTesto 12"/>
            <p:cNvSpPr txBox="1"/>
            <p:nvPr/>
          </p:nvSpPr>
          <p:spPr>
            <a:xfrm flipH="1">
              <a:off x="395536" y="2420888"/>
              <a:ext cx="576064" cy="4018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18.</a:t>
              </a:r>
            </a:p>
          </p:txBody>
        </p:sp>
      </p:grpSp>
      <p:sp>
        <p:nvSpPr>
          <p:cNvPr id="44" name="Rettangolo con singolo angolo arrotondato 43"/>
          <p:cNvSpPr/>
          <p:nvPr/>
        </p:nvSpPr>
        <p:spPr>
          <a:xfrm>
            <a:off x="5148064" y="908720"/>
            <a:ext cx="3600400" cy="2160240"/>
          </a:xfrm>
          <a:prstGeom prst="round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it-IT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Operatori UNARI «&amp;» e «*»</a:t>
            </a:r>
          </a:p>
          <a:p>
            <a:pPr lvl="1" indent="-396000">
              <a:lnSpc>
                <a:spcPct val="120000"/>
              </a:lnSpc>
              <a:spcAft>
                <a:spcPts val="600"/>
              </a:spcAft>
            </a:pPr>
            <a:r>
              <a:rPr lang="it-IT" b="1" dirty="0"/>
              <a:t>&amp;</a:t>
            </a:r>
            <a:r>
              <a:rPr lang="it-IT" sz="1400" b="1" dirty="0"/>
              <a:t> = Operatore di estrazione di Indirizzo</a:t>
            </a:r>
            <a:r>
              <a:rPr lang="it-IT" sz="1400" dirty="0"/>
              <a:t>: restituisce l’indirizzo della variabile (</a:t>
            </a:r>
            <a:r>
              <a:rPr lang="it-IT" sz="1400" i="1" dirty="0"/>
              <a:t>referenziazione</a:t>
            </a:r>
            <a:r>
              <a:rPr lang="it-IT" sz="1400" dirty="0"/>
              <a:t>)</a:t>
            </a:r>
          </a:p>
          <a:p>
            <a:pPr lvl="1" indent="-396000">
              <a:lnSpc>
                <a:spcPct val="120000"/>
              </a:lnSpc>
              <a:spcAft>
                <a:spcPts val="600"/>
              </a:spcAft>
            </a:pPr>
            <a:r>
              <a:rPr lang="it-IT" b="1" dirty="0"/>
              <a:t>*</a:t>
            </a:r>
            <a:r>
              <a:rPr lang="it-IT" sz="1400" b="1" dirty="0"/>
              <a:t> = Operatore di </a:t>
            </a:r>
            <a:r>
              <a:rPr lang="it-IT" sz="1400" b="1" dirty="0" err="1"/>
              <a:t>Indirezione</a:t>
            </a:r>
            <a:r>
              <a:rPr lang="it-IT" sz="1400" dirty="0"/>
              <a:t>: restituisce il contenuto della variabile puntata (</a:t>
            </a:r>
            <a:r>
              <a:rPr lang="it-IT" sz="1400" i="1" dirty="0" err="1"/>
              <a:t>dereferenziazione</a:t>
            </a:r>
            <a:r>
              <a:rPr lang="it-IT" sz="1400" dirty="0"/>
              <a:t>)</a:t>
            </a:r>
          </a:p>
        </p:txBody>
      </p:sp>
      <p:sp>
        <p:nvSpPr>
          <p:cNvPr id="9" name="Rettangolo con singolo angolo arrotondato 8"/>
          <p:cNvSpPr/>
          <p:nvPr/>
        </p:nvSpPr>
        <p:spPr>
          <a:xfrm>
            <a:off x="5652120" y="5445224"/>
            <a:ext cx="3312368" cy="1224136"/>
          </a:xfrm>
          <a:prstGeom prst="round1Rect">
            <a:avLst>
              <a:gd name="adj" fmla="val 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tIns="0" rIns="0" bIns="0" rtlCol="0" anchor="ctr"/>
          <a:lstStyle/>
          <a:p>
            <a:pPr>
              <a:spcAft>
                <a:spcPts val="600"/>
              </a:spcAft>
            </a:pPr>
            <a:r>
              <a:rPr lang="it-IT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N.B.</a:t>
            </a:r>
          </a:p>
          <a:p>
            <a:pPr marL="61200" lvl="1">
              <a:spcAft>
                <a:spcPts val="600"/>
              </a:spcAft>
            </a:pPr>
            <a:r>
              <a:rPr lang="it-IT" sz="1400" dirty="0">
                <a:latin typeface="Arial" pitchFamily="34" charset="0"/>
                <a:cs typeface="Arial" pitchFamily="34" charset="0"/>
              </a:rPr>
              <a:t>‘</a:t>
            </a:r>
            <a:r>
              <a:rPr lang="it-IT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it-IT" sz="1400" dirty="0">
                <a:latin typeface="Arial" pitchFamily="34" charset="0"/>
                <a:cs typeface="Arial" pitchFamily="34" charset="0"/>
              </a:rPr>
              <a:t>’  </a:t>
            </a:r>
            <a:r>
              <a:rPr lang="it-IT" sz="1400" b="1" dirty="0">
                <a:latin typeface="Arial" pitchFamily="34" charset="0"/>
                <a:cs typeface="Arial" pitchFamily="34" charset="0"/>
              </a:rPr>
              <a:t>NON</a:t>
            </a:r>
            <a:r>
              <a:rPr lang="it-IT" sz="1400" dirty="0">
                <a:latin typeface="Arial" pitchFamily="34" charset="0"/>
                <a:cs typeface="Arial" pitchFamily="34" charset="0"/>
              </a:rPr>
              <a:t> è l’operatore «Puntatore»</a:t>
            </a:r>
          </a:p>
          <a:p>
            <a:pPr marL="61200" lvl="1">
              <a:spcAft>
                <a:spcPts val="600"/>
              </a:spcAft>
            </a:pPr>
            <a:r>
              <a:rPr lang="it-IT" sz="1400" dirty="0">
                <a:latin typeface="Arial" pitchFamily="34" charset="0"/>
                <a:cs typeface="Arial" pitchFamily="34" charset="0"/>
              </a:rPr>
              <a:t>‘</a:t>
            </a:r>
            <a:r>
              <a:rPr lang="it-IT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it-IT" sz="1400" dirty="0">
                <a:latin typeface="Arial" pitchFamily="34" charset="0"/>
                <a:cs typeface="Arial" pitchFamily="34" charset="0"/>
              </a:rPr>
              <a:t>’ è il PUNTATORE: «variabile puntatore»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40</a:t>
            </a:fld>
            <a:endParaRPr lang="it-IT"/>
          </a:p>
        </p:txBody>
      </p:sp>
      <p:sp>
        <p:nvSpPr>
          <p:cNvPr id="16" name="Rettangolo con singolo angolo arrotondato 15"/>
          <p:cNvSpPr/>
          <p:nvPr/>
        </p:nvSpPr>
        <p:spPr>
          <a:xfrm>
            <a:off x="2058616" y="3861048"/>
            <a:ext cx="4248472" cy="1728192"/>
          </a:xfrm>
          <a:prstGeom prst="round1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it-IT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Proprietà Fondamentale</a:t>
            </a:r>
          </a:p>
          <a:p>
            <a:pPr indent="-396000" algn="ctr">
              <a:lnSpc>
                <a:spcPct val="200000"/>
              </a:lnSpc>
              <a:spcAft>
                <a:spcPts val="600"/>
              </a:spcAft>
            </a:pPr>
            <a:r>
              <a:rPr lang="it-IT" sz="3200" b="1" dirty="0"/>
              <a:t>*&amp;x = x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00239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 bldLvl="2" animBg="1"/>
      <p:bldP spid="9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indirizzo: </a:t>
            </a:r>
            <a:r>
              <a:rPr lang="it-IT" dirty="0"/>
              <a:t>Esempio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7283298" cy="5182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76216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indirizzo: </a:t>
            </a:r>
            <a:r>
              <a:rPr lang="it-IT" dirty="0"/>
              <a:t>Esempio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00" y="1556792"/>
            <a:ext cx="7398041" cy="5301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990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/>
          <p:cNvGrpSpPr/>
          <p:nvPr/>
        </p:nvGrpSpPr>
        <p:grpSpPr>
          <a:xfrm>
            <a:off x="381260" y="2060848"/>
            <a:ext cx="5414876" cy="3942559"/>
            <a:chOff x="381260" y="2060848"/>
            <a:chExt cx="5414876" cy="3942559"/>
          </a:xfrm>
        </p:grpSpPr>
        <p:grpSp>
          <p:nvGrpSpPr>
            <p:cNvPr id="12" name="Gruppo 11"/>
            <p:cNvGrpSpPr/>
            <p:nvPr/>
          </p:nvGrpSpPr>
          <p:grpSpPr>
            <a:xfrm>
              <a:off x="381260" y="2060848"/>
              <a:ext cx="5414876" cy="3140678"/>
              <a:chOff x="395535" y="3284984"/>
              <a:chExt cx="5414876" cy="3140678"/>
            </a:xfrm>
          </p:grpSpPr>
          <p:sp>
            <p:nvSpPr>
              <p:cNvPr id="14" name="CasellaDiTesto 13"/>
              <p:cNvSpPr txBox="1"/>
              <p:nvPr/>
            </p:nvSpPr>
            <p:spPr>
              <a:xfrm>
                <a:off x="971600" y="3655673"/>
                <a:ext cx="4838811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b="1" dirty="0">
                    <a:latin typeface="Courier Std" pitchFamily="49" charset="0"/>
                  </a:rPr>
                  <a:t>float circonferenza(float *raggio)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{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float c;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c = *raggio * 3.14;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*raggio = 7; </a:t>
                </a:r>
                <a:r>
                  <a:rPr lang="it-IT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/*istruzione senza senso, voglio solo vedere cosa succede modificando il valore di un parametro formale*/</a:t>
                </a:r>
              </a:p>
              <a:p>
                <a:pPr lvl="1"/>
                <a:r>
                  <a:rPr lang="it-IT" sz="1400" b="1" dirty="0" err="1">
                    <a:latin typeface="Courier Std" pitchFamily="49" charset="0"/>
                  </a:rPr>
                  <a:t>return</a:t>
                </a:r>
                <a:r>
                  <a:rPr lang="it-IT" sz="1400" b="1" dirty="0">
                    <a:latin typeface="Courier Std" pitchFamily="49" charset="0"/>
                  </a:rPr>
                  <a:t> c;</a:t>
                </a:r>
              </a:p>
              <a:p>
                <a:r>
                  <a:rPr lang="it-IT" sz="1400" b="1" dirty="0">
                    <a:latin typeface="Courier Std" pitchFamily="49" charset="0"/>
                  </a:rPr>
                  <a:t>}</a:t>
                </a:r>
              </a:p>
              <a:p>
                <a:pPr lvl="1"/>
                <a:endParaRPr lang="it-IT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 Std" pitchFamily="49" charset="0"/>
                </a:endParaRPr>
              </a:p>
              <a:p>
                <a:pPr lvl="1"/>
                <a:r>
                  <a:rPr lang="it-IT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/* nel </a:t>
                </a:r>
                <a:r>
                  <a:rPr lang="it-IT" sz="1200" b="1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main</a:t>
                </a:r>
                <a:r>
                  <a:rPr lang="it-IT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urier Std" pitchFamily="49" charset="0"/>
                  </a:rPr>
                  <a:t> */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float c, r=5;</a:t>
                </a:r>
              </a:p>
              <a:p>
                <a:pPr lvl="1"/>
                <a:r>
                  <a:rPr lang="it-IT" sz="1400" b="1" dirty="0">
                    <a:latin typeface="Courier Std" pitchFamily="49" charset="0"/>
                  </a:rPr>
                  <a:t>c=circonferenza(&amp;r);</a:t>
                </a:r>
              </a:p>
            </p:txBody>
          </p:sp>
          <p:sp>
            <p:nvSpPr>
              <p:cNvPr id="15" name="CasellaDiTesto 14"/>
              <p:cNvSpPr txBox="1"/>
              <p:nvPr/>
            </p:nvSpPr>
            <p:spPr>
              <a:xfrm>
                <a:off x="395535" y="3284984"/>
                <a:ext cx="383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u="sng" dirty="0"/>
                  <a:t>Esempio</a:t>
                </a:r>
                <a:r>
                  <a:rPr lang="it-IT" dirty="0"/>
                  <a:t>:</a:t>
                </a:r>
                <a:endParaRPr lang="it-IT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CasellaDiTesto 12"/>
            <p:cNvSpPr txBox="1"/>
            <p:nvPr/>
          </p:nvSpPr>
          <p:spPr>
            <a:xfrm flipH="1">
              <a:off x="395536" y="2420888"/>
              <a:ext cx="576064" cy="3582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06.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07.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08.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09.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10.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11.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12.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13.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14.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15.</a:t>
              </a:r>
            </a:p>
            <a:p>
              <a:pPr algn="r">
                <a:lnSpc>
                  <a:spcPct val="135000"/>
                </a:lnSpc>
              </a:pPr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ourier Std" pitchFamily="49" charset="0"/>
                </a:rPr>
                <a:t>16.</a:t>
              </a:r>
            </a:p>
          </p:txBody>
        </p:sp>
      </p:grpSp>
      <p:sp>
        <p:nvSpPr>
          <p:cNvPr id="16" name="CasellaDiTesto 15"/>
          <p:cNvSpPr txBox="1"/>
          <p:nvPr/>
        </p:nvSpPr>
        <p:spPr>
          <a:xfrm>
            <a:off x="6646852" y="1876762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it-IT" sz="20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6156176" y="2353041"/>
            <a:ext cx="2160000" cy="4156433"/>
          </a:xfrm>
          <a:prstGeom prst="rect">
            <a:avLst/>
          </a:prstGeom>
          <a:solidFill>
            <a:srgbClr val="C8C8B1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igura a mano libera 17"/>
          <p:cNvSpPr/>
          <p:nvPr/>
        </p:nvSpPr>
        <p:spPr>
          <a:xfrm>
            <a:off x="6156176" y="2348880"/>
            <a:ext cx="2179320" cy="4162028"/>
          </a:xfrm>
          <a:custGeom>
            <a:avLst/>
            <a:gdLst>
              <a:gd name="connsiteX0" fmla="*/ 0 w 2179320"/>
              <a:gd name="connsiteY0" fmla="*/ 0 h 4686300"/>
              <a:gd name="connsiteX1" fmla="*/ 0 w 2179320"/>
              <a:gd name="connsiteY1" fmla="*/ 4686300 h 4686300"/>
              <a:gd name="connsiteX2" fmla="*/ 2164080 w 2179320"/>
              <a:gd name="connsiteY2" fmla="*/ 4686300 h 4686300"/>
              <a:gd name="connsiteX3" fmla="*/ 2164080 w 2179320"/>
              <a:gd name="connsiteY3" fmla="*/ 7620 h 4686300"/>
              <a:gd name="connsiteX4" fmla="*/ 2179320 w 2179320"/>
              <a:gd name="connsiteY4" fmla="*/ 762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9320" h="4686300">
                <a:moveTo>
                  <a:pt x="0" y="0"/>
                </a:moveTo>
                <a:lnTo>
                  <a:pt x="0" y="4686300"/>
                </a:lnTo>
                <a:lnTo>
                  <a:pt x="2164080" y="4686300"/>
                </a:lnTo>
                <a:lnTo>
                  <a:pt x="2164080" y="7620"/>
                </a:lnTo>
                <a:lnTo>
                  <a:pt x="2179320" y="762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/>
          <p:cNvSpPr/>
          <p:nvPr/>
        </p:nvSpPr>
        <p:spPr>
          <a:xfrm>
            <a:off x="6156176" y="579043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20" name="Rettangolo 19"/>
          <p:cNvSpPr/>
          <p:nvPr/>
        </p:nvSpPr>
        <p:spPr>
          <a:xfrm>
            <a:off x="6156176" y="543091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21" name="Rettangolo 20"/>
          <p:cNvSpPr/>
          <p:nvPr/>
        </p:nvSpPr>
        <p:spPr>
          <a:xfrm>
            <a:off x="6156176" y="507139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b="1" dirty="0"/>
          </a:p>
        </p:txBody>
      </p:sp>
      <p:sp>
        <p:nvSpPr>
          <p:cNvPr id="22" name="Rettangolo 21"/>
          <p:cNvSpPr/>
          <p:nvPr/>
        </p:nvSpPr>
        <p:spPr>
          <a:xfrm>
            <a:off x="6156176" y="6149954"/>
            <a:ext cx="2160000" cy="359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Parametri di </a:t>
            </a:r>
            <a:r>
              <a:rPr lang="it-IT" sz="1200" b="1" dirty="0" err="1"/>
              <a:t>main</a:t>
            </a:r>
            <a:r>
              <a:rPr lang="it-IT" sz="1200" b="1" dirty="0"/>
              <a:t>()</a:t>
            </a:r>
          </a:p>
        </p:txBody>
      </p:sp>
      <p:sp>
        <p:nvSpPr>
          <p:cNvPr id="23" name="Rettangolo 22"/>
          <p:cNvSpPr/>
          <p:nvPr/>
        </p:nvSpPr>
        <p:spPr>
          <a:xfrm>
            <a:off x="6160740" y="5071394"/>
            <a:ext cx="2155436" cy="71904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/>
          <p:cNvSpPr/>
          <p:nvPr/>
        </p:nvSpPr>
        <p:spPr>
          <a:xfrm>
            <a:off x="6160740" y="5789668"/>
            <a:ext cx="2155436" cy="71904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/>
          <p:cNvSpPr/>
          <p:nvPr/>
        </p:nvSpPr>
        <p:spPr>
          <a:xfrm flipV="1">
            <a:off x="7086848" y="5126995"/>
            <a:ext cx="317976" cy="53980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7" name="Gruppo 26"/>
          <p:cNvGrpSpPr/>
          <p:nvPr/>
        </p:nvGrpSpPr>
        <p:grpSpPr>
          <a:xfrm>
            <a:off x="6228184" y="5862182"/>
            <a:ext cx="972080" cy="246221"/>
            <a:chOff x="6264216" y="5862182"/>
            <a:chExt cx="972080" cy="246221"/>
          </a:xfrm>
        </p:grpSpPr>
        <p:sp>
          <p:nvSpPr>
            <p:cNvPr id="3" name="Rettangolo 2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???</a:t>
              </a:r>
            </a:p>
          </p:txBody>
        </p:sp>
        <p:sp>
          <p:nvSpPr>
            <p:cNvPr id="26" name="CasellaDiTesto 25"/>
            <p:cNvSpPr txBox="1"/>
            <p:nvPr/>
          </p:nvSpPr>
          <p:spPr>
            <a:xfrm>
              <a:off x="6264216" y="5862182"/>
              <a:ext cx="25200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C</a:t>
              </a:r>
            </a:p>
          </p:txBody>
        </p:sp>
      </p:grpSp>
      <p:grpSp>
        <p:nvGrpSpPr>
          <p:cNvPr id="29" name="Gruppo 28"/>
          <p:cNvGrpSpPr/>
          <p:nvPr/>
        </p:nvGrpSpPr>
        <p:grpSpPr>
          <a:xfrm>
            <a:off x="7272328" y="5862182"/>
            <a:ext cx="972080" cy="246221"/>
            <a:chOff x="6264216" y="5862182"/>
            <a:chExt cx="972080" cy="246221"/>
          </a:xfrm>
        </p:grpSpPr>
        <p:sp>
          <p:nvSpPr>
            <p:cNvPr id="30" name="Rettangolo 29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CasellaDiTesto 30"/>
            <p:cNvSpPr txBox="1"/>
            <p:nvPr/>
          </p:nvSpPr>
          <p:spPr>
            <a:xfrm>
              <a:off x="6264216" y="5862182"/>
              <a:ext cx="25200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r</a:t>
              </a:r>
            </a:p>
          </p:txBody>
        </p:sp>
      </p:grpSp>
      <p:grpSp>
        <p:nvGrpSpPr>
          <p:cNvPr id="32" name="Gruppo 31"/>
          <p:cNvGrpSpPr/>
          <p:nvPr/>
        </p:nvGrpSpPr>
        <p:grpSpPr>
          <a:xfrm>
            <a:off x="6354184" y="5487563"/>
            <a:ext cx="1527020" cy="246221"/>
            <a:chOff x="5709276" y="5862182"/>
            <a:chExt cx="1527020" cy="246221"/>
          </a:xfrm>
        </p:grpSpPr>
        <p:sp>
          <p:nvSpPr>
            <p:cNvPr id="33" name="Rettangolo 32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CasellaDiTesto 33"/>
            <p:cNvSpPr txBox="1"/>
            <p:nvPr/>
          </p:nvSpPr>
          <p:spPr>
            <a:xfrm>
              <a:off x="5709276" y="5862182"/>
              <a:ext cx="80694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it-IT" sz="1600" b="1" dirty="0">
                  <a:latin typeface="Courier Std" pitchFamily="49" charset="0"/>
                </a:rPr>
                <a:t>raggio</a:t>
              </a:r>
            </a:p>
          </p:txBody>
        </p:sp>
      </p:grpSp>
      <p:grpSp>
        <p:nvGrpSpPr>
          <p:cNvPr id="35" name="Gruppo 34"/>
          <p:cNvGrpSpPr/>
          <p:nvPr/>
        </p:nvGrpSpPr>
        <p:grpSpPr>
          <a:xfrm>
            <a:off x="6899712" y="5126995"/>
            <a:ext cx="972080" cy="246221"/>
            <a:chOff x="6264216" y="5862182"/>
            <a:chExt cx="972080" cy="246221"/>
          </a:xfrm>
        </p:grpSpPr>
        <p:sp>
          <p:nvSpPr>
            <p:cNvPr id="36" name="Rettangolo 35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CasellaDiTesto 36"/>
            <p:cNvSpPr txBox="1"/>
            <p:nvPr/>
          </p:nvSpPr>
          <p:spPr>
            <a:xfrm>
              <a:off x="6264216" y="5862182"/>
              <a:ext cx="252000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it-IT" sz="1600" b="1" dirty="0">
                  <a:latin typeface="Courier Std" pitchFamily="49" charset="0"/>
                </a:rPr>
                <a:t>C</a:t>
              </a:r>
            </a:p>
          </p:txBody>
        </p:sp>
      </p:grpSp>
      <p:sp>
        <p:nvSpPr>
          <p:cNvPr id="40" name="Rettangolo 39"/>
          <p:cNvSpPr/>
          <p:nvPr/>
        </p:nvSpPr>
        <p:spPr>
          <a:xfrm>
            <a:off x="7164288" y="54972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&amp;r</a:t>
            </a:r>
          </a:p>
        </p:txBody>
      </p:sp>
      <p:sp>
        <p:nvSpPr>
          <p:cNvPr id="28" name="Freccia circolare in su 27"/>
          <p:cNvSpPr/>
          <p:nvPr/>
        </p:nvSpPr>
        <p:spPr>
          <a:xfrm rot="13988750">
            <a:off x="7831909" y="5480539"/>
            <a:ext cx="602329" cy="342175"/>
          </a:xfrm>
          <a:prstGeom prst="curved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1" name="Rettangolo 40"/>
          <p:cNvSpPr/>
          <p:nvPr/>
        </p:nvSpPr>
        <p:spPr>
          <a:xfrm>
            <a:off x="7159596" y="5142085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15,7</a:t>
            </a:r>
          </a:p>
        </p:txBody>
      </p:sp>
      <p:sp>
        <p:nvSpPr>
          <p:cNvPr id="42" name="Freccia circolare in su 41"/>
          <p:cNvSpPr/>
          <p:nvPr/>
        </p:nvSpPr>
        <p:spPr>
          <a:xfrm rot="7973276">
            <a:off x="6065359" y="5194300"/>
            <a:ext cx="1221532" cy="413888"/>
          </a:xfrm>
          <a:prstGeom prst="curved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3" name="Rettangolo 42"/>
          <p:cNvSpPr/>
          <p:nvPr/>
        </p:nvSpPr>
        <p:spPr>
          <a:xfrm>
            <a:off x="6480264" y="5877296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15,7</a:t>
            </a:r>
          </a:p>
        </p:txBody>
      </p:sp>
      <p:sp>
        <p:nvSpPr>
          <p:cNvPr id="39" name="Rettangolo 38"/>
          <p:cNvSpPr/>
          <p:nvPr/>
        </p:nvSpPr>
        <p:spPr>
          <a:xfrm>
            <a:off x="7524408" y="5870648"/>
            <a:ext cx="72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8" name="Freccia a destra con strisce 37"/>
          <p:cNvSpPr/>
          <p:nvPr/>
        </p:nvSpPr>
        <p:spPr>
          <a:xfrm rot="3659168">
            <a:off x="7472114" y="5598678"/>
            <a:ext cx="421695" cy="257226"/>
          </a:xfrm>
          <a:prstGeom prst="stripedRightArrow">
            <a:avLst>
              <a:gd name="adj1" fmla="val 38146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43</a:t>
            </a:fld>
            <a:endParaRPr lang="it-IT"/>
          </a:p>
        </p:txBody>
      </p:sp>
      <p:sp>
        <p:nvSpPr>
          <p:cNvPr id="44" name="Titolo 6"/>
          <p:cNvSpPr txBox="1">
            <a:spLocks/>
          </p:cNvSpPr>
          <p:nvPr/>
        </p:nvSpPr>
        <p:spPr>
          <a:xfrm>
            <a:off x="457200" y="152718"/>
            <a:ext cx="7283152" cy="1044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mtClean="0"/>
              <a:t>Passaggio per INDIRIZZO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064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96296E-6 L -1.11111E-6 -0.16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3" grpId="0" animBg="1"/>
      <p:bldP spid="23" grpId="1" animBg="1"/>
      <p:bldP spid="25" grpId="0" animBg="1"/>
      <p:bldP spid="25" grpId="1" animBg="1"/>
      <p:bldP spid="40" grpId="0" animBg="1"/>
      <p:bldP spid="40" grpId="1" animBg="1"/>
      <p:bldP spid="28" grpId="0" animBg="1"/>
      <p:bldP spid="28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39" grpId="0" animBg="1"/>
      <p:bldP spid="39" grpId="1" animBg="1"/>
      <p:bldP spid="38" grpId="0" animBg="1"/>
      <p:bldP spid="38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Passaggio </a:t>
            </a:r>
            <a:r>
              <a:rPr lang="it-IT" dirty="0"/>
              <a:t>per </a:t>
            </a:r>
            <a:r>
              <a:rPr lang="it-IT" dirty="0" smtClean="0"/>
              <a:t>INDIRIZZO</a:t>
            </a:r>
            <a:endParaRPr lang="it-IT" dirty="0"/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endParaRPr lang="it-IT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endParaRPr lang="it-IT"/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971338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Freccia a destra 23"/>
          <p:cNvSpPr/>
          <p:nvPr/>
        </p:nvSpPr>
        <p:spPr>
          <a:xfrm>
            <a:off x="-36512" y="1484784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7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5E-6 0.14722 " pathEditMode="relative" rAng="0" ptsTypes="AA">
                                      <p:cBhvr>
                                        <p:cTn id="12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90533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7" name="Gruppo 36"/>
          <p:cNvGrpSpPr/>
          <p:nvPr/>
        </p:nvGrpSpPr>
        <p:grpSpPr>
          <a:xfrm>
            <a:off x="5364088" y="2136750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38" name="Rettangolo 37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39" name="Rettangolo 38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40" name="Rettangolo 39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41" name="Rettangolo 40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C8</a:t>
              </a:r>
            </a:p>
          </p:txBody>
        </p:sp>
      </p:grpSp>
      <p:grpSp>
        <p:nvGrpSpPr>
          <p:cNvPr id="3" name="Gruppo 2"/>
          <p:cNvGrpSpPr/>
          <p:nvPr/>
        </p:nvGrpSpPr>
        <p:grpSpPr>
          <a:xfrm>
            <a:off x="4193944" y="2131604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2" name="Rettangolo 1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34" name="Rettangolo 33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35" name="Rettangolo 34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36" name="Rettangolo 35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64</a:t>
              </a:r>
              <a:endParaRPr lang="it-IT" sz="1600" dirty="0"/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36512" y="2492896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grpSp>
        <p:nvGrpSpPr>
          <p:cNvPr id="11" name="Gruppo 10"/>
          <p:cNvGrpSpPr/>
          <p:nvPr/>
        </p:nvGrpSpPr>
        <p:grpSpPr>
          <a:xfrm>
            <a:off x="3635896" y="2524834"/>
            <a:ext cx="2880192" cy="400110"/>
            <a:chOff x="3923928" y="2524834"/>
            <a:chExt cx="2880192" cy="400110"/>
          </a:xfrm>
        </p:grpSpPr>
        <p:cxnSp>
          <p:nvCxnSpPr>
            <p:cNvPr id="8" name="Connettore 2 7"/>
            <p:cNvCxnSpPr/>
            <p:nvPr/>
          </p:nvCxnSpPr>
          <p:spPr>
            <a:xfrm>
              <a:off x="3923928" y="2564904"/>
              <a:ext cx="2880192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CasellaDiTesto 8"/>
            <p:cNvSpPr txBox="1"/>
            <p:nvPr/>
          </p:nvSpPr>
          <p:spPr>
            <a:xfrm>
              <a:off x="4698064" y="2524834"/>
              <a:ext cx="17461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r>
                <a:rPr lang="it-IT" sz="2000" b="1" dirty="0" err="1">
                  <a:ln w="11430"/>
                  <a:solidFill>
                    <a:schemeClr val="accent2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RDA</a:t>
              </a:r>
              <a:r>
                <a:rPr lang="it-IT" sz="2000" b="1" dirty="0">
                  <a:ln w="11430"/>
                  <a:solidFill>
                    <a:schemeClr val="accent2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 </a:t>
              </a:r>
              <a:r>
                <a:rPr lang="it-IT" sz="2000" b="1" dirty="0" err="1">
                  <a:ln w="11430"/>
                  <a:solidFill>
                    <a:schemeClr val="accent2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main</a:t>
              </a:r>
              <a:r>
                <a:rPr lang="it-IT" sz="2000" b="1" dirty="0">
                  <a:ln w="11430"/>
                  <a:solidFill>
                    <a:schemeClr val="accent2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()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45</a:t>
            </a:fld>
            <a:endParaRPr lang="it-IT"/>
          </a:p>
        </p:txBody>
      </p:sp>
      <p:sp>
        <p:nvSpPr>
          <p:cNvPr id="33" name="Titolo 6"/>
          <p:cNvSpPr txBox="1">
            <a:spLocks/>
          </p:cNvSpPr>
          <p:nvPr/>
        </p:nvSpPr>
        <p:spPr>
          <a:xfrm>
            <a:off x="457200" y="152718"/>
            <a:ext cx="7283152" cy="1044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mtClean="0"/>
              <a:t>Passaggio per INDIRIZZO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011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07407E-6 L 4.44444E-6 0.03172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olo 6"/>
          <p:cNvSpPr txBox="1">
            <a:spLocks/>
          </p:cNvSpPr>
          <p:nvPr/>
        </p:nvSpPr>
        <p:spPr>
          <a:xfrm>
            <a:off x="457200" y="152718"/>
            <a:ext cx="7283152" cy="1044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smtClean="0"/>
              <a:t>Passaggio per INDIRIZZO</a:t>
            </a:r>
            <a:endParaRPr lang="it-IT" dirty="0"/>
          </a:p>
        </p:txBody>
      </p:sp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87401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64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Freccia a destra 22"/>
          <p:cNvSpPr/>
          <p:nvPr/>
        </p:nvSpPr>
        <p:spPr>
          <a:xfrm>
            <a:off x="-45656" y="4509120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45656" y="309524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pic>
        <p:nvPicPr>
          <p:cNvPr id="1026" name="Picture 2" descr="http://2.bp.blogspot.com/-PpEAe3Qsq6Q/UiCraKe191I/AAAAAAAAAdQ/nmd0jHgyJiU/s1600/Vienna-convention-sign-B2a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2339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tangolo arrotondato 44"/>
          <p:cNvSpPr/>
          <p:nvPr/>
        </p:nvSpPr>
        <p:spPr>
          <a:xfrm>
            <a:off x="6516216" y="2132856"/>
            <a:ext cx="2298536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7" name="Rettangolo arrotondato 46"/>
          <p:cNvSpPr/>
          <p:nvPr/>
        </p:nvSpPr>
        <p:spPr>
          <a:xfrm>
            <a:off x="4193864" y="2422278"/>
            <a:ext cx="4626608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 swap()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4212088" y="2420888"/>
            <a:ext cx="2307584" cy="288032"/>
            <a:chOff x="4212088" y="2420888"/>
            <a:chExt cx="2307584" cy="288032"/>
          </a:xfrm>
        </p:grpSpPr>
        <p:grpSp>
          <p:nvGrpSpPr>
            <p:cNvPr id="54" name="Gruppo 53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55" name="Rettangolo 54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56" name="Rettangolo 55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7" name="Rettangolo 56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8" name="Rettangolo 57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59" name="Gruppo 58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0" name="Rettangolo 59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1" name="Rettangolo 60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2" name="Rettangolo 61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63" name="Rettangolo 62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</a:t>
                </a:r>
                <a:endParaRPr lang="it-IT" sz="1600" dirty="0"/>
              </a:p>
            </p:txBody>
          </p:sp>
        </p:grpSp>
      </p:grpSp>
      <p:grpSp>
        <p:nvGrpSpPr>
          <p:cNvPr id="64" name="Gruppo 63"/>
          <p:cNvGrpSpPr/>
          <p:nvPr/>
        </p:nvGrpSpPr>
        <p:grpSpPr>
          <a:xfrm>
            <a:off x="6507168" y="2420888"/>
            <a:ext cx="2307584" cy="288032"/>
            <a:chOff x="4212088" y="2420888"/>
            <a:chExt cx="2307584" cy="288032"/>
          </a:xfrm>
        </p:grpSpPr>
        <p:grpSp>
          <p:nvGrpSpPr>
            <p:cNvPr id="65" name="Gruppo 64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71" name="Rettangolo 70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72" name="Rettangolo 71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3" name="Rettangolo 72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4" name="Rettangolo 73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66" name="Gruppo 65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7" name="Rettangolo 66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8" name="Rettangolo 67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9" name="Rettangolo 68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70" name="Rettangolo 69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04</a:t>
                </a:r>
                <a:endParaRPr lang="it-IT" sz="1600" dirty="0"/>
              </a:p>
            </p:txBody>
          </p:sp>
        </p:grpSp>
      </p:grpSp>
      <p:grpSp>
        <p:nvGrpSpPr>
          <p:cNvPr id="48" name="Gruppo 47"/>
          <p:cNvGrpSpPr/>
          <p:nvPr/>
        </p:nvGrpSpPr>
        <p:grpSpPr>
          <a:xfrm>
            <a:off x="4139952" y="2279514"/>
            <a:ext cx="2376168" cy="429544"/>
            <a:chOff x="6606240" y="839216"/>
            <a:chExt cx="2391264" cy="429544"/>
          </a:xfrm>
        </p:grpSpPr>
        <p:sp>
          <p:nvSpPr>
            <p:cNvPr id="49" name="Rettangolo arrotondato 48"/>
            <p:cNvSpPr/>
            <p:nvPr/>
          </p:nvSpPr>
          <p:spPr>
            <a:xfrm>
              <a:off x="6660232" y="980728"/>
              <a:ext cx="2337272" cy="28803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0" name="Ovale 49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</a:p>
          </p:txBody>
        </p:sp>
      </p:grpSp>
      <p:grpSp>
        <p:nvGrpSpPr>
          <p:cNvPr id="51" name="Gruppo 50"/>
          <p:cNvGrpSpPr/>
          <p:nvPr/>
        </p:nvGrpSpPr>
        <p:grpSpPr>
          <a:xfrm>
            <a:off x="6444208" y="2279514"/>
            <a:ext cx="2376264" cy="429544"/>
            <a:chOff x="6606240" y="839216"/>
            <a:chExt cx="2391264" cy="429544"/>
          </a:xfrm>
        </p:grpSpPr>
        <p:sp>
          <p:nvSpPr>
            <p:cNvPr id="52" name="Rettangolo arrotondato 51"/>
            <p:cNvSpPr/>
            <p:nvPr/>
          </p:nvSpPr>
          <p:spPr>
            <a:xfrm>
              <a:off x="6682180" y="980728"/>
              <a:ext cx="2315324" cy="28803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Ovale 52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</a:p>
          </p:txBody>
        </p:sp>
      </p:grpSp>
      <p:sp>
        <p:nvSpPr>
          <p:cNvPr id="10" name="Freccia circolare a destra 9"/>
          <p:cNvSpPr/>
          <p:nvPr/>
        </p:nvSpPr>
        <p:spPr>
          <a:xfrm>
            <a:off x="3860341" y="1918211"/>
            <a:ext cx="351619" cy="718701"/>
          </a:xfrm>
          <a:prstGeom prst="curvedRightArrow">
            <a:avLst>
              <a:gd name="adj1" fmla="val 25000"/>
              <a:gd name="adj2" fmla="val 51382"/>
              <a:gd name="adj3" fmla="val 250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2" name="Ovale 11"/>
          <p:cNvSpPr/>
          <p:nvPr/>
        </p:nvSpPr>
        <p:spPr>
          <a:xfrm>
            <a:off x="4284000" y="1844824"/>
            <a:ext cx="288000" cy="252016"/>
          </a:xfrm>
          <a:prstGeom prst="ellipse">
            <a:avLst/>
          </a:prstGeom>
          <a:noFill/>
          <a:ln w="38100"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Freccia circolare a destra 74"/>
          <p:cNvSpPr/>
          <p:nvPr/>
        </p:nvSpPr>
        <p:spPr>
          <a:xfrm rot="17932906">
            <a:off x="5688484" y="1989405"/>
            <a:ext cx="487900" cy="1264940"/>
          </a:xfrm>
          <a:prstGeom prst="curvedRightArrow">
            <a:avLst>
              <a:gd name="adj1" fmla="val 25000"/>
              <a:gd name="adj2" fmla="val 51382"/>
              <a:gd name="adj3" fmla="val 250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6" name="Ovale 75"/>
          <p:cNvSpPr/>
          <p:nvPr/>
        </p:nvSpPr>
        <p:spPr>
          <a:xfrm>
            <a:off x="5436096" y="1862832"/>
            <a:ext cx="288000" cy="252016"/>
          </a:xfrm>
          <a:prstGeom prst="ellipse">
            <a:avLst/>
          </a:prstGeom>
          <a:noFill/>
          <a:ln w="38100"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con singolo angolo arrotondato 13"/>
          <p:cNvSpPr/>
          <p:nvPr/>
        </p:nvSpPr>
        <p:spPr>
          <a:xfrm>
            <a:off x="6410856" y="955592"/>
            <a:ext cx="2208624" cy="1009980"/>
          </a:xfrm>
          <a:prstGeom prst="round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Copia degli </a:t>
            </a:r>
            <a:r>
              <a:rPr lang="it-IT" sz="1600" b="1" dirty="0">
                <a:solidFill>
                  <a:schemeClr val="tx1"/>
                </a:solidFill>
              </a:rPr>
              <a:t>indirizzi dei parametri attuali </a:t>
            </a:r>
            <a:r>
              <a:rPr lang="it-IT" sz="1600" dirty="0"/>
              <a:t>nei parametri formali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115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5" grpId="0" animBg="1"/>
      <p:bldP spid="47" grpId="0" animBg="1"/>
      <p:bldP spid="47" grpId="1" animBg="1"/>
      <p:bldP spid="10" grpId="0" animBg="1"/>
      <p:bldP spid="12" grpId="0" animBg="1"/>
      <p:bldP spid="75" grpId="0" animBg="1"/>
      <p:bldP spid="76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790216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64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Freccia a destra 22"/>
          <p:cNvSpPr/>
          <p:nvPr/>
        </p:nvSpPr>
        <p:spPr>
          <a:xfrm>
            <a:off x="-45656" y="4725144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45656" y="309524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pic>
        <p:nvPicPr>
          <p:cNvPr id="1026" name="Picture 2" descr="http://2.bp.blogspot.com/-PpEAe3Qsq6Q/UiCraKe191I/AAAAAAAAAdQ/nmd0jHgyJiU/s1600/Vienna-convention-sign-B2a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2339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tangolo arrotondato 44"/>
          <p:cNvSpPr/>
          <p:nvPr/>
        </p:nvSpPr>
        <p:spPr>
          <a:xfrm>
            <a:off x="6516216" y="2132856"/>
            <a:ext cx="2298536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7" name="Rettangolo arrotondato 46"/>
          <p:cNvSpPr/>
          <p:nvPr/>
        </p:nvSpPr>
        <p:spPr>
          <a:xfrm>
            <a:off x="4193864" y="2422278"/>
            <a:ext cx="4626608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 swap()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4212088" y="2420888"/>
            <a:ext cx="2307584" cy="288032"/>
            <a:chOff x="4212088" y="2420888"/>
            <a:chExt cx="2307584" cy="288032"/>
          </a:xfrm>
        </p:grpSpPr>
        <p:grpSp>
          <p:nvGrpSpPr>
            <p:cNvPr id="54" name="Gruppo 53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55" name="Rettangolo 54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56" name="Rettangolo 55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7" name="Rettangolo 56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8" name="Rettangolo 57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59" name="Gruppo 58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0" name="Rettangolo 59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1" name="Rettangolo 60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2" name="Rettangolo 61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63" name="Rettangolo 62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</a:t>
                </a:r>
                <a:endParaRPr lang="it-IT" sz="1600" dirty="0"/>
              </a:p>
            </p:txBody>
          </p:sp>
        </p:grpSp>
      </p:grpSp>
      <p:grpSp>
        <p:nvGrpSpPr>
          <p:cNvPr id="64" name="Gruppo 63"/>
          <p:cNvGrpSpPr/>
          <p:nvPr/>
        </p:nvGrpSpPr>
        <p:grpSpPr>
          <a:xfrm>
            <a:off x="6507168" y="2420888"/>
            <a:ext cx="2307584" cy="288032"/>
            <a:chOff x="4212088" y="2420888"/>
            <a:chExt cx="2307584" cy="288032"/>
          </a:xfrm>
        </p:grpSpPr>
        <p:grpSp>
          <p:nvGrpSpPr>
            <p:cNvPr id="65" name="Gruppo 64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71" name="Rettangolo 70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72" name="Rettangolo 71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3" name="Rettangolo 72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4" name="Rettangolo 73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66" name="Gruppo 65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7" name="Rettangolo 66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8" name="Rettangolo 67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9" name="Rettangolo 68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70" name="Rettangolo 69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04</a:t>
                </a:r>
                <a:endParaRPr lang="it-IT" sz="1600" dirty="0"/>
              </a:p>
            </p:txBody>
          </p:sp>
        </p:grpSp>
      </p:grpSp>
      <p:grpSp>
        <p:nvGrpSpPr>
          <p:cNvPr id="48" name="Gruppo 47"/>
          <p:cNvGrpSpPr/>
          <p:nvPr/>
        </p:nvGrpSpPr>
        <p:grpSpPr>
          <a:xfrm>
            <a:off x="4139952" y="2279514"/>
            <a:ext cx="2376168" cy="429544"/>
            <a:chOff x="6606240" y="839216"/>
            <a:chExt cx="2391264" cy="429544"/>
          </a:xfrm>
        </p:grpSpPr>
        <p:sp>
          <p:nvSpPr>
            <p:cNvPr id="49" name="Rettangolo arrotondato 48"/>
            <p:cNvSpPr/>
            <p:nvPr/>
          </p:nvSpPr>
          <p:spPr>
            <a:xfrm>
              <a:off x="6660232" y="980728"/>
              <a:ext cx="2337272" cy="28803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0" name="Ovale 49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</a:p>
          </p:txBody>
        </p:sp>
      </p:grpSp>
      <p:grpSp>
        <p:nvGrpSpPr>
          <p:cNvPr id="51" name="Gruppo 50"/>
          <p:cNvGrpSpPr/>
          <p:nvPr/>
        </p:nvGrpSpPr>
        <p:grpSpPr>
          <a:xfrm>
            <a:off x="6444208" y="2279514"/>
            <a:ext cx="2376264" cy="429544"/>
            <a:chOff x="6606240" y="839216"/>
            <a:chExt cx="2391264" cy="429544"/>
          </a:xfrm>
        </p:grpSpPr>
        <p:sp>
          <p:nvSpPr>
            <p:cNvPr id="52" name="Rettangolo arrotondato 51"/>
            <p:cNvSpPr/>
            <p:nvPr/>
          </p:nvSpPr>
          <p:spPr>
            <a:xfrm>
              <a:off x="6682180" y="980728"/>
              <a:ext cx="2315324" cy="28803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Ovale 52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</a:p>
          </p:txBody>
        </p:sp>
      </p:grpSp>
      <p:grpSp>
        <p:nvGrpSpPr>
          <p:cNvPr id="77" name="Gruppo 76"/>
          <p:cNvGrpSpPr/>
          <p:nvPr/>
        </p:nvGrpSpPr>
        <p:grpSpPr>
          <a:xfrm>
            <a:off x="4139952" y="2567408"/>
            <a:ext cx="1206120" cy="429544"/>
            <a:chOff x="6606240" y="839216"/>
            <a:chExt cx="1206120" cy="429544"/>
          </a:xfrm>
        </p:grpSpPr>
        <p:sp>
          <p:nvSpPr>
            <p:cNvPr id="78" name="Rettangolo arrotondato 77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9" name="Ovale 78"/>
            <p:cNvSpPr/>
            <p:nvPr/>
          </p:nvSpPr>
          <p:spPr>
            <a:xfrm>
              <a:off x="6606240" y="839216"/>
              <a:ext cx="630024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temp</a:t>
              </a:r>
              <a:endParaRPr lang="it-IT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80" name="Rettangolo arrotondato 79"/>
          <p:cNvSpPr/>
          <p:nvPr/>
        </p:nvSpPr>
        <p:spPr>
          <a:xfrm>
            <a:off x="6498497" y="2135498"/>
            <a:ext cx="2316255" cy="288032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1" name="Rettangolo arrotondato 80"/>
          <p:cNvSpPr/>
          <p:nvPr/>
        </p:nvSpPr>
        <p:spPr>
          <a:xfrm>
            <a:off x="4193603" y="2431511"/>
            <a:ext cx="4626528" cy="288032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2" name="Rettangolo arrotondato 81"/>
          <p:cNvSpPr/>
          <p:nvPr/>
        </p:nvSpPr>
        <p:spPr>
          <a:xfrm>
            <a:off x="4193943" y="2717684"/>
            <a:ext cx="1152033" cy="288032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5489619" y="2359304"/>
            <a:ext cx="174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ln w="12700">
                  <a:noFill/>
                  <a:prstDash val="solid"/>
                </a:ln>
                <a:solidFill>
                  <a:schemeClr val="tx2"/>
                </a:solidFill>
                <a:effectLst/>
              </a:rPr>
              <a:t>RDA</a:t>
            </a:r>
            <a:r>
              <a:rPr lang="it-IT" b="1" i="1" dirty="0">
                <a:ln w="12700">
                  <a:noFill/>
                  <a:prstDash val="solid"/>
                </a:ln>
                <a:solidFill>
                  <a:schemeClr val="tx2"/>
                </a:solidFill>
                <a:effectLst/>
              </a:rPr>
              <a:t> swap()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47</a:t>
            </a:fld>
            <a:endParaRPr lang="it-IT"/>
          </a:p>
        </p:txBody>
      </p:sp>
      <p:sp>
        <p:nvSpPr>
          <p:cNvPr id="75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044034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</a:t>
            </a:r>
            <a:r>
              <a:rPr lang="it-IT" dirty="0"/>
              <a:t>INDIRIZZO</a:t>
            </a:r>
          </a:p>
        </p:txBody>
      </p:sp>
    </p:spTree>
    <p:extLst>
      <p:ext uri="{BB962C8B-B14F-4D97-AF65-F5344CB8AC3E}">
        <p14:creationId xmlns:p14="http://schemas.microsoft.com/office/powerpoint/2010/main" val="22240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2" grpId="0" animBg="1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195737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64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Freccia a destra 22"/>
          <p:cNvSpPr/>
          <p:nvPr/>
        </p:nvSpPr>
        <p:spPr>
          <a:xfrm>
            <a:off x="-45656" y="4913736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45656" y="309524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pic>
        <p:nvPicPr>
          <p:cNvPr id="1026" name="Picture 2" descr="http://2.bp.blogspot.com/-PpEAe3Qsq6Q/UiCraKe191I/AAAAAAAAAdQ/nmd0jHgyJiU/s1600/Vienna-convention-sign-B2a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2339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tangolo arrotondato 44"/>
          <p:cNvSpPr/>
          <p:nvPr/>
        </p:nvSpPr>
        <p:spPr>
          <a:xfrm>
            <a:off x="6516216" y="2132856"/>
            <a:ext cx="2298536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7" name="Rettangolo arrotondato 46"/>
          <p:cNvSpPr/>
          <p:nvPr/>
        </p:nvSpPr>
        <p:spPr>
          <a:xfrm>
            <a:off x="4193864" y="2422278"/>
            <a:ext cx="4626608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 swap()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4212088" y="2420888"/>
            <a:ext cx="2307584" cy="288032"/>
            <a:chOff x="4212088" y="2420888"/>
            <a:chExt cx="2307584" cy="288032"/>
          </a:xfrm>
        </p:grpSpPr>
        <p:grpSp>
          <p:nvGrpSpPr>
            <p:cNvPr id="54" name="Gruppo 53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55" name="Rettangolo 54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56" name="Rettangolo 55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7" name="Rettangolo 56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8" name="Rettangolo 57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59" name="Gruppo 58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0" name="Rettangolo 59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1" name="Rettangolo 60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2" name="Rettangolo 61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63" name="Rettangolo 62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</a:t>
                </a:r>
                <a:endParaRPr lang="it-IT" sz="1600" dirty="0"/>
              </a:p>
            </p:txBody>
          </p:sp>
        </p:grpSp>
      </p:grpSp>
      <p:grpSp>
        <p:nvGrpSpPr>
          <p:cNvPr id="64" name="Gruppo 63"/>
          <p:cNvGrpSpPr/>
          <p:nvPr/>
        </p:nvGrpSpPr>
        <p:grpSpPr>
          <a:xfrm>
            <a:off x="6507168" y="2420888"/>
            <a:ext cx="2307584" cy="288032"/>
            <a:chOff x="4212088" y="2420888"/>
            <a:chExt cx="2307584" cy="288032"/>
          </a:xfrm>
        </p:grpSpPr>
        <p:grpSp>
          <p:nvGrpSpPr>
            <p:cNvPr id="65" name="Gruppo 64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71" name="Rettangolo 70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72" name="Rettangolo 71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3" name="Rettangolo 72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4" name="Rettangolo 73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66" name="Gruppo 65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7" name="Rettangolo 66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8" name="Rettangolo 67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9" name="Rettangolo 68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70" name="Rettangolo 69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04</a:t>
                </a:r>
                <a:endParaRPr lang="it-IT" sz="1600" dirty="0"/>
              </a:p>
            </p:txBody>
          </p:sp>
        </p:grpSp>
      </p:grpSp>
      <p:grpSp>
        <p:nvGrpSpPr>
          <p:cNvPr id="48" name="Gruppo 47"/>
          <p:cNvGrpSpPr/>
          <p:nvPr/>
        </p:nvGrpSpPr>
        <p:grpSpPr>
          <a:xfrm>
            <a:off x="4139952" y="2279514"/>
            <a:ext cx="2376168" cy="429544"/>
            <a:chOff x="6606240" y="839216"/>
            <a:chExt cx="2391264" cy="429544"/>
          </a:xfrm>
        </p:grpSpPr>
        <p:sp>
          <p:nvSpPr>
            <p:cNvPr id="49" name="Rettangolo arrotondato 48"/>
            <p:cNvSpPr/>
            <p:nvPr/>
          </p:nvSpPr>
          <p:spPr>
            <a:xfrm>
              <a:off x="6660232" y="980728"/>
              <a:ext cx="2337272" cy="28803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0" name="Ovale 49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</a:p>
          </p:txBody>
        </p:sp>
      </p:grpSp>
      <p:grpSp>
        <p:nvGrpSpPr>
          <p:cNvPr id="51" name="Gruppo 50"/>
          <p:cNvGrpSpPr/>
          <p:nvPr/>
        </p:nvGrpSpPr>
        <p:grpSpPr>
          <a:xfrm>
            <a:off x="6444208" y="2279514"/>
            <a:ext cx="2376264" cy="429544"/>
            <a:chOff x="6606240" y="839216"/>
            <a:chExt cx="2391264" cy="429544"/>
          </a:xfrm>
        </p:grpSpPr>
        <p:sp>
          <p:nvSpPr>
            <p:cNvPr id="52" name="Rettangolo arrotondato 51"/>
            <p:cNvSpPr/>
            <p:nvPr/>
          </p:nvSpPr>
          <p:spPr>
            <a:xfrm>
              <a:off x="6682180" y="980728"/>
              <a:ext cx="2315324" cy="28803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Ovale 52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</a:p>
          </p:txBody>
        </p:sp>
      </p:grpSp>
      <p:grpSp>
        <p:nvGrpSpPr>
          <p:cNvPr id="75" name="Gruppo 74"/>
          <p:cNvGrpSpPr/>
          <p:nvPr/>
        </p:nvGrpSpPr>
        <p:grpSpPr>
          <a:xfrm>
            <a:off x="4193603" y="2717344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76" name="Rettangolo 75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83" name="Rettangolo 82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4" name="Rettangolo 83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5" name="Rettangolo 84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64</a:t>
              </a:r>
              <a:endParaRPr lang="it-IT" sz="1600" dirty="0"/>
            </a:p>
          </p:txBody>
        </p:sp>
      </p:grpSp>
      <p:grpSp>
        <p:nvGrpSpPr>
          <p:cNvPr id="77" name="Gruppo 76"/>
          <p:cNvGrpSpPr/>
          <p:nvPr/>
        </p:nvGrpSpPr>
        <p:grpSpPr>
          <a:xfrm>
            <a:off x="4139952" y="2567408"/>
            <a:ext cx="1206120" cy="429544"/>
            <a:chOff x="6606240" y="839216"/>
            <a:chExt cx="1206120" cy="429544"/>
          </a:xfrm>
        </p:grpSpPr>
        <p:sp>
          <p:nvSpPr>
            <p:cNvPr id="78" name="Rettangolo arrotondato 77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9" name="Ovale 78"/>
            <p:cNvSpPr/>
            <p:nvPr/>
          </p:nvSpPr>
          <p:spPr>
            <a:xfrm>
              <a:off x="6606240" y="839216"/>
              <a:ext cx="630024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temp</a:t>
              </a:r>
              <a:endParaRPr lang="it-IT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8" name="Callout 1 7"/>
          <p:cNvSpPr/>
          <p:nvPr/>
        </p:nvSpPr>
        <p:spPr>
          <a:xfrm>
            <a:off x="2195736" y="5301208"/>
            <a:ext cx="1728192" cy="819520"/>
          </a:xfrm>
          <a:prstGeom prst="borderCallout1">
            <a:avLst>
              <a:gd name="adj1" fmla="val 18750"/>
              <a:gd name="adj2" fmla="val -8333"/>
              <a:gd name="adj3" fmla="val -23624"/>
              <a:gd name="adj4" fmla="val -33570"/>
            </a:avLst>
          </a:prstGeom>
          <a:ln w="1905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i="1" dirty="0"/>
              <a:t>Si legge «</a:t>
            </a:r>
            <a:r>
              <a:rPr lang="it-IT" sz="1600" b="1" i="1" dirty="0"/>
              <a:t>il valore puntato da</a:t>
            </a:r>
            <a:r>
              <a:rPr lang="it-IT" sz="1600" i="1" dirty="0"/>
              <a:t>»  </a:t>
            </a:r>
            <a:r>
              <a:rPr lang="it-IT" sz="1600" b="1" i="1" dirty="0">
                <a:latin typeface="Courier New" pitchFamily="49" charset="0"/>
                <a:cs typeface="Courier New" pitchFamily="49" charset="0"/>
              </a:rPr>
              <a:t>x</a:t>
            </a:r>
          </a:p>
        </p:txBody>
      </p:sp>
      <p:sp>
        <p:nvSpPr>
          <p:cNvPr id="10" name="Ovale 9"/>
          <p:cNvSpPr/>
          <p:nvPr/>
        </p:nvSpPr>
        <p:spPr>
          <a:xfrm>
            <a:off x="1331640" y="4841728"/>
            <a:ext cx="288032" cy="288032"/>
          </a:xfrm>
          <a:prstGeom prst="ellipse">
            <a:avLst/>
          </a:prstGeom>
          <a:noFill/>
          <a:ln w="19050"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48</a:t>
            </a:fld>
            <a:endParaRPr lang="it-IT"/>
          </a:p>
        </p:txBody>
      </p:sp>
      <p:sp>
        <p:nvSpPr>
          <p:cNvPr id="80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044034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</a:t>
            </a:r>
            <a:r>
              <a:rPr lang="it-IT" dirty="0"/>
              <a:t>INDIRIZZO</a:t>
            </a:r>
          </a:p>
        </p:txBody>
      </p:sp>
    </p:spTree>
    <p:extLst>
      <p:ext uri="{BB962C8B-B14F-4D97-AF65-F5344CB8AC3E}">
        <p14:creationId xmlns:p14="http://schemas.microsoft.com/office/powerpoint/2010/main" val="415233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874161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 smtClean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64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Freccia a destra 22"/>
          <p:cNvSpPr/>
          <p:nvPr/>
        </p:nvSpPr>
        <p:spPr>
          <a:xfrm>
            <a:off x="-45656" y="5129760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" name="Gruppo 2"/>
          <p:cNvGrpSpPr/>
          <p:nvPr/>
        </p:nvGrpSpPr>
        <p:grpSpPr>
          <a:xfrm>
            <a:off x="4194072" y="2135360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2" name="Rettangolo 1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34" name="Rettangolo 33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35" name="Rettangolo 34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36" name="Rettangolo 35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C8</a:t>
              </a:r>
              <a:endParaRPr lang="it-IT" sz="1600" dirty="0"/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45656" y="309524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pic>
        <p:nvPicPr>
          <p:cNvPr id="1026" name="Picture 2" descr="http://2.bp.blogspot.com/-PpEAe3Qsq6Q/UiCraKe191I/AAAAAAAAAdQ/nmd0jHgyJiU/s1600/Vienna-convention-sign-B2a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2339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tangolo arrotondato 44"/>
          <p:cNvSpPr/>
          <p:nvPr/>
        </p:nvSpPr>
        <p:spPr>
          <a:xfrm>
            <a:off x="6516216" y="2132856"/>
            <a:ext cx="2298536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7" name="Rettangolo arrotondato 46"/>
          <p:cNvSpPr/>
          <p:nvPr/>
        </p:nvSpPr>
        <p:spPr>
          <a:xfrm>
            <a:off x="4193864" y="2422278"/>
            <a:ext cx="4626608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 swap()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4212088" y="2420888"/>
            <a:ext cx="2307584" cy="288032"/>
            <a:chOff x="4212088" y="2420888"/>
            <a:chExt cx="2307584" cy="288032"/>
          </a:xfrm>
        </p:grpSpPr>
        <p:grpSp>
          <p:nvGrpSpPr>
            <p:cNvPr id="54" name="Gruppo 53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55" name="Rettangolo 54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56" name="Rettangolo 55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7" name="Rettangolo 56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8" name="Rettangolo 57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59" name="Gruppo 58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0" name="Rettangolo 59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1" name="Rettangolo 60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2" name="Rettangolo 61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63" name="Rettangolo 62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</a:t>
                </a:r>
                <a:endParaRPr lang="it-IT" sz="1600" dirty="0"/>
              </a:p>
            </p:txBody>
          </p:sp>
        </p:grpSp>
      </p:grpSp>
      <p:grpSp>
        <p:nvGrpSpPr>
          <p:cNvPr id="64" name="Gruppo 63"/>
          <p:cNvGrpSpPr/>
          <p:nvPr/>
        </p:nvGrpSpPr>
        <p:grpSpPr>
          <a:xfrm>
            <a:off x="6507168" y="2420888"/>
            <a:ext cx="2307584" cy="288032"/>
            <a:chOff x="4212088" y="2420888"/>
            <a:chExt cx="2307584" cy="288032"/>
          </a:xfrm>
        </p:grpSpPr>
        <p:grpSp>
          <p:nvGrpSpPr>
            <p:cNvPr id="65" name="Gruppo 64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71" name="Rettangolo 70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72" name="Rettangolo 71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3" name="Rettangolo 72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4" name="Rettangolo 73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66" name="Gruppo 65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7" name="Rettangolo 66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8" name="Rettangolo 67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9" name="Rettangolo 68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70" name="Rettangolo 69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04</a:t>
                </a:r>
                <a:endParaRPr lang="it-IT" sz="1600" dirty="0"/>
              </a:p>
            </p:txBody>
          </p:sp>
        </p:grpSp>
      </p:grpSp>
      <p:grpSp>
        <p:nvGrpSpPr>
          <p:cNvPr id="48" name="Gruppo 47"/>
          <p:cNvGrpSpPr/>
          <p:nvPr/>
        </p:nvGrpSpPr>
        <p:grpSpPr>
          <a:xfrm>
            <a:off x="4139952" y="2279514"/>
            <a:ext cx="2376168" cy="429544"/>
            <a:chOff x="6606240" y="839216"/>
            <a:chExt cx="2391264" cy="429544"/>
          </a:xfrm>
        </p:grpSpPr>
        <p:sp>
          <p:nvSpPr>
            <p:cNvPr id="49" name="Rettangolo arrotondato 48"/>
            <p:cNvSpPr/>
            <p:nvPr/>
          </p:nvSpPr>
          <p:spPr>
            <a:xfrm>
              <a:off x="6660232" y="980728"/>
              <a:ext cx="2337272" cy="28803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0" name="Ovale 49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</a:p>
          </p:txBody>
        </p:sp>
      </p:grpSp>
      <p:grpSp>
        <p:nvGrpSpPr>
          <p:cNvPr id="51" name="Gruppo 50"/>
          <p:cNvGrpSpPr/>
          <p:nvPr/>
        </p:nvGrpSpPr>
        <p:grpSpPr>
          <a:xfrm>
            <a:off x="6444208" y="2279514"/>
            <a:ext cx="2376264" cy="429544"/>
            <a:chOff x="6606240" y="839216"/>
            <a:chExt cx="2391264" cy="429544"/>
          </a:xfrm>
        </p:grpSpPr>
        <p:sp>
          <p:nvSpPr>
            <p:cNvPr id="52" name="Rettangolo arrotondato 51"/>
            <p:cNvSpPr/>
            <p:nvPr/>
          </p:nvSpPr>
          <p:spPr>
            <a:xfrm>
              <a:off x="6682180" y="980728"/>
              <a:ext cx="2315324" cy="28803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Ovale 52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</a:p>
          </p:txBody>
        </p:sp>
      </p:grpSp>
      <p:grpSp>
        <p:nvGrpSpPr>
          <p:cNvPr id="80" name="Gruppo 79"/>
          <p:cNvGrpSpPr/>
          <p:nvPr/>
        </p:nvGrpSpPr>
        <p:grpSpPr>
          <a:xfrm>
            <a:off x="4193603" y="2717344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81" name="Rettangolo 80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82" name="Rettangolo 81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6" name="Rettangolo 85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7" name="Rettangolo 86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64</a:t>
              </a:r>
              <a:endParaRPr lang="it-IT" sz="1600" dirty="0"/>
            </a:p>
          </p:txBody>
        </p:sp>
      </p:grpSp>
      <p:grpSp>
        <p:nvGrpSpPr>
          <p:cNvPr id="77" name="Gruppo 76"/>
          <p:cNvGrpSpPr/>
          <p:nvPr/>
        </p:nvGrpSpPr>
        <p:grpSpPr>
          <a:xfrm>
            <a:off x="4139952" y="2567408"/>
            <a:ext cx="1206120" cy="429544"/>
            <a:chOff x="6606240" y="839216"/>
            <a:chExt cx="1206120" cy="429544"/>
          </a:xfrm>
        </p:grpSpPr>
        <p:sp>
          <p:nvSpPr>
            <p:cNvPr id="78" name="Rettangolo arrotondato 77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9" name="Ovale 78"/>
            <p:cNvSpPr/>
            <p:nvPr/>
          </p:nvSpPr>
          <p:spPr>
            <a:xfrm>
              <a:off x="6606240" y="839216"/>
              <a:ext cx="630024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temp</a:t>
              </a:r>
              <a:endParaRPr lang="it-IT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8" name="Callout 1 7"/>
          <p:cNvSpPr/>
          <p:nvPr/>
        </p:nvSpPr>
        <p:spPr>
          <a:xfrm>
            <a:off x="3067936" y="5625244"/>
            <a:ext cx="2731736" cy="1080120"/>
          </a:xfrm>
          <a:prstGeom prst="borderCallout1">
            <a:avLst>
              <a:gd name="adj1" fmla="val 18750"/>
              <a:gd name="adj2" fmla="val -8333"/>
              <a:gd name="adj3" fmla="val -39022"/>
              <a:gd name="adj4" fmla="val -58784"/>
            </a:avLst>
          </a:prstGeom>
          <a:ln w="1905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i="1" dirty="0"/>
              <a:t>Nella locazione puntata da </a:t>
            </a:r>
            <a:r>
              <a:rPr lang="it-IT" sz="1600" b="1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it-IT" sz="1600" i="1" dirty="0"/>
              <a:t> copio il contenuto della locazione puntata da </a:t>
            </a:r>
            <a:r>
              <a:rPr lang="it-IT" sz="1600" b="1" i="1" dirty="0">
                <a:latin typeface="Courier New" pitchFamily="49" charset="0"/>
                <a:cs typeface="Courier New" pitchFamily="49" charset="0"/>
              </a:rPr>
              <a:t>y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49</a:t>
            </a:fld>
            <a:endParaRPr lang="it-IT"/>
          </a:p>
        </p:txBody>
      </p:sp>
      <p:sp>
        <p:nvSpPr>
          <p:cNvPr id="75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044034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</a:t>
            </a:r>
            <a:r>
              <a:rPr lang="it-IT" dirty="0"/>
              <a:t>INDIRIZZO</a:t>
            </a:r>
          </a:p>
        </p:txBody>
      </p:sp>
    </p:spTree>
    <p:extLst>
      <p:ext uri="{BB962C8B-B14F-4D97-AF65-F5344CB8AC3E}">
        <p14:creationId xmlns:p14="http://schemas.microsoft.com/office/powerpoint/2010/main" val="91654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988807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Freccia a destra 22"/>
          <p:cNvSpPr/>
          <p:nvPr/>
        </p:nvSpPr>
        <p:spPr>
          <a:xfrm>
            <a:off x="-45656" y="530120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5" name="Gruppo 74"/>
          <p:cNvGrpSpPr/>
          <p:nvPr/>
        </p:nvGrpSpPr>
        <p:grpSpPr>
          <a:xfrm>
            <a:off x="5355136" y="2137864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76" name="Rettangolo 75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83" name="Rettangolo 82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4" name="Rettangolo 83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5" name="Rettangolo 84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64</a:t>
              </a:r>
              <a:endParaRPr lang="it-IT" sz="1600" dirty="0"/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45656" y="309524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pic>
        <p:nvPicPr>
          <p:cNvPr id="1026" name="Picture 2" descr="http://2.bp.blogspot.com/-PpEAe3Qsq6Q/UiCraKe191I/AAAAAAAAAdQ/nmd0jHgyJiU/s1600/Vienna-convention-sign-B2a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2339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tangolo arrotondato 44"/>
          <p:cNvSpPr/>
          <p:nvPr/>
        </p:nvSpPr>
        <p:spPr>
          <a:xfrm>
            <a:off x="6516216" y="2132856"/>
            <a:ext cx="2298536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7" name="Rettangolo arrotondato 46"/>
          <p:cNvSpPr/>
          <p:nvPr/>
        </p:nvSpPr>
        <p:spPr>
          <a:xfrm>
            <a:off x="4193864" y="2422278"/>
            <a:ext cx="4626608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 swap()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4212088" y="2420888"/>
            <a:ext cx="2307584" cy="288032"/>
            <a:chOff x="4212088" y="2420888"/>
            <a:chExt cx="2307584" cy="288032"/>
          </a:xfrm>
        </p:grpSpPr>
        <p:grpSp>
          <p:nvGrpSpPr>
            <p:cNvPr id="54" name="Gruppo 53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55" name="Rettangolo 54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56" name="Rettangolo 55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7" name="Rettangolo 56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8" name="Rettangolo 57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59" name="Gruppo 58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0" name="Rettangolo 59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1" name="Rettangolo 60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2" name="Rettangolo 61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63" name="Rettangolo 62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</a:t>
                </a:r>
                <a:endParaRPr lang="it-IT" sz="1600" dirty="0"/>
              </a:p>
            </p:txBody>
          </p:sp>
        </p:grpSp>
      </p:grpSp>
      <p:grpSp>
        <p:nvGrpSpPr>
          <p:cNvPr id="64" name="Gruppo 63"/>
          <p:cNvGrpSpPr/>
          <p:nvPr/>
        </p:nvGrpSpPr>
        <p:grpSpPr>
          <a:xfrm>
            <a:off x="6507168" y="2420888"/>
            <a:ext cx="2307584" cy="288032"/>
            <a:chOff x="4212088" y="2420888"/>
            <a:chExt cx="2307584" cy="288032"/>
          </a:xfrm>
        </p:grpSpPr>
        <p:grpSp>
          <p:nvGrpSpPr>
            <p:cNvPr id="65" name="Gruppo 64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71" name="Rettangolo 70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72" name="Rettangolo 71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3" name="Rettangolo 72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4" name="Rettangolo 73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66" name="Gruppo 65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7" name="Rettangolo 66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8" name="Rettangolo 67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9" name="Rettangolo 68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70" name="Rettangolo 69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04</a:t>
                </a:r>
                <a:endParaRPr lang="it-IT" sz="1600" dirty="0"/>
              </a:p>
            </p:txBody>
          </p:sp>
        </p:grpSp>
      </p:grpSp>
      <p:grpSp>
        <p:nvGrpSpPr>
          <p:cNvPr id="48" name="Gruppo 47"/>
          <p:cNvGrpSpPr/>
          <p:nvPr/>
        </p:nvGrpSpPr>
        <p:grpSpPr>
          <a:xfrm>
            <a:off x="4139952" y="2279514"/>
            <a:ext cx="2376168" cy="429544"/>
            <a:chOff x="6606240" y="839216"/>
            <a:chExt cx="2391264" cy="429544"/>
          </a:xfrm>
        </p:grpSpPr>
        <p:sp>
          <p:nvSpPr>
            <p:cNvPr id="49" name="Rettangolo arrotondato 48"/>
            <p:cNvSpPr/>
            <p:nvPr/>
          </p:nvSpPr>
          <p:spPr>
            <a:xfrm>
              <a:off x="6660232" y="980728"/>
              <a:ext cx="2337272" cy="28803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0" name="Ovale 49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</a:p>
          </p:txBody>
        </p:sp>
      </p:grpSp>
      <p:grpSp>
        <p:nvGrpSpPr>
          <p:cNvPr id="51" name="Gruppo 50"/>
          <p:cNvGrpSpPr/>
          <p:nvPr/>
        </p:nvGrpSpPr>
        <p:grpSpPr>
          <a:xfrm>
            <a:off x="6444208" y="2279514"/>
            <a:ext cx="2376264" cy="429544"/>
            <a:chOff x="6606240" y="839216"/>
            <a:chExt cx="2391264" cy="429544"/>
          </a:xfrm>
        </p:grpSpPr>
        <p:sp>
          <p:nvSpPr>
            <p:cNvPr id="52" name="Rettangolo arrotondato 51"/>
            <p:cNvSpPr/>
            <p:nvPr/>
          </p:nvSpPr>
          <p:spPr>
            <a:xfrm>
              <a:off x="6682180" y="980728"/>
              <a:ext cx="2315324" cy="28803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Ovale 52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</a:p>
          </p:txBody>
        </p:sp>
      </p:grpSp>
      <p:grpSp>
        <p:nvGrpSpPr>
          <p:cNvPr id="80" name="Gruppo 79"/>
          <p:cNvGrpSpPr/>
          <p:nvPr/>
        </p:nvGrpSpPr>
        <p:grpSpPr>
          <a:xfrm>
            <a:off x="4193603" y="2717344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81" name="Rettangolo 80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82" name="Rettangolo 81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6" name="Rettangolo 85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7" name="Rettangolo 86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64</a:t>
              </a:r>
              <a:endParaRPr lang="it-IT" sz="1600" dirty="0"/>
            </a:p>
          </p:txBody>
        </p:sp>
      </p:grpSp>
      <p:grpSp>
        <p:nvGrpSpPr>
          <p:cNvPr id="77" name="Gruppo 76"/>
          <p:cNvGrpSpPr/>
          <p:nvPr/>
        </p:nvGrpSpPr>
        <p:grpSpPr>
          <a:xfrm>
            <a:off x="4139952" y="2567408"/>
            <a:ext cx="1206120" cy="429544"/>
            <a:chOff x="6606240" y="839216"/>
            <a:chExt cx="1206120" cy="429544"/>
          </a:xfrm>
        </p:grpSpPr>
        <p:sp>
          <p:nvSpPr>
            <p:cNvPr id="78" name="Rettangolo arrotondato 77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9" name="Ovale 78"/>
            <p:cNvSpPr/>
            <p:nvPr/>
          </p:nvSpPr>
          <p:spPr>
            <a:xfrm>
              <a:off x="6606240" y="839216"/>
              <a:ext cx="630024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temp</a:t>
              </a:r>
              <a:endParaRPr lang="it-IT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8" name="Callout 1 7"/>
          <p:cNvSpPr/>
          <p:nvPr/>
        </p:nvSpPr>
        <p:spPr>
          <a:xfrm>
            <a:off x="3067936" y="5625244"/>
            <a:ext cx="2731736" cy="1080120"/>
          </a:xfrm>
          <a:prstGeom prst="borderCallout1">
            <a:avLst>
              <a:gd name="adj1" fmla="val 18750"/>
              <a:gd name="adj2" fmla="val -8333"/>
              <a:gd name="adj3" fmla="val -19551"/>
              <a:gd name="adj4" fmla="val -52089"/>
            </a:avLst>
          </a:prstGeom>
          <a:ln w="1905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i="1" dirty="0"/>
              <a:t>Nella locazione puntata da </a:t>
            </a:r>
            <a:r>
              <a:rPr lang="it-IT" sz="1600" b="1" i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it-IT" sz="1600" i="1" dirty="0"/>
              <a:t> copio il contenuto di </a:t>
            </a:r>
            <a:r>
              <a:rPr lang="it-IT" sz="1600" b="1" i="1" dirty="0" err="1">
                <a:latin typeface="Courier New" pitchFamily="49" charset="0"/>
                <a:cs typeface="Courier New" pitchFamily="49" charset="0"/>
              </a:rPr>
              <a:t>temp</a:t>
            </a:r>
            <a:endParaRPr lang="it-IT" sz="1600" b="1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50</a:t>
            </a:fld>
            <a:endParaRPr lang="it-IT"/>
          </a:p>
        </p:txBody>
      </p:sp>
      <p:sp>
        <p:nvSpPr>
          <p:cNvPr id="88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044034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</a:t>
            </a:r>
            <a:r>
              <a:rPr lang="it-IT" dirty="0"/>
              <a:t>INDIRIZZO</a:t>
            </a:r>
          </a:p>
        </p:txBody>
      </p:sp>
    </p:spTree>
    <p:extLst>
      <p:ext uri="{BB962C8B-B14F-4D97-AF65-F5344CB8AC3E}">
        <p14:creationId xmlns:p14="http://schemas.microsoft.com/office/powerpoint/2010/main" val="154560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332417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C8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64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Freccia a destra 22"/>
          <p:cNvSpPr/>
          <p:nvPr/>
        </p:nvSpPr>
        <p:spPr>
          <a:xfrm>
            <a:off x="-45656" y="530120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45656" y="309524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pic>
        <p:nvPicPr>
          <p:cNvPr id="1026" name="Picture 2" descr="http://2.bp.blogspot.com/-PpEAe3Qsq6Q/UiCraKe191I/AAAAAAAAAdQ/nmd0jHgyJiU/s1600/Vienna-convention-sign-B2a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23392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tangolo arrotondato 44"/>
          <p:cNvSpPr/>
          <p:nvPr/>
        </p:nvSpPr>
        <p:spPr>
          <a:xfrm>
            <a:off x="6516216" y="2132856"/>
            <a:ext cx="2298536" cy="288032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6" name="Gruppo 5"/>
          <p:cNvGrpSpPr/>
          <p:nvPr/>
        </p:nvGrpSpPr>
        <p:grpSpPr>
          <a:xfrm>
            <a:off x="4212088" y="2420888"/>
            <a:ext cx="2307584" cy="288032"/>
            <a:chOff x="4212088" y="2420888"/>
            <a:chExt cx="2307584" cy="288032"/>
          </a:xfrm>
        </p:grpSpPr>
        <p:grpSp>
          <p:nvGrpSpPr>
            <p:cNvPr id="54" name="Gruppo 53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55" name="Rettangolo 54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56" name="Rettangolo 55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7" name="Rettangolo 56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58" name="Rettangolo 57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59" name="Gruppo 58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0" name="Rettangolo 59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1" name="Rettangolo 60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2" name="Rettangolo 61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63" name="Rettangolo 62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</a:t>
                </a:r>
                <a:endParaRPr lang="it-IT" sz="1600" dirty="0"/>
              </a:p>
            </p:txBody>
          </p:sp>
        </p:grpSp>
      </p:grpSp>
      <p:grpSp>
        <p:nvGrpSpPr>
          <p:cNvPr id="64" name="Gruppo 63"/>
          <p:cNvGrpSpPr/>
          <p:nvPr/>
        </p:nvGrpSpPr>
        <p:grpSpPr>
          <a:xfrm>
            <a:off x="6507168" y="2420888"/>
            <a:ext cx="2307584" cy="288032"/>
            <a:chOff x="4212088" y="2420888"/>
            <a:chExt cx="2307584" cy="288032"/>
          </a:xfrm>
        </p:grpSpPr>
        <p:grpSp>
          <p:nvGrpSpPr>
            <p:cNvPr id="65" name="Gruppo 64"/>
            <p:cNvGrpSpPr/>
            <p:nvPr/>
          </p:nvGrpSpPr>
          <p:grpSpPr>
            <a:xfrm>
              <a:off x="4212088" y="2423392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71" name="Rettangolo 70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72" name="Rettangolo 71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3" name="Rettangolo 72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74" name="Rettangolo 73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</p:grpSp>
        <p:grpSp>
          <p:nvGrpSpPr>
            <p:cNvPr id="66" name="Gruppo 65"/>
            <p:cNvGrpSpPr/>
            <p:nvPr/>
          </p:nvGrpSpPr>
          <p:grpSpPr>
            <a:xfrm>
              <a:off x="5367672" y="2420888"/>
              <a:ext cx="1152000" cy="285528"/>
              <a:chOff x="4491720" y="2143064"/>
              <a:chExt cx="1152000" cy="285528"/>
            </a:xfrm>
            <a:solidFill>
              <a:schemeClr val="bg1">
                <a:lumMod val="95000"/>
              </a:schemeClr>
            </a:solidFill>
          </p:grpSpPr>
          <p:sp>
            <p:nvSpPr>
              <p:cNvPr id="67" name="Rettangolo 66"/>
              <p:cNvSpPr/>
              <p:nvPr/>
            </p:nvSpPr>
            <p:spPr>
              <a:xfrm>
                <a:off x="4491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</a:p>
            </p:txBody>
          </p:sp>
          <p:sp>
            <p:nvSpPr>
              <p:cNvPr id="68" name="Rettangolo 67"/>
              <p:cNvSpPr/>
              <p:nvPr/>
            </p:nvSpPr>
            <p:spPr>
              <a:xfrm>
                <a:off x="4779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##</a:t>
                </a:r>
                <a:endParaRPr lang="it-IT" sz="1600" dirty="0"/>
              </a:p>
            </p:txBody>
          </p:sp>
          <p:sp>
            <p:nvSpPr>
              <p:cNvPr id="69" name="Rettangolo 68"/>
              <p:cNvSpPr/>
              <p:nvPr/>
            </p:nvSpPr>
            <p:spPr>
              <a:xfrm>
                <a:off x="5067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#1</a:t>
                </a:r>
                <a:endParaRPr lang="it-IT" sz="1600" dirty="0"/>
              </a:p>
            </p:txBody>
          </p:sp>
          <p:sp>
            <p:nvSpPr>
              <p:cNvPr id="70" name="Rettangolo 69"/>
              <p:cNvSpPr/>
              <p:nvPr/>
            </p:nvSpPr>
            <p:spPr>
              <a:xfrm>
                <a:off x="5355720" y="2143064"/>
                <a:ext cx="288000" cy="28552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04</a:t>
                </a:r>
                <a:endParaRPr lang="it-IT" sz="1600" dirty="0"/>
              </a:p>
            </p:txBody>
          </p:sp>
        </p:grpSp>
      </p:grpSp>
      <p:grpSp>
        <p:nvGrpSpPr>
          <p:cNvPr id="48" name="Gruppo 47"/>
          <p:cNvGrpSpPr/>
          <p:nvPr/>
        </p:nvGrpSpPr>
        <p:grpSpPr>
          <a:xfrm>
            <a:off x="4139952" y="2279514"/>
            <a:ext cx="2376168" cy="429544"/>
            <a:chOff x="6606240" y="839216"/>
            <a:chExt cx="2391264" cy="429544"/>
          </a:xfrm>
        </p:grpSpPr>
        <p:sp>
          <p:nvSpPr>
            <p:cNvPr id="49" name="Rettangolo arrotondato 48"/>
            <p:cNvSpPr/>
            <p:nvPr/>
          </p:nvSpPr>
          <p:spPr>
            <a:xfrm>
              <a:off x="6660232" y="980728"/>
              <a:ext cx="2337272" cy="28803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0" name="Ovale 49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</a:p>
          </p:txBody>
        </p:sp>
      </p:grpSp>
      <p:grpSp>
        <p:nvGrpSpPr>
          <p:cNvPr id="51" name="Gruppo 50"/>
          <p:cNvGrpSpPr/>
          <p:nvPr/>
        </p:nvGrpSpPr>
        <p:grpSpPr>
          <a:xfrm>
            <a:off x="6444208" y="2279514"/>
            <a:ext cx="2376264" cy="429544"/>
            <a:chOff x="6606240" y="839216"/>
            <a:chExt cx="2391264" cy="429544"/>
          </a:xfrm>
        </p:grpSpPr>
        <p:sp>
          <p:nvSpPr>
            <p:cNvPr id="52" name="Rettangolo arrotondato 51"/>
            <p:cNvSpPr/>
            <p:nvPr/>
          </p:nvSpPr>
          <p:spPr>
            <a:xfrm>
              <a:off x="6682180" y="980728"/>
              <a:ext cx="2315324" cy="28803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Ovale 52"/>
            <p:cNvSpPr/>
            <p:nvPr/>
          </p:nvSpPr>
          <p:spPr>
            <a:xfrm>
              <a:off x="6606240" y="839216"/>
              <a:ext cx="288032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</a:p>
          </p:txBody>
        </p:sp>
      </p:grpSp>
      <p:grpSp>
        <p:nvGrpSpPr>
          <p:cNvPr id="80" name="Gruppo 79"/>
          <p:cNvGrpSpPr/>
          <p:nvPr/>
        </p:nvGrpSpPr>
        <p:grpSpPr>
          <a:xfrm>
            <a:off x="4193603" y="2717344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81" name="Rettangolo 80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82" name="Rettangolo 81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6" name="Rettangolo 85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7" name="Rettangolo 86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64</a:t>
              </a:r>
              <a:endParaRPr lang="it-IT" sz="1600" dirty="0"/>
            </a:p>
          </p:txBody>
        </p:sp>
      </p:grpSp>
      <p:grpSp>
        <p:nvGrpSpPr>
          <p:cNvPr id="77" name="Gruppo 76"/>
          <p:cNvGrpSpPr/>
          <p:nvPr/>
        </p:nvGrpSpPr>
        <p:grpSpPr>
          <a:xfrm>
            <a:off x="4139952" y="2567408"/>
            <a:ext cx="1206120" cy="429544"/>
            <a:chOff x="6606240" y="839216"/>
            <a:chExt cx="1206120" cy="429544"/>
          </a:xfrm>
        </p:grpSpPr>
        <p:sp>
          <p:nvSpPr>
            <p:cNvPr id="78" name="Rettangolo arrotondato 77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9" name="Ovale 78"/>
            <p:cNvSpPr/>
            <p:nvPr/>
          </p:nvSpPr>
          <p:spPr>
            <a:xfrm>
              <a:off x="6606240" y="839216"/>
              <a:ext cx="630024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temp</a:t>
              </a:r>
              <a:endParaRPr lang="it-IT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51</a:t>
            </a:fld>
            <a:endParaRPr lang="it-IT"/>
          </a:p>
        </p:txBody>
      </p:sp>
      <p:sp>
        <p:nvSpPr>
          <p:cNvPr id="75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044034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</a:t>
            </a:r>
            <a:r>
              <a:rPr lang="it-IT" dirty="0"/>
              <a:t>INDIRIZZO</a:t>
            </a:r>
          </a:p>
        </p:txBody>
      </p:sp>
    </p:spTree>
    <p:extLst>
      <p:ext uri="{BB962C8B-B14F-4D97-AF65-F5344CB8AC3E}">
        <p14:creationId xmlns:p14="http://schemas.microsoft.com/office/powerpoint/2010/main" val="10188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3.33333E-6 0.0592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  <p:bldP spid="32" grpId="0" animBg="1"/>
      <p:bldP spid="4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contenuto 18"/>
          <p:cNvSpPr>
            <a:spLocks noGrp="1"/>
          </p:cNvSpPr>
          <p:nvPr>
            <p:ph sz="half" idx="2"/>
          </p:nvPr>
        </p:nvSpPr>
        <p:spPr>
          <a:xfrm>
            <a:off x="539552" y="1412776"/>
            <a:ext cx="3168352" cy="475252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#include &lt;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stdio.h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*y);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main (void)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a = 100, b = 200;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("Before,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swap(&amp;a, &amp;b);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150" dirty="0" err="1">
                <a:latin typeface="Courier Std" pitchFamily="49" charset="0"/>
                <a:cs typeface="CordiaUPC" pitchFamily="34" charset="-34"/>
              </a:rPr>
              <a:t>printf</a:t>
            </a:r>
            <a:r>
              <a:rPr lang="en-US" spc="-150" dirty="0">
                <a:latin typeface="Courier Std" pitchFamily="49" charset="0"/>
                <a:cs typeface="CordiaUPC" pitchFamily="34" charset="-34"/>
              </a:rPr>
              <a:t>(“After, a= %d &amp; b= %d", a, b);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return 0;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pc="-70" dirty="0">
              <a:latin typeface="Courier Std" pitchFamily="49" charset="0"/>
              <a:cs typeface="CordiaUPC" pitchFamily="34" charset="-3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// swap function definition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void swap(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x,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* y){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</a:t>
            </a:r>
            <a:r>
              <a:rPr lang="en-US" spc="-70" dirty="0" err="1">
                <a:latin typeface="Courier Std" pitchFamily="49" charset="0"/>
                <a:cs typeface="CordiaUPC" pitchFamily="34" charset="-34"/>
              </a:rPr>
              <a:t>int</a:t>
            </a:r>
            <a:r>
              <a:rPr lang="en-US" spc="-70" dirty="0">
                <a:latin typeface="Courier Std" pitchFamily="49" charset="0"/>
                <a:cs typeface="CordiaUPC" pitchFamily="34" charset="-34"/>
              </a:rPr>
              <a:t> temp;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temp = *x;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*x = *y;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  *y = temp;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pc="-70" dirty="0">
                <a:latin typeface="Courier Std" pitchFamily="49" charset="0"/>
                <a:cs typeface="CordiaUPC" pitchFamily="34" charset="-34"/>
              </a:rPr>
              <a:t>}</a:t>
            </a:r>
            <a:endParaRPr lang="it-IT" spc="-70" dirty="0">
              <a:latin typeface="Courier Std" pitchFamily="49" charset="0"/>
              <a:cs typeface="CordiaUPC" pitchFamily="34" charset="-34"/>
            </a:endParaRPr>
          </a:p>
        </p:txBody>
      </p:sp>
      <p:sp>
        <p:nvSpPr>
          <p:cNvPr id="20" name="Segnaposto testo 19"/>
          <p:cNvSpPr>
            <a:spLocks noGrp="1"/>
          </p:cNvSpPr>
          <p:nvPr>
            <p:ph type="body" idx="14"/>
          </p:nvPr>
        </p:nvSpPr>
        <p:spPr>
          <a:xfrm>
            <a:off x="3707904" y="1412776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Stack</a:t>
            </a:r>
            <a:endParaRPr lang="it-IT" dirty="0"/>
          </a:p>
        </p:txBody>
      </p:sp>
      <p:sp>
        <p:nvSpPr>
          <p:cNvPr id="21" name="Segnaposto testo 20"/>
          <p:cNvSpPr>
            <a:spLocks noGrp="1"/>
          </p:cNvSpPr>
          <p:nvPr>
            <p:ph type="body" idx="15"/>
          </p:nvPr>
        </p:nvSpPr>
        <p:spPr>
          <a:xfrm>
            <a:off x="3707904" y="3356992"/>
            <a:ext cx="3538736" cy="43204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Console</a:t>
            </a:r>
          </a:p>
        </p:txBody>
      </p:sp>
      <p:graphicFrame>
        <p:nvGraphicFramePr>
          <p:cNvPr id="17" name="Tabel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158656"/>
              </p:ext>
            </p:extLst>
          </p:nvPr>
        </p:nvGraphicFramePr>
        <p:xfrm>
          <a:off x="3708472" y="1844824"/>
          <a:ext cx="5112000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 err="1">
                          <a:latin typeface="Courier New" pitchFamily="49" charset="0"/>
                          <a:cs typeface="Courier New" pitchFamily="49" charset="0"/>
                        </a:rPr>
                        <a:t>Adress</a:t>
                      </a:r>
                      <a:endParaRPr lang="it-IT" sz="1000" i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050" i="1" dirty="0"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0x#110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0x#...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it-IT" sz="1000" i="1" dirty="0">
                          <a:latin typeface="Courier New" pitchFamily="49" charset="0"/>
                          <a:cs typeface="Courier New" pitchFamily="49" charset="0"/>
                        </a:rPr>
                        <a:t>0x#200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dirty="0">
                          <a:latin typeface="Courier New" pitchFamily="49" charset="0"/>
                          <a:cs typeface="Courier New" pitchFamily="49" charset="0"/>
                        </a:rPr>
                        <a:t>…</a:t>
                      </a: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algn="r"/>
                      <a:endParaRPr lang="it-IT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0" marR="3600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uppo 2"/>
          <p:cNvGrpSpPr/>
          <p:nvPr/>
        </p:nvGrpSpPr>
        <p:grpSpPr>
          <a:xfrm>
            <a:off x="4194072" y="2134108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2" name="Rettangolo 1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34" name="Rettangolo 33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35" name="Rettangolo 34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36" name="Rettangolo 35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C8</a:t>
              </a:r>
              <a:endParaRPr lang="it-IT" sz="1600" dirty="0"/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4139952" y="1991344"/>
            <a:ext cx="1206120" cy="429544"/>
            <a:chOff x="6606240" y="839216"/>
            <a:chExt cx="1206120" cy="429544"/>
          </a:xfrm>
        </p:grpSpPr>
        <p:sp>
          <p:nvSpPr>
            <p:cNvPr id="25" name="Rettangolo arrotondato 24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Ovale 26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sp>
        <p:nvSpPr>
          <p:cNvPr id="32" name="Freccia a destra 31"/>
          <p:cNvSpPr/>
          <p:nvPr/>
        </p:nvSpPr>
        <p:spPr>
          <a:xfrm>
            <a:off x="-45656" y="3501008"/>
            <a:ext cx="360000" cy="144016"/>
          </a:xfrm>
          <a:prstGeom prst="rightArrow">
            <a:avLst>
              <a:gd name="adj1" fmla="val 50000"/>
              <a:gd name="adj2" fmla="val 79762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6" name="Gruppo 75"/>
          <p:cNvGrpSpPr/>
          <p:nvPr/>
        </p:nvGrpSpPr>
        <p:grpSpPr>
          <a:xfrm>
            <a:off x="5364216" y="2132856"/>
            <a:ext cx="1152000" cy="285528"/>
            <a:chOff x="4491720" y="2143064"/>
            <a:chExt cx="1152000" cy="285528"/>
          </a:xfrm>
          <a:solidFill>
            <a:schemeClr val="bg1">
              <a:lumMod val="95000"/>
            </a:schemeClr>
          </a:solidFill>
        </p:grpSpPr>
        <p:sp>
          <p:nvSpPr>
            <p:cNvPr id="83" name="Rettangolo 82"/>
            <p:cNvSpPr/>
            <p:nvPr/>
          </p:nvSpPr>
          <p:spPr>
            <a:xfrm>
              <a:off x="4491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84" name="Rettangolo 83"/>
            <p:cNvSpPr/>
            <p:nvPr/>
          </p:nvSpPr>
          <p:spPr>
            <a:xfrm>
              <a:off x="4779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5" name="Rettangolo 84"/>
            <p:cNvSpPr/>
            <p:nvPr/>
          </p:nvSpPr>
          <p:spPr>
            <a:xfrm>
              <a:off x="5067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00</a:t>
              </a:r>
              <a:endParaRPr lang="it-IT" sz="1600" dirty="0"/>
            </a:p>
          </p:txBody>
        </p:sp>
        <p:sp>
          <p:nvSpPr>
            <p:cNvPr id="88" name="Rettangolo 87"/>
            <p:cNvSpPr/>
            <p:nvPr/>
          </p:nvSpPr>
          <p:spPr>
            <a:xfrm>
              <a:off x="5355720" y="2143064"/>
              <a:ext cx="288000" cy="285528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64</a:t>
              </a:r>
              <a:endParaRPr lang="it-IT" sz="1600" dirty="0"/>
            </a:p>
          </p:txBody>
        </p:sp>
      </p:grpSp>
      <p:grpSp>
        <p:nvGrpSpPr>
          <p:cNvPr id="29" name="Gruppo 28"/>
          <p:cNvGrpSpPr/>
          <p:nvPr/>
        </p:nvGrpSpPr>
        <p:grpSpPr>
          <a:xfrm>
            <a:off x="5310096" y="1988840"/>
            <a:ext cx="1206120" cy="429544"/>
            <a:chOff x="6606240" y="839216"/>
            <a:chExt cx="1206120" cy="429544"/>
          </a:xfrm>
        </p:grpSpPr>
        <p:sp>
          <p:nvSpPr>
            <p:cNvPr id="30" name="Rettangolo arrotondato 29"/>
            <p:cNvSpPr/>
            <p:nvPr/>
          </p:nvSpPr>
          <p:spPr>
            <a:xfrm>
              <a:off x="6660232" y="980728"/>
              <a:ext cx="1152128" cy="28803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Ovale 30"/>
            <p:cNvSpPr/>
            <p:nvPr/>
          </p:nvSpPr>
          <p:spPr>
            <a:xfrm>
              <a:off x="6606240" y="839216"/>
              <a:ext cx="216000" cy="216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36000" rIns="0" bIns="36000" rtlCol="0" anchor="ctr"/>
            <a:lstStyle/>
            <a:p>
              <a:pPr algn="ctr"/>
              <a:r>
                <a:rPr lang="it-IT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3707904" y="3861048"/>
            <a:ext cx="5112568" cy="244827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779912" y="392376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100 &amp; b= 200</a:t>
            </a:r>
          </a:p>
        </p:txBody>
      </p:sp>
      <p:sp>
        <p:nvSpPr>
          <p:cNvPr id="75" name="CasellaDiTesto 74"/>
          <p:cNvSpPr txBox="1"/>
          <p:nvPr/>
        </p:nvSpPr>
        <p:spPr>
          <a:xfrm>
            <a:off x="3779912" y="4149080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After</a:t>
            </a:r>
            <a:r>
              <a:rPr lang="it-IT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a= 200 &amp; b= 100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52</a:t>
            </a:fld>
            <a:endParaRPr lang="it-IT"/>
          </a:p>
        </p:txBody>
      </p:sp>
      <p:sp>
        <p:nvSpPr>
          <p:cNvPr id="33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044034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</a:t>
            </a:r>
            <a:r>
              <a:rPr lang="it-IT" dirty="0"/>
              <a:t>INDIRIZZO</a:t>
            </a:r>
          </a:p>
        </p:txBody>
      </p:sp>
    </p:spTree>
    <p:extLst>
      <p:ext uri="{BB962C8B-B14F-4D97-AF65-F5344CB8AC3E}">
        <p14:creationId xmlns:p14="http://schemas.microsoft.com/office/powerpoint/2010/main" val="258060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3.33333E-6 0.059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7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Si utilizza: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 il costruttore di tipo puntatore per la </a:t>
            </a:r>
            <a:r>
              <a:rPr lang="it-IT" dirty="0">
                <a:solidFill>
                  <a:schemeClr val="accent2"/>
                </a:solidFill>
              </a:rPr>
              <a:t>definizione </a:t>
            </a:r>
            <a:r>
              <a:rPr lang="it-IT" dirty="0"/>
              <a:t>dei parametri formali della funzione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 l’operatore di </a:t>
            </a:r>
            <a:r>
              <a:rPr lang="it-IT" dirty="0" err="1"/>
              <a:t>deferenziazione</a:t>
            </a:r>
            <a:r>
              <a:rPr lang="it-IT" dirty="0"/>
              <a:t> all’</a:t>
            </a:r>
            <a:r>
              <a:rPr lang="it-IT" dirty="0">
                <a:solidFill>
                  <a:srgbClr val="00B0F0"/>
                </a:solidFill>
              </a:rPr>
              <a:t>interno della funzione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alla </a:t>
            </a:r>
            <a:r>
              <a:rPr lang="it-IT" dirty="0">
                <a:solidFill>
                  <a:srgbClr val="00B050"/>
                </a:solidFill>
              </a:rPr>
              <a:t>chiamata della funzione</a:t>
            </a:r>
            <a:r>
              <a:rPr lang="it-IT" dirty="0"/>
              <a:t>, si passa un indirizzo di variabile come parametro attuale</a:t>
            </a:r>
          </a:p>
          <a:p>
            <a:endParaRPr lang="it-IT" dirty="0"/>
          </a:p>
          <a:p>
            <a:r>
              <a:rPr lang="it-IT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Attenzione!</a:t>
            </a:r>
            <a:br>
              <a:rPr lang="it-IT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t-IT" dirty="0"/>
              <a:t>Gli array sono SEMPRE passati per indirizzo. Una variabile di tipo array, infatti, è per definizione un puntatore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53</a:t>
            </a:fld>
            <a:endParaRPr lang="it-IT"/>
          </a:p>
        </p:txBody>
      </p:sp>
      <p:sp>
        <p:nvSpPr>
          <p:cNvPr id="6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044034"/>
          </a:xfrm>
        </p:spPr>
        <p:txBody>
          <a:bodyPr>
            <a:normAutofit/>
          </a:bodyPr>
          <a:lstStyle/>
          <a:p>
            <a:r>
              <a:rPr lang="it-IT" dirty="0"/>
              <a:t>Passaggio </a:t>
            </a:r>
            <a:r>
              <a:rPr lang="it-IT" dirty="0" smtClean="0"/>
              <a:t>per </a:t>
            </a:r>
            <a:r>
              <a:rPr lang="it-IT" dirty="0"/>
              <a:t>INDIRIZZO</a:t>
            </a:r>
          </a:p>
        </p:txBody>
      </p:sp>
    </p:spTree>
    <p:extLst>
      <p:ext uri="{BB962C8B-B14F-4D97-AF65-F5344CB8AC3E}">
        <p14:creationId xmlns:p14="http://schemas.microsoft.com/office/powerpoint/2010/main" val="331236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3582157E-4B9E-40C3-9DE6-02BB9E6B9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 sintesi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="" xmlns:a16="http://schemas.microsoft.com/office/drawing/2014/main" id="{F8959554-D618-4B64-BC9C-A98AA489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54</a:t>
            </a:fld>
            <a:endParaRPr lang="it-IT"/>
          </a:p>
        </p:txBody>
      </p:sp>
      <p:pic>
        <p:nvPicPr>
          <p:cNvPr id="2050" name="Picture 2" descr="https://media.geeksforgeeks.org/wp-content/cdn-uploads/Call-By-Reference.png">
            <a:extLst>
              <a:ext uri="{FF2B5EF4-FFF2-40B4-BE49-F238E27FC236}">
                <a16:creationId xmlns="" xmlns:a16="http://schemas.microsoft.com/office/drawing/2014/main" id="{1EBD8CD6-E133-41F4-908C-248628DBC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37725"/>
            <a:ext cx="7056784" cy="518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26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355160" cy="1371600"/>
          </a:xfrm>
        </p:spPr>
        <p:txBody>
          <a:bodyPr>
            <a:normAutofit/>
          </a:bodyPr>
          <a:lstStyle/>
          <a:p>
            <a:r>
              <a:rPr lang="it-IT" dirty="0"/>
              <a:t>Passaggio dei parametri: quale utilizzare?</a:t>
            </a:r>
          </a:p>
        </p:txBody>
      </p:sp>
      <p:graphicFrame>
        <p:nvGraphicFramePr>
          <p:cNvPr id="2" name="Segnaposto contenuto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340299"/>
              </p:ext>
            </p:extLst>
          </p:nvPr>
        </p:nvGraphicFramePr>
        <p:xfrm>
          <a:off x="457200" y="1752600"/>
          <a:ext cx="76200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26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52222E0-831E-49F1-87EC-37E715C352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252222E0-831E-49F1-87EC-37E715C352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252222E0-831E-49F1-87EC-37E715C352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5B5A2D5-5007-48AE-A4FD-E1CB7078E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graphicEl>
                                              <a:dgm id="{C5B5A2D5-5007-48AE-A4FD-E1CB7078E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graphicEl>
                                              <a:dgm id="{C5B5A2D5-5007-48AE-A4FD-E1CB7078E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D092E5E-866D-4AC8-A6F9-034084ED8C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graphicEl>
                                              <a:dgm id="{2D092E5E-866D-4AC8-A6F9-034084ED8C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graphicEl>
                                              <a:dgm id="{2D092E5E-866D-4AC8-A6F9-034084ED8C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043655F-C803-4310-BA73-288C75B646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graphicEl>
                                              <a:dgm id="{2043655F-C803-4310-BA73-288C75B646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graphicEl>
                                              <a:dgm id="{2043655F-C803-4310-BA73-288C75B646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lvlOne"/>
        </p:bldSub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Ricapitolando</a:t>
            </a:r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063782"/>
              </p:ext>
            </p:extLst>
          </p:nvPr>
        </p:nvGraphicFramePr>
        <p:xfrm>
          <a:off x="457200" y="1752600"/>
          <a:ext cx="8363272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4228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16926"/>
              </p:ext>
            </p:extLst>
          </p:nvPr>
        </p:nvGraphicFramePr>
        <p:xfrm>
          <a:off x="1043608" y="1988840"/>
          <a:ext cx="6491064" cy="44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egnaposto testo 5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7787208" cy="820688"/>
          </a:xfrm>
        </p:spPr>
        <p:txBody>
          <a:bodyPr>
            <a:normAutofit/>
          </a:bodyPr>
          <a:lstStyle/>
          <a:p>
            <a:r>
              <a:rPr lang="it-IT" sz="2000" dirty="0"/>
              <a:t>Per variabili e funzioni dobbiamo definire: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Visibilità e Tempo di Vita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19351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Visibilità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Possiamo avere tre ambiti di visibilità:</a:t>
            </a:r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3203"/>
              </p:ext>
            </p:extLst>
          </p:nvPr>
        </p:nvGraphicFramePr>
        <p:xfrm>
          <a:off x="539553" y="2204864"/>
          <a:ext cx="7704855" cy="4302760"/>
        </p:xfrm>
        <a:graphic>
          <a:graphicData uri="http://schemas.openxmlformats.org/drawingml/2006/table">
            <a:tbl>
              <a:tblPr firstRow="1" bandCol="1">
                <a:tableStyleId>{F5AB1C69-6EDB-4FF4-983F-18BD219EF322}</a:tableStyleId>
              </a:tblPr>
              <a:tblGrid>
                <a:gridCol w="20882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33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682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Ambiente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Descrizione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Visibilità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/>
                        <a:t>Ambiente globale </a:t>
                      </a:r>
                      <a:r>
                        <a:rPr lang="it-IT" sz="1600" dirty="0"/>
                        <a:t>del programma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 identificatori (tipi, costanti, variabili) definiti nella parte dichiarativa globale (prima del </a:t>
                      </a:r>
                      <a:r>
                        <a:rPr lang="it-IT" sz="1600" dirty="0" err="1"/>
                        <a:t>main</a:t>
                      </a:r>
                      <a:r>
                        <a:rPr lang="it-IT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visibili a tutte le funzioni del programma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/>
                        <a:t>Ambiente locale </a:t>
                      </a:r>
                      <a:r>
                        <a:rPr lang="it-IT" sz="1600" dirty="0"/>
                        <a:t>di una funzione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identificatori definiti nella parte dichiarativa locale e nell’intestazione (parametri formali)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visibili alla funzione e ai blocchi in essa contenuti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/>
                        <a:t>Ambiente di blocco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identificatori definiti nella parte dichiarativa del blocco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visibili al blocco e ai blocchi in esso contenuti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10784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/>
              <a:t>Esempi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1106568" y="1964945"/>
            <a:ext cx="627374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x;</a:t>
            </a:r>
          </a:p>
          <a:p>
            <a:r>
              <a:rPr lang="it-IT" sz="1400" b="1" dirty="0">
                <a:latin typeface="Courier Std" pitchFamily="49" charset="0"/>
              </a:rPr>
              <a:t>f()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pPr lvl="1"/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y;</a:t>
            </a:r>
          </a:p>
          <a:p>
            <a:pPr lvl="1"/>
            <a:r>
              <a:rPr lang="it-IT" sz="1400" b="1" dirty="0">
                <a:latin typeface="Courier Std" pitchFamily="49" charset="0"/>
              </a:rPr>
              <a:t>y=1;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</a:p>
          <a:p>
            <a:endParaRPr lang="it-IT" sz="1400" b="1" dirty="0">
              <a:latin typeface="Courier Std" pitchFamily="49" charset="0"/>
            </a:endParaRPr>
          </a:p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x;</a:t>
            </a:r>
          </a:p>
          <a:p>
            <a:r>
              <a:rPr lang="it-IT" sz="1400" b="1" dirty="0">
                <a:latin typeface="Courier Std" pitchFamily="49" charset="0"/>
              </a:rPr>
              <a:t>g(</a:t>
            </a:r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y, </a:t>
            </a:r>
            <a:r>
              <a:rPr lang="it-IT" sz="1400" b="1" dirty="0" err="1">
                <a:latin typeface="Courier Std" pitchFamily="49" charset="0"/>
              </a:rPr>
              <a:t>char</a:t>
            </a:r>
            <a:r>
              <a:rPr lang="it-IT" sz="1400" b="1" dirty="0">
                <a:latin typeface="Courier Std" pitchFamily="49" charset="0"/>
              </a:rPr>
              <a:t> z)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pPr lvl="1"/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k;</a:t>
            </a:r>
          </a:p>
          <a:p>
            <a:pPr lvl="1"/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l;</a:t>
            </a:r>
          </a:p>
          <a:p>
            <a:pPr lvl="1"/>
            <a:r>
              <a:rPr lang="it-IT" sz="1400" b="1" dirty="0">
                <a:latin typeface="Courier Std" pitchFamily="49" charset="0"/>
              </a:rPr>
              <a:t>…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</a:p>
          <a:p>
            <a:endParaRPr lang="it-IT" sz="1400" b="1" dirty="0">
              <a:latin typeface="Courier Std" pitchFamily="49" charset="0"/>
            </a:endParaRPr>
          </a:p>
          <a:p>
            <a:r>
              <a:rPr lang="it-IT" sz="1400" b="1" dirty="0">
                <a:latin typeface="Courier Std" pitchFamily="49" charset="0"/>
              </a:rPr>
              <a:t>f(</a:t>
            </a:r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x)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pPr lvl="1"/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x;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  <a:endParaRPr lang="it-IT" sz="1400" dirty="0">
              <a:latin typeface="Courier Std" pitchFamily="49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 flipH="1">
            <a:off x="399235" y="1953220"/>
            <a:ext cx="725307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10.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20.</a:t>
            </a:r>
          </a:p>
        </p:txBody>
      </p:sp>
      <p:sp>
        <p:nvSpPr>
          <p:cNvPr id="2" name="Freccia a sinistra 1"/>
          <p:cNvSpPr/>
          <p:nvPr/>
        </p:nvSpPr>
        <p:spPr>
          <a:xfrm>
            <a:off x="2915816" y="2204864"/>
            <a:ext cx="4896544" cy="1152128"/>
          </a:xfrm>
          <a:prstGeom prst="leftArrow">
            <a:avLst>
              <a:gd name="adj1" fmla="val 6411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1600" b="1" dirty="0">
                <a:latin typeface="Courier Std" pitchFamily="49" charset="0"/>
              </a:rPr>
              <a:t>y</a:t>
            </a:r>
            <a:r>
              <a:rPr lang="it-IT" sz="1600" dirty="0"/>
              <a:t> è visibile estende dal punto di dichiarazione fino alla fine del blocco di appartenenza</a:t>
            </a:r>
          </a:p>
        </p:txBody>
      </p:sp>
      <p:sp>
        <p:nvSpPr>
          <p:cNvPr id="8" name="Freccia a sinistra 7"/>
          <p:cNvSpPr/>
          <p:nvPr/>
        </p:nvSpPr>
        <p:spPr>
          <a:xfrm>
            <a:off x="3203848" y="3573016"/>
            <a:ext cx="4608512" cy="1296144"/>
          </a:xfrm>
          <a:prstGeom prst="leftArrow">
            <a:avLst>
              <a:gd name="adj1" fmla="val 6411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it-IT" sz="1600" b="1" dirty="0">
                <a:latin typeface="Courier Std" pitchFamily="49" charset="0"/>
              </a:rPr>
              <a:t>y </a:t>
            </a:r>
            <a:r>
              <a:rPr lang="it-IT" sz="1600" dirty="0"/>
              <a:t>e </a:t>
            </a:r>
            <a:r>
              <a:rPr lang="it-IT" sz="1600" b="1" dirty="0">
                <a:latin typeface="Courier Std" pitchFamily="49" charset="0"/>
              </a:rPr>
              <a:t>z</a:t>
            </a:r>
            <a:r>
              <a:rPr lang="it-IT" sz="1600" dirty="0"/>
              <a:t> locali alla funzione </a:t>
            </a:r>
            <a:r>
              <a:rPr lang="it-IT" sz="1600" b="1" dirty="0"/>
              <a:t>g</a:t>
            </a:r>
            <a:r>
              <a:rPr lang="it-IT" sz="1600" dirty="0"/>
              <a:t>, con visibilità nel blocco racchiuso da parentesi graffe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t-IT" sz="1600" b="1" dirty="0">
                <a:latin typeface="Courier Std" pitchFamily="49" charset="0"/>
              </a:rPr>
              <a:t>k </a:t>
            </a:r>
            <a:r>
              <a:rPr lang="it-IT" sz="1600" dirty="0"/>
              <a:t>e </a:t>
            </a:r>
            <a:r>
              <a:rPr lang="it-IT" sz="1600" b="1" dirty="0">
                <a:latin typeface="Courier Std" pitchFamily="49" charset="0"/>
              </a:rPr>
              <a:t>l</a:t>
            </a:r>
            <a:r>
              <a:rPr lang="it-IT" sz="1600" dirty="0"/>
              <a:t> hanno la stessa visibilità</a:t>
            </a:r>
          </a:p>
        </p:txBody>
      </p:sp>
      <p:sp>
        <p:nvSpPr>
          <p:cNvPr id="10" name="Freccia a sinistra 9"/>
          <p:cNvSpPr/>
          <p:nvPr/>
        </p:nvSpPr>
        <p:spPr>
          <a:xfrm>
            <a:off x="3491880" y="5157192"/>
            <a:ext cx="4320480" cy="872480"/>
          </a:xfrm>
          <a:prstGeom prst="leftArrow">
            <a:avLst>
              <a:gd name="adj1" fmla="val 6411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1600" dirty="0"/>
              <a:t>Errata! Si tenta di definire due volte la variabile locale </a:t>
            </a:r>
            <a:r>
              <a:rPr lang="it-IT" sz="1600" b="1" dirty="0">
                <a:latin typeface="Courier Std" pitchFamily="49" charset="0"/>
              </a:rPr>
              <a:t>x</a:t>
            </a:r>
            <a:r>
              <a:rPr lang="it-IT" sz="1600" dirty="0"/>
              <a:t> nello stesso blocco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59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958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 err="1"/>
              <a:t>EsempIO</a:t>
            </a:r>
            <a:r>
              <a:rPr lang="it-IT" dirty="0"/>
              <a:t>:  C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1106568" y="1916832"/>
            <a:ext cx="6273744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#include &lt;</a:t>
            </a:r>
            <a:r>
              <a:rPr lang="it-IT" sz="1000" b="1" dirty="0" err="1">
                <a:latin typeface="Courier Std" pitchFamily="49" charset="0"/>
              </a:rPr>
              <a:t>stdio.h</a:t>
            </a:r>
            <a:r>
              <a:rPr lang="it-IT" sz="1000" b="1" dirty="0">
                <a:latin typeface="Courier Std" pitchFamily="49" charset="0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doppia(</a:t>
            </a: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x);</a:t>
            </a:r>
          </a:p>
          <a:p>
            <a:pPr>
              <a:lnSpc>
                <a:spcPct val="130000"/>
              </a:lnSpc>
            </a:pP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</a:t>
            </a:r>
            <a:r>
              <a:rPr lang="it-IT" sz="1000" b="1" dirty="0" err="1">
                <a:latin typeface="Courier Std" pitchFamily="49" charset="0"/>
              </a:rPr>
              <a:t>main</a:t>
            </a:r>
            <a:r>
              <a:rPr lang="it-IT" sz="1000" b="1" dirty="0">
                <a:latin typeface="Courier Std" pitchFamily="49" charset="0"/>
              </a:rPr>
              <a:t>() {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</a:t>
            </a:r>
            <a:r>
              <a:rPr lang="it-IT" sz="1000" b="1" dirty="0" err="1">
                <a:latin typeface="Courier Std" pitchFamily="49" charset="0"/>
              </a:rPr>
              <a:t>a,b,c</a:t>
            </a:r>
            <a:r>
              <a:rPr lang="it-IT" sz="1000" b="1" dirty="0">
                <a:latin typeface="Courier Std" pitchFamily="49" charset="0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printf</a:t>
            </a:r>
            <a:r>
              <a:rPr lang="it-IT" sz="1000" b="1" dirty="0">
                <a:latin typeface="Courier Std" pitchFamily="49" charset="0"/>
              </a:rPr>
              <a:t>(“a: “);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scanf</a:t>
            </a:r>
            <a:r>
              <a:rPr lang="it-IT" sz="1000" b="1" dirty="0">
                <a:latin typeface="Courier Std" pitchFamily="49" charset="0"/>
              </a:rPr>
              <a:t>(“%d“, &amp;a);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b=doppia(a);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c=doppia(b);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printf</a:t>
            </a:r>
            <a:r>
              <a:rPr lang="it-IT" sz="1000" b="1" dirty="0">
                <a:latin typeface="Courier Std" pitchFamily="49" charset="0"/>
              </a:rPr>
              <a:t>(“\</a:t>
            </a:r>
            <a:r>
              <a:rPr lang="it-IT" sz="1000" b="1" dirty="0" err="1">
                <a:latin typeface="Courier Std" pitchFamily="49" charset="0"/>
              </a:rPr>
              <a:t>na</a:t>
            </a:r>
            <a:r>
              <a:rPr lang="it-IT" sz="1000" b="1" dirty="0">
                <a:latin typeface="Courier Std" pitchFamily="49" charset="0"/>
              </a:rPr>
              <a:t>: %d“, a);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printf</a:t>
            </a:r>
            <a:r>
              <a:rPr lang="it-IT" sz="1000" b="1" dirty="0">
                <a:latin typeface="Courier Std" pitchFamily="49" charset="0"/>
              </a:rPr>
              <a:t>(“\</a:t>
            </a:r>
            <a:r>
              <a:rPr lang="it-IT" sz="1000" b="1" dirty="0" err="1">
                <a:latin typeface="Courier Std" pitchFamily="49" charset="0"/>
              </a:rPr>
              <a:t>nb</a:t>
            </a:r>
            <a:r>
              <a:rPr lang="it-IT" sz="1000" b="1" dirty="0">
                <a:latin typeface="Courier Std" pitchFamily="49" charset="0"/>
              </a:rPr>
              <a:t>: %d“, b);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printf</a:t>
            </a:r>
            <a:r>
              <a:rPr lang="it-IT" sz="1000" b="1" dirty="0">
                <a:latin typeface="Courier Std" pitchFamily="49" charset="0"/>
              </a:rPr>
              <a:t>(“\</a:t>
            </a:r>
            <a:r>
              <a:rPr lang="it-IT" sz="1000" b="1" dirty="0" err="1">
                <a:latin typeface="Courier Std" pitchFamily="49" charset="0"/>
              </a:rPr>
              <a:t>nc</a:t>
            </a:r>
            <a:r>
              <a:rPr lang="it-IT" sz="1000" b="1" dirty="0">
                <a:latin typeface="Courier Std" pitchFamily="49" charset="0"/>
              </a:rPr>
              <a:t>: %d“, c);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return</a:t>
            </a:r>
            <a:r>
              <a:rPr lang="it-IT" sz="1000" b="1" dirty="0">
                <a:latin typeface="Courier Std" pitchFamily="49" charset="0"/>
              </a:rPr>
              <a:t>(</a:t>
            </a:r>
            <a:r>
              <a:rPr lang="it-IT" sz="1000" b="1" dirty="0" err="1">
                <a:latin typeface="Courier Std" pitchFamily="49" charset="0"/>
              </a:rPr>
              <a:t>EXIT_SUCCESS</a:t>
            </a:r>
            <a:r>
              <a:rPr lang="it-IT" sz="1000" b="1" dirty="0">
                <a:latin typeface="Courier Std" pitchFamily="49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}</a:t>
            </a:r>
          </a:p>
          <a:p>
            <a:pPr>
              <a:lnSpc>
                <a:spcPct val="130000"/>
              </a:lnSpc>
            </a:pP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doppia(</a:t>
            </a: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x) {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a;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a = x;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{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    </a:t>
            </a:r>
            <a:r>
              <a:rPr lang="it-IT" sz="1000" b="1" dirty="0" err="1">
                <a:latin typeface="Courier Std" pitchFamily="49" charset="0"/>
              </a:rPr>
              <a:t>int</a:t>
            </a:r>
            <a:r>
              <a:rPr lang="it-IT" sz="1000" b="1" dirty="0">
                <a:latin typeface="Courier Std" pitchFamily="49" charset="0"/>
              </a:rPr>
              <a:t> c;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    c=a;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    a=2*c;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}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    </a:t>
            </a:r>
            <a:r>
              <a:rPr lang="it-IT" sz="1000" b="1" dirty="0" err="1">
                <a:latin typeface="Courier Std" pitchFamily="49" charset="0"/>
              </a:rPr>
              <a:t>return</a:t>
            </a:r>
            <a:r>
              <a:rPr lang="it-IT" sz="1000" b="1" dirty="0">
                <a:latin typeface="Courier Std" pitchFamily="49" charset="0"/>
              </a:rPr>
              <a:t>(a);</a:t>
            </a:r>
          </a:p>
          <a:p>
            <a:pPr>
              <a:lnSpc>
                <a:spcPct val="130000"/>
              </a:lnSpc>
            </a:pPr>
            <a:r>
              <a:rPr lang="it-IT" sz="1000" b="1" dirty="0">
                <a:latin typeface="Courier Std" pitchFamily="49" charset="0"/>
              </a:rPr>
              <a:t>}</a:t>
            </a:r>
          </a:p>
        </p:txBody>
      </p:sp>
      <p:sp>
        <p:nvSpPr>
          <p:cNvPr id="13" name="CasellaDiTesto 12"/>
          <p:cNvSpPr txBox="1"/>
          <p:nvPr/>
        </p:nvSpPr>
        <p:spPr>
          <a:xfrm flipH="1">
            <a:off x="399235" y="1953220"/>
            <a:ext cx="725307" cy="4678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01.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02.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03.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04.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05.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06.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07.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08.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09.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10.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11.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12.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13.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14.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15.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16.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17.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18.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19.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20.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21.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22.</a:t>
            </a:r>
          </a:p>
          <a:p>
            <a:pPr algn="r">
              <a:lnSpc>
                <a:spcPct val="130000"/>
              </a:lnSpc>
            </a:pPr>
            <a:r>
              <a:rPr lang="it-IT" sz="100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23.</a:t>
            </a:r>
          </a:p>
        </p:txBody>
      </p:sp>
      <p:sp>
        <p:nvSpPr>
          <p:cNvPr id="2" name="Rettangolo 1"/>
          <p:cNvSpPr/>
          <p:nvPr/>
        </p:nvSpPr>
        <p:spPr>
          <a:xfrm>
            <a:off x="1259632" y="2564904"/>
            <a:ext cx="2814424" cy="18002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/>
        </p:nvSpPr>
        <p:spPr>
          <a:xfrm>
            <a:off x="4067944" y="2564904"/>
            <a:ext cx="1656184" cy="18002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00B0F0"/>
                </a:solidFill>
                <a:latin typeface="Courier Std" pitchFamily="49" charset="0"/>
              </a:rPr>
              <a:t>a</a:t>
            </a:r>
            <a:r>
              <a:rPr lang="it-IT" sz="1600" dirty="0">
                <a:solidFill>
                  <a:srgbClr val="00B0F0"/>
                </a:solidFill>
              </a:rPr>
              <a:t>, </a:t>
            </a:r>
            <a:r>
              <a:rPr lang="it-IT" sz="1600" b="1" dirty="0">
                <a:solidFill>
                  <a:srgbClr val="00B0F0"/>
                </a:solidFill>
                <a:latin typeface="Courier Std" pitchFamily="49" charset="0"/>
              </a:rPr>
              <a:t>b</a:t>
            </a:r>
            <a:r>
              <a:rPr lang="it-IT" sz="1600" dirty="0">
                <a:solidFill>
                  <a:srgbClr val="00B0F0"/>
                </a:solidFill>
              </a:rPr>
              <a:t> e </a:t>
            </a:r>
            <a:r>
              <a:rPr lang="it-IT" sz="1600" b="1" dirty="0">
                <a:solidFill>
                  <a:srgbClr val="00B0F0"/>
                </a:solidFill>
                <a:latin typeface="Courier Std" pitchFamily="49" charset="0"/>
              </a:rPr>
              <a:t>c</a:t>
            </a:r>
            <a:r>
              <a:rPr lang="it-IT" sz="1600" dirty="0">
                <a:solidFill>
                  <a:srgbClr val="00B0F0"/>
                </a:solidFill>
              </a:rPr>
              <a:t> variabili locali del </a:t>
            </a:r>
            <a:r>
              <a:rPr lang="it-IT" sz="1600" dirty="0" err="1">
                <a:solidFill>
                  <a:srgbClr val="00B0F0"/>
                </a:solidFill>
              </a:rPr>
              <a:t>main</a:t>
            </a:r>
            <a:endParaRPr lang="it-IT" sz="1600" dirty="0">
              <a:solidFill>
                <a:srgbClr val="00B0F0"/>
              </a:solidFill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1265744" y="4797152"/>
            <a:ext cx="2808312" cy="158417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4074056" y="4509120"/>
            <a:ext cx="1656184" cy="79208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00B0F0"/>
                </a:solidFill>
                <a:latin typeface="Courier Std" pitchFamily="49" charset="0"/>
              </a:rPr>
              <a:t>a</a:t>
            </a:r>
            <a:r>
              <a:rPr lang="it-IT" sz="1600" dirty="0">
                <a:solidFill>
                  <a:srgbClr val="00B0F0"/>
                </a:solidFill>
              </a:rPr>
              <a:t> e </a:t>
            </a:r>
            <a:r>
              <a:rPr lang="it-IT" sz="1600" b="1" dirty="0">
                <a:solidFill>
                  <a:srgbClr val="00B0F0"/>
                </a:solidFill>
                <a:latin typeface="Courier Std" pitchFamily="49" charset="0"/>
              </a:rPr>
              <a:t>x</a:t>
            </a:r>
            <a:r>
              <a:rPr lang="it-IT" sz="1600" dirty="0">
                <a:solidFill>
                  <a:srgbClr val="00B0F0"/>
                </a:solidFill>
              </a:rPr>
              <a:t> variabili locali della funzione doppia</a:t>
            </a:r>
          </a:p>
        </p:txBody>
      </p:sp>
      <p:sp>
        <p:nvSpPr>
          <p:cNvPr id="10" name="Rettangolo 9"/>
          <p:cNvSpPr/>
          <p:nvPr/>
        </p:nvSpPr>
        <p:spPr>
          <a:xfrm>
            <a:off x="1691680" y="5373216"/>
            <a:ext cx="2664296" cy="5400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/>
          <p:cNvSpPr/>
          <p:nvPr/>
        </p:nvSpPr>
        <p:spPr>
          <a:xfrm>
            <a:off x="4355976" y="5373216"/>
            <a:ext cx="2952328" cy="5400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00B050"/>
                </a:solidFill>
              </a:rPr>
              <a:t>Visibili</a:t>
            </a:r>
            <a:r>
              <a:rPr lang="it-IT" sz="1600" b="1" dirty="0">
                <a:solidFill>
                  <a:srgbClr val="00B050"/>
                </a:solidFill>
                <a:latin typeface="Courier Std" pitchFamily="49" charset="0"/>
              </a:rPr>
              <a:t> a, x</a:t>
            </a:r>
            <a:r>
              <a:rPr lang="it-IT" sz="1600" dirty="0">
                <a:solidFill>
                  <a:srgbClr val="00B050"/>
                </a:solidFill>
              </a:rPr>
              <a:t> e </a:t>
            </a:r>
            <a:r>
              <a:rPr lang="it-IT" sz="1600" b="1" dirty="0">
                <a:solidFill>
                  <a:srgbClr val="00B050"/>
                </a:solidFill>
                <a:latin typeface="Courier Std" pitchFamily="49" charset="0"/>
              </a:rPr>
              <a:t>c</a:t>
            </a:r>
            <a:r>
              <a:rPr lang="it-IT" sz="1600" dirty="0">
                <a:solidFill>
                  <a:srgbClr val="00B050"/>
                </a:solidFill>
              </a:rPr>
              <a:t> locali della funzione doppia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60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579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Visibilità: osservazioni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844752"/>
          </a:xfrm>
          <a:ln>
            <a:solidFill>
              <a:srgbClr val="00B050"/>
            </a:solidFill>
          </a:ln>
        </p:spPr>
        <p:txBody>
          <a:bodyPr>
            <a:noAutofit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it-IT" sz="1800" b="0" dirty="0"/>
              <a:t>In ogni blocco sono visibili:</a:t>
            </a:r>
          </a:p>
          <a:p>
            <a:pPr marL="914400" lvl="1" indent="-457200">
              <a:lnSpc>
                <a:spcPct val="110000"/>
              </a:lnSpc>
            </a:pPr>
            <a:r>
              <a:rPr lang="it-IT" sz="1800" dirty="0"/>
              <a:t>Le variabili definite al suo interno</a:t>
            </a:r>
          </a:p>
          <a:p>
            <a:pPr marL="914400" lvl="1" indent="-457200">
              <a:lnSpc>
                <a:spcPct val="110000"/>
              </a:lnSpc>
            </a:pPr>
            <a:r>
              <a:rPr lang="it-IT" sz="1800" dirty="0"/>
              <a:t>Le variabili definite nel blocco che eventualmente lo contiene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it-IT" sz="18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MASCHERAMENTO</a:t>
            </a:r>
            <a:r>
              <a:rPr lang="it-IT" sz="1800" b="0" dirty="0"/>
              <a:t>:</a:t>
            </a:r>
            <a:r>
              <a:rPr lang="it-IT" sz="1800" b="0" dirty="0">
                <a:solidFill>
                  <a:srgbClr val="00B0F0"/>
                </a:solidFill>
              </a:rPr>
              <a:t> </a:t>
            </a:r>
            <a:r>
              <a:rPr lang="it-IT" sz="1800" b="0" dirty="0"/>
              <a:t>la definizione di una variabile in un blocco annulla la visibilità di eventuali variabili con lo stesso identificatore, definite nei blocchi esterni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it-IT" sz="18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Scope</a:t>
            </a:r>
            <a:r>
              <a:rPr lang="it-IT" sz="1800" b="0" dirty="0"/>
              <a:t>: possiamo definire variabili fuori da ogni funzione, nel file (ad esempio </a:t>
            </a:r>
            <a:r>
              <a:rPr lang="it-IT" sz="1800" b="0" i="1" dirty="0"/>
              <a:t>mylib.cpp</a:t>
            </a:r>
            <a:r>
              <a:rPr lang="it-IT" sz="1800" b="0" dirty="0"/>
              <a:t>). Tali variabili sono visibili in tutto il file, dal punto in cui sono dichiarate in poi.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it-IT" sz="180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Std" pitchFamily="49" charset="0"/>
              </a:rPr>
              <a:t>extern</a:t>
            </a:r>
            <a:r>
              <a:rPr lang="it-IT" sz="1800" b="0" dirty="0"/>
              <a:t>: è possibile estendere la visibilità ad altri file che, eventualmente, costituiscono il progetto; per farlo  basta dichiarare le variabili (o funzioni) con lo </a:t>
            </a:r>
            <a:r>
              <a:rPr lang="it-IT" sz="1800" b="0" dirty="0" err="1"/>
              <a:t>specificatore</a:t>
            </a:r>
            <a:r>
              <a:rPr lang="it-IT" sz="1800" b="0" dirty="0"/>
              <a:t> </a:t>
            </a:r>
            <a:r>
              <a:rPr lang="it-IT" sz="1800" dirty="0" err="1">
                <a:latin typeface="Courier Std" pitchFamily="49" charset="0"/>
              </a:rPr>
              <a:t>extern</a:t>
            </a:r>
            <a:r>
              <a:rPr lang="it-IT" sz="1800" b="0" dirty="0"/>
              <a:t> in tutti i file </a:t>
            </a:r>
            <a:r>
              <a:rPr lang="it-IT" sz="1800" dirty="0"/>
              <a:t>a cui </a:t>
            </a:r>
            <a:r>
              <a:rPr lang="it-IT" sz="1800" b="0" dirty="0"/>
              <a:t>si vuole estendere la visibilità.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61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156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it-IT" dirty="0" err="1"/>
              <a:t>EsempIO</a:t>
            </a:r>
            <a:r>
              <a:rPr lang="it-IT" dirty="0"/>
              <a:t>: Mascheramento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1106568" y="1964945"/>
            <a:ext cx="627374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>
                <a:solidFill>
                  <a:srgbClr val="00B0F0"/>
                </a:solidFill>
                <a:latin typeface="Courier Std" pitchFamily="49" charset="0"/>
              </a:rPr>
              <a:t>x</a:t>
            </a:r>
            <a:r>
              <a:rPr lang="it-IT" sz="1400" b="1" dirty="0">
                <a:latin typeface="Courier Std" pitchFamily="49" charset="0"/>
              </a:rPr>
              <a:t> = 0;       </a:t>
            </a:r>
            <a:r>
              <a:rPr lang="it-IT" sz="1400" dirty="0">
                <a:latin typeface="Courier Std" pitchFamily="49" charset="0"/>
              </a:rPr>
              <a:t>// nome globale</a:t>
            </a:r>
          </a:p>
          <a:p>
            <a:endParaRPr lang="it-IT" sz="1400" b="1" dirty="0">
              <a:latin typeface="Courier Std" pitchFamily="49" charset="0"/>
            </a:endParaRPr>
          </a:p>
          <a:p>
            <a:r>
              <a:rPr lang="it-IT" sz="1400" b="1" dirty="0" err="1">
                <a:latin typeface="Courier Std" pitchFamily="49" charset="0"/>
              </a:rPr>
              <a:t>void</a:t>
            </a:r>
            <a:r>
              <a:rPr lang="it-IT" sz="1400" b="1" dirty="0">
                <a:latin typeface="Courier Std" pitchFamily="49" charset="0"/>
              </a:rPr>
              <a:t> f()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>
                <a:solidFill>
                  <a:srgbClr val="FFC000"/>
                </a:solidFill>
                <a:latin typeface="Courier Std" pitchFamily="49" charset="0"/>
              </a:rPr>
              <a:t>x</a:t>
            </a:r>
            <a:r>
              <a:rPr lang="it-IT" sz="1400" b="1" dirty="0">
                <a:latin typeface="Courier Std" pitchFamily="49" charset="0"/>
              </a:rPr>
              <a:t>;  	    </a:t>
            </a:r>
            <a:r>
              <a:rPr lang="it-IT" sz="1400" dirty="0">
                <a:latin typeface="Courier Std" pitchFamily="49" charset="0"/>
              </a:rPr>
              <a:t>// x locale che nasconde x globale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>
                <a:solidFill>
                  <a:srgbClr val="FFC000"/>
                </a:solidFill>
                <a:latin typeface="Courier Std" pitchFamily="49" charset="0"/>
              </a:rPr>
              <a:t>x </a:t>
            </a:r>
            <a:r>
              <a:rPr lang="it-IT" sz="1400" b="1" dirty="0">
                <a:latin typeface="Courier Std" pitchFamily="49" charset="0"/>
              </a:rPr>
              <a:t>= 1; 	    </a:t>
            </a:r>
            <a:r>
              <a:rPr lang="it-IT" sz="1400" dirty="0">
                <a:latin typeface="Courier Std" pitchFamily="49" charset="0"/>
              </a:rPr>
              <a:t>// assegna 1 al primo x locale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(“%d”, x);</a:t>
            </a:r>
          </a:p>
          <a:p>
            <a:r>
              <a:rPr lang="it-IT" sz="1400" b="1" dirty="0">
                <a:latin typeface="Courier Std" pitchFamily="49" charset="0"/>
              </a:rPr>
              <a:t>    {</a:t>
            </a:r>
          </a:p>
          <a:p>
            <a:r>
              <a:rPr lang="it-IT" sz="1400" b="1" dirty="0">
                <a:latin typeface="Courier Std" pitchFamily="49" charset="0"/>
              </a:rPr>
              <a:t>        </a:t>
            </a:r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>
                <a:solidFill>
                  <a:srgbClr val="00B050"/>
                </a:solidFill>
                <a:latin typeface="Courier Std" pitchFamily="49" charset="0"/>
              </a:rPr>
              <a:t>x</a:t>
            </a:r>
            <a:r>
              <a:rPr lang="it-IT" sz="1400" b="1" dirty="0">
                <a:latin typeface="Courier Std" pitchFamily="49" charset="0"/>
              </a:rPr>
              <a:t>;           </a:t>
            </a:r>
            <a:r>
              <a:rPr lang="it-IT" sz="1400" dirty="0">
                <a:latin typeface="Courier Std" pitchFamily="49" charset="0"/>
              </a:rPr>
              <a:t>// nasconde il primo x locale</a:t>
            </a:r>
          </a:p>
          <a:p>
            <a:r>
              <a:rPr lang="it-IT" sz="1400" b="1" dirty="0">
                <a:latin typeface="Courier Std" pitchFamily="49" charset="0"/>
              </a:rPr>
              <a:t>        </a:t>
            </a:r>
            <a:r>
              <a:rPr lang="it-IT" sz="1400" b="1" dirty="0">
                <a:solidFill>
                  <a:srgbClr val="00B050"/>
                </a:solidFill>
                <a:latin typeface="Courier Std" pitchFamily="49" charset="0"/>
              </a:rPr>
              <a:t>x </a:t>
            </a:r>
            <a:r>
              <a:rPr lang="it-IT" sz="1400" b="1" dirty="0">
                <a:latin typeface="Courier Std" pitchFamily="49" charset="0"/>
              </a:rPr>
              <a:t>= 2;           </a:t>
            </a:r>
            <a:r>
              <a:rPr lang="it-IT" sz="1400" dirty="0">
                <a:latin typeface="Courier Std" pitchFamily="49" charset="0"/>
              </a:rPr>
              <a:t>// assegna 2 al secondo x locale</a:t>
            </a:r>
          </a:p>
          <a:p>
            <a:r>
              <a:rPr lang="it-IT" sz="1400" b="1" dirty="0">
                <a:latin typeface="Courier Std" pitchFamily="49" charset="0"/>
              </a:rPr>
              <a:t>    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(“%d”, x);</a:t>
            </a:r>
          </a:p>
          <a:p>
            <a:r>
              <a:rPr lang="it-IT" sz="1400" b="1" dirty="0">
                <a:latin typeface="Courier Std" pitchFamily="49" charset="0"/>
              </a:rPr>
              <a:t>    }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>
                <a:solidFill>
                  <a:srgbClr val="FFC000"/>
                </a:solidFill>
                <a:latin typeface="Courier Std" pitchFamily="49" charset="0"/>
              </a:rPr>
              <a:t>x</a:t>
            </a:r>
            <a:r>
              <a:rPr lang="it-IT" sz="1400" b="1" dirty="0">
                <a:solidFill>
                  <a:srgbClr val="00B0F0"/>
                </a:solidFill>
                <a:latin typeface="Courier Std" pitchFamily="49" charset="0"/>
              </a:rPr>
              <a:t> </a:t>
            </a:r>
            <a:r>
              <a:rPr lang="it-IT" sz="1400" b="1" dirty="0">
                <a:latin typeface="Courier Std" pitchFamily="49" charset="0"/>
              </a:rPr>
              <a:t>= 3; 	</a:t>
            </a:r>
            <a:r>
              <a:rPr lang="it-IT" sz="1400" dirty="0">
                <a:latin typeface="Courier Std" pitchFamily="49" charset="0"/>
              </a:rPr>
              <a:t>     // assegna 3 al primo x locale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(“%d”, x);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</a:p>
          <a:p>
            <a:endParaRPr lang="it-IT" sz="1400" b="1" dirty="0">
              <a:latin typeface="Courier Std" pitchFamily="49" charset="0"/>
            </a:endParaRPr>
          </a:p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main</a:t>
            </a:r>
            <a:r>
              <a:rPr lang="it-IT" sz="1400" b="1" dirty="0">
                <a:latin typeface="Courier Std" pitchFamily="49" charset="0"/>
              </a:rPr>
              <a:t>()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r>
              <a:rPr lang="it-IT" sz="1400" b="1" dirty="0">
                <a:latin typeface="Courier Std" pitchFamily="49" charset="0"/>
              </a:rPr>
              <a:t>    f();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(“%d”, x);  </a:t>
            </a:r>
            <a:r>
              <a:rPr lang="it-IT" sz="1400" dirty="0">
                <a:latin typeface="Courier Std" pitchFamily="49" charset="0"/>
              </a:rPr>
              <a:t>// inserisce un dato in x globale</a:t>
            </a:r>
          </a:p>
          <a:p>
            <a:r>
              <a:rPr lang="it-IT" sz="1400" b="1" dirty="0">
                <a:latin typeface="Courier Std" pitchFamily="49" charset="0"/>
              </a:rPr>
              <a:t>    ...</a:t>
            </a:r>
          </a:p>
        </p:txBody>
      </p:sp>
      <p:sp>
        <p:nvSpPr>
          <p:cNvPr id="13" name="CasellaDiTesto 12"/>
          <p:cNvSpPr txBox="1"/>
          <p:nvPr/>
        </p:nvSpPr>
        <p:spPr>
          <a:xfrm flipH="1">
            <a:off x="399235" y="1953220"/>
            <a:ext cx="725307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10.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20.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62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752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Tempo di Vita: </a:t>
            </a:r>
            <a:r>
              <a:rPr lang="it-IT" dirty="0">
                <a:hlinkClick r:id="rId3"/>
              </a:rPr>
              <a:t>Storage </a:t>
            </a:r>
            <a:r>
              <a:rPr lang="it-IT" dirty="0" err="1">
                <a:hlinkClick r:id="rId3"/>
              </a:rPr>
              <a:t>class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52600"/>
            <a:ext cx="8003232" cy="4373563"/>
          </a:xfrm>
        </p:spPr>
        <p:txBody>
          <a:bodyPr/>
          <a:lstStyle/>
          <a:p>
            <a:r>
              <a:rPr lang="it-IT" sz="1800" b="0" dirty="0"/>
              <a:t>…riguarda </a:t>
            </a:r>
            <a:r>
              <a:rPr lang="it-IT" sz="1800" dirty="0"/>
              <a:t>QUANDO</a:t>
            </a:r>
            <a:r>
              <a:rPr lang="it-IT" sz="1800" b="0" dirty="0"/>
              <a:t> una variabile può essere usata, cioè in quale momento della vita del programma una variabile è allocata in memoria.</a:t>
            </a:r>
          </a:p>
          <a:p>
            <a:r>
              <a:rPr lang="it-IT" dirty="0"/>
              <a:t>Ci sono 4 </a:t>
            </a:r>
            <a:r>
              <a:rPr lang="it-IT" dirty="0" err="1"/>
              <a:t>specificatori</a:t>
            </a:r>
            <a:r>
              <a:rPr lang="it-IT" dirty="0"/>
              <a:t> per altrettante classi di memorizzazione</a:t>
            </a:r>
          </a:p>
          <a:p>
            <a:endParaRPr lang="it-IT" dirty="0"/>
          </a:p>
          <a:p>
            <a:endParaRPr lang="it-IT" dirty="0"/>
          </a:p>
        </p:txBody>
      </p:sp>
      <p:graphicFrame>
        <p:nvGraphicFramePr>
          <p:cNvPr id="4" name="Diagramma 3"/>
          <p:cNvGraphicFramePr/>
          <p:nvPr>
            <p:extLst>
              <p:ext uri="{D42A27DB-BD31-4B8C-83A1-F6EECF244321}">
                <p14:modId xmlns:p14="http://schemas.microsoft.com/office/powerpoint/2010/main" val="2089850436"/>
              </p:ext>
            </p:extLst>
          </p:nvPr>
        </p:nvGraphicFramePr>
        <p:xfrm>
          <a:off x="179512" y="2852936"/>
          <a:ext cx="849694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63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422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28F957-5AA5-4217-837A-25D83BC98B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C628F957-5AA5-4217-837A-25D83BC98B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C628F957-5AA5-4217-837A-25D83BC98B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C628F957-5AA5-4217-837A-25D83BC98B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01EE09-0A78-4365-B841-8B139BB2A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graphicEl>
                                              <a:dgm id="{E301EE09-0A78-4365-B841-8B139BB2A9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dgm id="{E301EE09-0A78-4365-B841-8B139BB2A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graphicEl>
                                              <a:dgm id="{E301EE09-0A78-4365-B841-8B139BB2A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FC25F7-1CCD-4E39-B7C1-9057DDEC33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graphicEl>
                                              <a:dgm id="{F2FC25F7-1CCD-4E39-B7C1-9057DDEC33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graphicEl>
                                              <a:dgm id="{F2FC25F7-1CCD-4E39-B7C1-9057DDEC33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F2FC25F7-1CCD-4E39-B7C1-9057DDEC33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223FBF-0CB9-43F4-85F6-CE060F9792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graphicEl>
                                              <a:dgm id="{FE223FBF-0CB9-43F4-85F6-CE060F9792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graphicEl>
                                              <a:dgm id="{FE223FBF-0CB9-43F4-85F6-CE060F9792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FE223FBF-0CB9-43F4-85F6-CE060F9792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1E2C38-79CE-416D-8692-333ED3D302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graphicEl>
                                              <a:dgm id="{4D1E2C38-79CE-416D-8692-333ED3D302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graphicEl>
                                              <a:dgm id="{4D1E2C38-79CE-416D-8692-333ED3D302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graphicEl>
                                              <a:dgm id="{4D1E2C38-79CE-416D-8692-333ED3D302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611E3E-8AAB-4188-8B88-C93BDA2F7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graphicEl>
                                              <a:dgm id="{D7611E3E-8AAB-4188-8B88-C93BDA2F7A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graphicEl>
                                              <a:dgm id="{D7611E3E-8AAB-4188-8B88-C93BDA2F7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graphicEl>
                                              <a:dgm id="{D7611E3E-8AAB-4188-8B88-C93BDA2F7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6D0F3DE-2F18-49C3-9EE7-0AFD986BB6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graphicEl>
                                              <a:dgm id="{76D0F3DE-2F18-49C3-9EE7-0AFD986BB6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graphicEl>
                                              <a:dgm id="{76D0F3DE-2F18-49C3-9EE7-0AFD986BB6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graphicEl>
                                              <a:dgm id="{76D0F3DE-2F18-49C3-9EE7-0AFD986BB6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7DC818-6EA5-46AD-B465-F7F1C4F243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graphicEl>
                                              <a:dgm id="{0A7DC818-6EA5-46AD-B465-F7F1C4F243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graphicEl>
                                              <a:dgm id="{0A7DC818-6EA5-46AD-B465-F7F1C4F243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graphicEl>
                                              <a:dgm id="{0A7DC818-6EA5-46AD-B465-F7F1C4F243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200" y="152718"/>
            <a:ext cx="8219256" cy="1371600"/>
          </a:xfrm>
        </p:spPr>
        <p:txBody>
          <a:bodyPr>
            <a:normAutofit/>
          </a:bodyPr>
          <a:lstStyle/>
          <a:p>
            <a:r>
              <a:rPr lang="it-IT" dirty="0" err="1"/>
              <a:t>EsempIO</a:t>
            </a:r>
            <a:r>
              <a:rPr lang="it-IT" dirty="0"/>
              <a:t> C</a:t>
            </a:r>
            <a:r>
              <a:rPr lang="it-IT" dirty="0" smtClean="0"/>
              <a:t>: </a:t>
            </a:r>
            <a:r>
              <a:rPr lang="it-IT" sz="2800" dirty="0" smtClean="0"/>
              <a:t>non </a:t>
            </a:r>
            <a:r>
              <a:rPr lang="it-IT" sz="2800" dirty="0" err="1" smtClean="0"/>
              <a:t>static</a:t>
            </a:r>
            <a:r>
              <a:rPr lang="it-IT" sz="2800" dirty="0" smtClean="0"/>
              <a:t> vs. </a:t>
            </a:r>
            <a:r>
              <a:rPr lang="it-IT" sz="2800" dirty="0" err="1" smtClean="0"/>
              <a:t>static</a:t>
            </a:r>
            <a:endParaRPr lang="it-IT" sz="2400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602512" y="1863583"/>
            <a:ext cx="38974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</a:t>
            </a:r>
            <a:r>
              <a:rPr lang="it-IT" sz="1400" b="1" dirty="0" err="1">
                <a:latin typeface="Courier Std" pitchFamily="49" charset="0"/>
              </a:rPr>
              <a:t>void</a:t>
            </a:r>
            <a:r>
              <a:rPr lang="it-IT" sz="1400" b="1" dirty="0">
                <a:latin typeface="Courier Std" pitchFamily="49" charset="0"/>
              </a:rPr>
              <a:t>);</a:t>
            </a:r>
          </a:p>
          <a:p>
            <a:r>
              <a:rPr lang="it-IT" sz="1400" b="1" dirty="0">
                <a:latin typeface="Courier Std" pitchFamily="49" charset="0"/>
              </a:rPr>
              <a:t> </a:t>
            </a:r>
          </a:p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 smtClean="0">
                <a:latin typeface="Courier Std" pitchFamily="49" charset="0"/>
              </a:rPr>
              <a:t>main</a:t>
            </a:r>
            <a:r>
              <a:rPr lang="it-IT" sz="1400" b="1" dirty="0" smtClean="0">
                <a:latin typeface="Courier Std" pitchFamily="49" charset="0"/>
              </a:rPr>
              <a:t>(</a:t>
            </a:r>
            <a:r>
              <a:rPr lang="it-IT" sz="1400" b="1" dirty="0" err="1" smtClean="0">
                <a:latin typeface="Courier Std" pitchFamily="49" charset="0"/>
              </a:rPr>
              <a:t>void</a:t>
            </a:r>
            <a:r>
              <a:rPr lang="it-IT" sz="1400" b="1" dirty="0" smtClean="0">
                <a:latin typeface="Courier Std" pitchFamily="49" charset="0"/>
              </a:rPr>
              <a:t>)</a:t>
            </a:r>
            <a:endParaRPr lang="it-IT" sz="1400" b="1" dirty="0">
              <a:latin typeface="Courier Std" pitchFamily="49" charset="0"/>
            </a:endParaRP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r>
              <a:rPr lang="it-IT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Std" pitchFamily="49" charset="0"/>
              </a:rPr>
              <a:t>    /* fa qualcosa …*/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("\</a:t>
            </a:r>
            <a:r>
              <a:rPr lang="it-IT" sz="1400" b="1" dirty="0" err="1">
                <a:latin typeface="Courier Std" pitchFamily="49" charset="0"/>
              </a:rPr>
              <a:t>n%d</a:t>
            </a:r>
            <a:r>
              <a:rPr lang="it-IT" sz="1400" b="1" dirty="0">
                <a:latin typeface="Courier Std" pitchFamily="49" charset="0"/>
              </a:rPr>
              <a:t>",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());</a:t>
            </a:r>
          </a:p>
          <a:p>
            <a:r>
              <a:rPr lang="it-IT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Std" pitchFamily="49" charset="0"/>
              </a:rPr>
              <a:t>    /* fa qualcos’altro …*/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("\</a:t>
            </a:r>
            <a:r>
              <a:rPr lang="it-IT" sz="1400" b="1" dirty="0" err="1">
                <a:latin typeface="Courier Std" pitchFamily="49" charset="0"/>
              </a:rPr>
              <a:t>n%d</a:t>
            </a:r>
            <a:r>
              <a:rPr lang="it-IT" sz="1400" b="1" dirty="0">
                <a:latin typeface="Courier Std" pitchFamily="49" charset="0"/>
              </a:rPr>
              <a:t>",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());</a:t>
            </a:r>
          </a:p>
          <a:p>
            <a:r>
              <a:rPr lang="it-IT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Std" pitchFamily="49" charset="0"/>
              </a:rPr>
              <a:t>    /* fa qualcos’altro …*/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("\</a:t>
            </a:r>
            <a:r>
              <a:rPr lang="it-IT" sz="1400" b="1" dirty="0" err="1">
                <a:latin typeface="Courier Std" pitchFamily="49" charset="0"/>
              </a:rPr>
              <a:t>n%d</a:t>
            </a:r>
            <a:r>
              <a:rPr lang="it-IT" sz="1400" b="1" dirty="0">
                <a:latin typeface="Courier Std" pitchFamily="49" charset="0"/>
              </a:rPr>
              <a:t>",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());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return</a:t>
            </a:r>
            <a:r>
              <a:rPr lang="it-IT" sz="1400" b="1" dirty="0">
                <a:latin typeface="Courier Std" pitchFamily="49" charset="0"/>
              </a:rPr>
              <a:t> 0;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</a:p>
          <a:p>
            <a:endParaRPr lang="it-IT" sz="1400" b="1" dirty="0">
              <a:latin typeface="Courier Std" pitchFamily="49" charset="0"/>
            </a:endParaRPr>
          </a:p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</a:t>
            </a:r>
            <a:r>
              <a:rPr lang="it-IT" sz="1400" b="1" dirty="0" err="1">
                <a:latin typeface="Courier Std" pitchFamily="49" charset="0"/>
              </a:rPr>
              <a:t>void</a:t>
            </a:r>
            <a:r>
              <a:rPr lang="it-IT" sz="1400" b="1" dirty="0">
                <a:latin typeface="Courier Std" pitchFamily="49" charset="0"/>
              </a:rPr>
              <a:t>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s_nID</a:t>
            </a:r>
            <a:r>
              <a:rPr lang="it-IT" sz="1400" b="1" dirty="0">
                <a:latin typeface="Courier Std" pitchFamily="49" charset="0"/>
              </a:rPr>
              <a:t> = 0;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return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s_nID</a:t>
            </a:r>
            <a:r>
              <a:rPr lang="it-IT" sz="1400" b="1" dirty="0">
                <a:latin typeface="Courier Std" pitchFamily="49" charset="0"/>
              </a:rPr>
              <a:t>++;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</a:p>
          <a:p>
            <a:endParaRPr lang="it-IT" sz="1400" b="1" dirty="0">
              <a:latin typeface="Courier Std" pitchFamily="49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 flipH="1">
            <a:off x="-36512" y="1844824"/>
            <a:ext cx="725307" cy="4673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10.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20.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21.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64</a:t>
            </a:fld>
            <a:endParaRPr lang="it-IT"/>
          </a:p>
        </p:txBody>
      </p:sp>
      <p:sp>
        <p:nvSpPr>
          <p:cNvPr id="6" name="CasellaDiTesto 5"/>
          <p:cNvSpPr txBox="1"/>
          <p:nvPr/>
        </p:nvSpPr>
        <p:spPr>
          <a:xfrm>
            <a:off x="5063309" y="1856549"/>
            <a:ext cx="390117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</a:t>
            </a:r>
            <a:r>
              <a:rPr lang="it-IT" sz="1400" b="1" dirty="0" err="1">
                <a:latin typeface="Courier Std" pitchFamily="49" charset="0"/>
              </a:rPr>
              <a:t>void</a:t>
            </a:r>
            <a:r>
              <a:rPr lang="it-IT" sz="1400" b="1" dirty="0">
                <a:latin typeface="Courier Std" pitchFamily="49" charset="0"/>
              </a:rPr>
              <a:t>);</a:t>
            </a:r>
          </a:p>
          <a:p>
            <a:r>
              <a:rPr lang="it-IT" sz="1400" b="1" dirty="0">
                <a:latin typeface="Courier Std" pitchFamily="49" charset="0"/>
              </a:rPr>
              <a:t> </a:t>
            </a:r>
          </a:p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main</a:t>
            </a:r>
            <a:r>
              <a:rPr lang="it-IT" sz="1400" b="1" dirty="0">
                <a:latin typeface="Courier Std" pitchFamily="49" charset="0"/>
              </a:rPr>
              <a:t>(</a:t>
            </a:r>
            <a:r>
              <a:rPr lang="it-IT" sz="1400" b="1" dirty="0" err="1">
                <a:latin typeface="Courier Std" pitchFamily="49" charset="0"/>
              </a:rPr>
              <a:t>void</a:t>
            </a:r>
            <a:r>
              <a:rPr lang="it-IT" sz="1400" b="1" dirty="0">
                <a:latin typeface="Courier Std" pitchFamily="49" charset="0"/>
              </a:rPr>
              <a:t>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r>
              <a:rPr lang="it-IT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Std" pitchFamily="49" charset="0"/>
              </a:rPr>
              <a:t>    /* fa qualcosa …*/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("\</a:t>
            </a:r>
            <a:r>
              <a:rPr lang="it-IT" sz="1400" b="1" dirty="0" err="1">
                <a:latin typeface="Courier Std" pitchFamily="49" charset="0"/>
              </a:rPr>
              <a:t>n%d</a:t>
            </a:r>
            <a:r>
              <a:rPr lang="it-IT" sz="1400" b="1" dirty="0">
                <a:latin typeface="Courier Std" pitchFamily="49" charset="0"/>
              </a:rPr>
              <a:t>",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());</a:t>
            </a:r>
          </a:p>
          <a:p>
            <a:r>
              <a:rPr lang="it-IT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Std" pitchFamily="49" charset="0"/>
              </a:rPr>
              <a:t>    /* fa qualcos’altro …*/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("\</a:t>
            </a:r>
            <a:r>
              <a:rPr lang="it-IT" sz="1400" b="1" dirty="0" err="1">
                <a:latin typeface="Courier Std" pitchFamily="49" charset="0"/>
              </a:rPr>
              <a:t>n%d</a:t>
            </a:r>
            <a:r>
              <a:rPr lang="it-IT" sz="1400" b="1" dirty="0">
                <a:latin typeface="Courier Std" pitchFamily="49" charset="0"/>
              </a:rPr>
              <a:t>",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());</a:t>
            </a:r>
          </a:p>
          <a:p>
            <a:r>
              <a:rPr lang="it-IT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Std" pitchFamily="49" charset="0"/>
              </a:rPr>
              <a:t>    /* fa qualcos’altro …*/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printf</a:t>
            </a:r>
            <a:r>
              <a:rPr lang="it-IT" sz="1400" b="1" dirty="0">
                <a:latin typeface="Courier Std" pitchFamily="49" charset="0"/>
              </a:rPr>
              <a:t>("\</a:t>
            </a:r>
            <a:r>
              <a:rPr lang="it-IT" sz="1400" b="1" dirty="0" err="1">
                <a:latin typeface="Courier Std" pitchFamily="49" charset="0"/>
              </a:rPr>
              <a:t>n%d</a:t>
            </a:r>
            <a:r>
              <a:rPr lang="it-IT" sz="1400" b="1" dirty="0">
                <a:latin typeface="Courier Std" pitchFamily="49" charset="0"/>
              </a:rPr>
              <a:t>",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());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return</a:t>
            </a:r>
            <a:r>
              <a:rPr lang="it-IT" sz="1400" b="1" dirty="0">
                <a:latin typeface="Courier Std" pitchFamily="49" charset="0"/>
              </a:rPr>
              <a:t> 0;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</a:p>
          <a:p>
            <a:endParaRPr lang="it-IT" sz="1400" b="1" dirty="0">
              <a:latin typeface="Courier Std" pitchFamily="49" charset="0"/>
            </a:endParaRPr>
          </a:p>
          <a:p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GenerateID</a:t>
            </a:r>
            <a:r>
              <a:rPr lang="it-IT" sz="1400" b="1" dirty="0">
                <a:latin typeface="Courier Std" pitchFamily="49" charset="0"/>
              </a:rPr>
              <a:t>(</a:t>
            </a:r>
            <a:r>
              <a:rPr lang="it-IT" sz="1400" b="1" dirty="0" err="1">
                <a:latin typeface="Courier Std" pitchFamily="49" charset="0"/>
              </a:rPr>
              <a:t>void</a:t>
            </a:r>
            <a:r>
              <a:rPr lang="it-IT" sz="1400" b="1" dirty="0">
                <a:latin typeface="Courier Std" pitchFamily="49" charset="0"/>
              </a:rPr>
              <a:t>)</a:t>
            </a:r>
          </a:p>
          <a:p>
            <a:r>
              <a:rPr lang="it-IT" sz="1400" b="1" dirty="0">
                <a:latin typeface="Courier Std" pitchFamily="49" charset="0"/>
              </a:rPr>
              <a:t>{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static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int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s_nID</a:t>
            </a:r>
            <a:r>
              <a:rPr lang="it-IT" sz="1400" b="1" dirty="0">
                <a:latin typeface="Courier Std" pitchFamily="49" charset="0"/>
              </a:rPr>
              <a:t> = 0;</a:t>
            </a:r>
          </a:p>
          <a:p>
            <a:r>
              <a:rPr lang="it-IT" sz="1400" b="1" dirty="0">
                <a:latin typeface="Courier Std" pitchFamily="49" charset="0"/>
              </a:rPr>
              <a:t>    </a:t>
            </a:r>
            <a:r>
              <a:rPr lang="it-IT" sz="1400" b="1" dirty="0" err="1">
                <a:latin typeface="Courier Std" pitchFamily="49" charset="0"/>
              </a:rPr>
              <a:t>return</a:t>
            </a:r>
            <a:r>
              <a:rPr lang="it-IT" sz="1400" b="1" dirty="0">
                <a:latin typeface="Courier Std" pitchFamily="49" charset="0"/>
              </a:rPr>
              <a:t> </a:t>
            </a:r>
            <a:r>
              <a:rPr lang="it-IT" sz="1400" b="1" dirty="0" err="1">
                <a:latin typeface="Courier Std" pitchFamily="49" charset="0"/>
              </a:rPr>
              <a:t>s_nID</a:t>
            </a:r>
            <a:r>
              <a:rPr lang="it-IT" sz="1400" b="1" dirty="0">
                <a:latin typeface="Courier Std" pitchFamily="49" charset="0"/>
              </a:rPr>
              <a:t>++;</a:t>
            </a:r>
          </a:p>
          <a:p>
            <a:r>
              <a:rPr lang="it-IT" sz="1400" b="1" dirty="0">
                <a:latin typeface="Courier Std" pitchFamily="49" charset="0"/>
              </a:rPr>
              <a:t>}</a:t>
            </a:r>
          </a:p>
          <a:p>
            <a:endParaRPr lang="it-IT" sz="1400" b="1" dirty="0">
              <a:latin typeface="Courier Std" pitchFamily="49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 flipH="1">
            <a:off x="4355976" y="1844824"/>
            <a:ext cx="725307" cy="4673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09.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10.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11.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12.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13.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14.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15.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16.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17.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18.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19.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20.</a:t>
            </a:r>
          </a:p>
          <a:p>
            <a:pPr algn="r">
              <a:lnSpc>
                <a:spcPct val="135000"/>
              </a:lnSpc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  <a:latin typeface="Courier Std" pitchFamily="49" charset="0"/>
              </a:rPr>
              <a:t>21.</a:t>
            </a:r>
          </a:p>
        </p:txBody>
      </p:sp>
    </p:spTree>
    <p:extLst>
      <p:ext uri="{BB962C8B-B14F-4D97-AF65-F5344CB8AC3E}">
        <p14:creationId xmlns:p14="http://schemas.microsoft.com/office/powerpoint/2010/main" val="35220894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1E4BDA74-0C93-4B05-8EC9-29E58886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 sintesi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="" xmlns:a16="http://schemas.microsoft.com/office/drawing/2014/main" id="{EE49CBF8-F13C-4927-8F5B-6E3C647F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5AF0B-33AB-48BF-892E-53C989AB8C0C}" type="slidenum">
              <a:rPr lang="it-IT" smtClean="0"/>
              <a:t>65</a:t>
            </a:fld>
            <a:endParaRPr lang="it-IT"/>
          </a:p>
        </p:txBody>
      </p:sp>
      <p:pic>
        <p:nvPicPr>
          <p:cNvPr id="3074" name="Picture 2" descr="https://media.geeksforgeeks.org/wp-content/cdn-uploads/Storage-Classes-In-C.png">
            <a:extLst>
              <a:ext uri="{FF2B5EF4-FFF2-40B4-BE49-F238E27FC236}">
                <a16:creationId xmlns="" xmlns:a16="http://schemas.microsoft.com/office/drawing/2014/main" id="{CA98EB67-44C6-42AC-AEF6-DD9A64A0F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76872"/>
            <a:ext cx="76200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855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1"/>
  <p:tag name="ISPRING_SCORM_RATE_QUIZZES" val="0"/>
  <p:tag name="ISPRING_SCORM_PASSING_SCORE" val="100.0000000000"/>
  <p:tag name="ISPRING_RESOURCE_PATHS_HASH_2" val="df54ea148259ac2aaf674605b2535a8de6386a"/>
  <p:tag name="ISPRING_ULTRA_SCORM_SLIDE_COUNT" val="75"/>
  <p:tag name="ISPRING_RESOURCE_PATHS_HASH_PRESENTER" val="f21ff8296f32bd93f4dde1d419fd89879b5924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ziale">
  <a:themeElements>
    <a:clrScheme name="Essenziale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ziale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zial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6865</TotalTime>
  <Words>5978</Words>
  <Application>Microsoft Office PowerPoint</Application>
  <PresentationFormat>Presentazione su schermo (4:3)</PresentationFormat>
  <Paragraphs>1771</Paragraphs>
  <Slides>65</Slides>
  <Notes>60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65</vt:i4>
      </vt:variant>
    </vt:vector>
  </HeadingPairs>
  <TitlesOfParts>
    <vt:vector size="66" baseType="lpstr">
      <vt:lpstr>Essenziale</vt:lpstr>
      <vt:lpstr>Funzioni nel C/C++</vt:lpstr>
      <vt:lpstr>Funzioni nel C/C++</vt:lpstr>
      <vt:lpstr>SottoprogrammA</vt:lpstr>
      <vt:lpstr>SottoprogrammA: Perché?</vt:lpstr>
      <vt:lpstr>SottoprogrammA</vt:lpstr>
      <vt:lpstr>SottoprogrammA</vt:lpstr>
      <vt:lpstr>Funzioni del C/C++</vt:lpstr>
      <vt:lpstr>Funzioni del C/C++</vt:lpstr>
      <vt:lpstr>Dichiarazione / Firma (signature) / Prototipo</vt:lpstr>
      <vt:lpstr>Definizione</vt:lpstr>
      <vt:lpstr>Definizione: Esempio</vt:lpstr>
      <vt:lpstr>Chiamata o Invocazione</vt:lpstr>
      <vt:lpstr>Chiamata</vt:lpstr>
      <vt:lpstr>Chiamata: Esempio</vt:lpstr>
      <vt:lpstr>Chiamata: Esempio</vt:lpstr>
      <vt:lpstr>Visibilità delle funzioni</vt:lpstr>
      <vt:lpstr>Visibilità delle funzioni</vt:lpstr>
      <vt:lpstr>Visibilità delle funzioni</vt:lpstr>
      <vt:lpstr>Visibilità delle funzioni: gli Header files</vt:lpstr>
      <vt:lpstr>FunzionI NON STANDARD</vt:lpstr>
      <vt:lpstr>DomandA</vt:lpstr>
      <vt:lpstr>DomandA</vt:lpstr>
      <vt:lpstr>Comunicazione tra Chiamante e Funzione</vt:lpstr>
      <vt:lpstr>Comunicazione tra Chiamante e Funzione</vt:lpstr>
      <vt:lpstr>Memory Layout in C Program</vt:lpstr>
      <vt:lpstr>Ambiente di Esecuzione</vt:lpstr>
      <vt:lpstr>Ambiente di Esecuzione: lo stack</vt:lpstr>
      <vt:lpstr>Ambiente di esecuzione: il Record di Attivazione</vt:lpstr>
      <vt:lpstr>Ambiente di esecuzione: il Record di Attivazione</vt:lpstr>
      <vt:lpstr>Domanda</vt:lpstr>
      <vt:lpstr>Passaggio dei parametri</vt:lpstr>
      <vt:lpstr>Passaggio per valore</vt:lpstr>
      <vt:lpstr>Passaggio dei parametri: per valore</vt:lpstr>
      <vt:lpstr>Esempio</vt:lpstr>
      <vt:lpstr>Esempio</vt:lpstr>
      <vt:lpstr>Passaggio dei parametri: Per Indirizzo</vt:lpstr>
      <vt:lpstr>Passaggio dei parametri: nel C</vt:lpstr>
      <vt:lpstr>Passaggio dei parametri:  i Puntatori</vt:lpstr>
      <vt:lpstr>Passaggio dei parametri: Puntatori</vt:lpstr>
      <vt:lpstr>Passaggio dei parametri: Puntatori</vt:lpstr>
      <vt:lpstr>Passaggio per indirizzo: Esempio</vt:lpstr>
      <vt:lpstr>Passaggio per indirizzo: Esempio</vt:lpstr>
      <vt:lpstr>Presentazione standard di PowerPoint</vt:lpstr>
      <vt:lpstr>Passaggio per INDIRIZZO</vt:lpstr>
      <vt:lpstr>Presentazione standard di PowerPoint</vt:lpstr>
      <vt:lpstr>Presentazione standard di PowerPoint</vt:lpstr>
      <vt:lpstr>Passaggio per INDIRIZZO</vt:lpstr>
      <vt:lpstr>Passaggio per INDIRIZZO</vt:lpstr>
      <vt:lpstr>Passaggio per INDIRIZZO</vt:lpstr>
      <vt:lpstr>Passaggio per INDIRIZZO</vt:lpstr>
      <vt:lpstr>Passaggio per INDIRIZZO</vt:lpstr>
      <vt:lpstr>Passaggio per INDIRIZZO</vt:lpstr>
      <vt:lpstr>Passaggio per INDIRIZZO</vt:lpstr>
      <vt:lpstr>In sintesi</vt:lpstr>
      <vt:lpstr>Passaggio dei parametri: quale utilizzare?</vt:lpstr>
      <vt:lpstr>Ricapitolando</vt:lpstr>
      <vt:lpstr>Visibilità e Tempo di Vita</vt:lpstr>
      <vt:lpstr>Visibilità</vt:lpstr>
      <vt:lpstr>Esempi</vt:lpstr>
      <vt:lpstr>EsempIO:  C</vt:lpstr>
      <vt:lpstr>Visibilità: osservazioni</vt:lpstr>
      <vt:lpstr>EsempIO: Mascheramento</vt:lpstr>
      <vt:lpstr>Tempo di Vita: Storage class</vt:lpstr>
      <vt:lpstr>EsempIO C: non static vs. static</vt:lpstr>
      <vt:lpstr>IN sintesi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Funzioni C</dc:title>
  <dc:creator>User</dc:creator>
  <cp:lastModifiedBy>Ramon U.</cp:lastModifiedBy>
  <cp:revision>196</cp:revision>
  <cp:lastPrinted>2014-02-23T17:57:42Z</cp:lastPrinted>
  <dcterms:created xsi:type="dcterms:W3CDTF">2013-11-15T19:08:04Z</dcterms:created>
  <dcterms:modified xsi:type="dcterms:W3CDTF">2021-05-07T17:39:27Z</dcterms:modified>
</cp:coreProperties>
</file>