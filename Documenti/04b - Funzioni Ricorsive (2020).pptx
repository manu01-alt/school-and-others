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7099300" cy="10234600"/>
  <p:embeddedFontLst>
    <p:embeddedFont>
      <p:font typeface="Arial Black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E4A3E7-D269-41F1-95C9-ACD175210182}">
  <a:tblStyle styleId="{C3E4A3E7-D269-41F1-95C9-ACD1752101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ArialBlack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1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1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2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2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3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3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4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4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5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5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5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6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6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7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7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7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8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8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8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9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79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9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73bddbded7_0_0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73bddbded7_0_0:notes"/>
          <p:cNvSpPr txBox="1"/>
          <p:nvPr>
            <p:ph idx="1" type="body"/>
          </p:nvPr>
        </p:nvSpPr>
        <p:spPr>
          <a:xfrm>
            <a:off x="709613" y="4860925"/>
            <a:ext cx="56802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73bddbded7_0_0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73bddbded7_0_9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73bddbded7_0_9:notes"/>
          <p:cNvSpPr txBox="1"/>
          <p:nvPr>
            <p:ph idx="1" type="body"/>
          </p:nvPr>
        </p:nvSpPr>
        <p:spPr>
          <a:xfrm>
            <a:off x="709613" y="4860925"/>
            <a:ext cx="56802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73bddbded7_0_9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842590fd88_2_0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842590fd88_2_0:notes"/>
          <p:cNvSpPr txBox="1"/>
          <p:nvPr>
            <p:ph idx="1" type="body"/>
          </p:nvPr>
        </p:nvSpPr>
        <p:spPr>
          <a:xfrm>
            <a:off x="709613" y="4860925"/>
            <a:ext cx="56802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842590fd88_2_0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42590fd88_2_9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42590fd88_2_9:notes"/>
          <p:cNvSpPr txBox="1"/>
          <p:nvPr>
            <p:ph idx="1" type="body"/>
          </p:nvPr>
        </p:nvSpPr>
        <p:spPr>
          <a:xfrm>
            <a:off x="709613" y="4860925"/>
            <a:ext cx="56802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842590fd88_2_9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842590fd88_2_25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842590fd88_2_25:notes"/>
          <p:cNvSpPr txBox="1"/>
          <p:nvPr>
            <p:ph idx="1" type="body"/>
          </p:nvPr>
        </p:nvSpPr>
        <p:spPr>
          <a:xfrm>
            <a:off x="709613" y="4860925"/>
            <a:ext cx="56802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842590fd88_2_25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842590fd88_2_18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842590fd88_2_18:notes"/>
          <p:cNvSpPr txBox="1"/>
          <p:nvPr>
            <p:ph idx="1" type="body"/>
          </p:nvPr>
        </p:nvSpPr>
        <p:spPr>
          <a:xfrm>
            <a:off x="709613" y="4860925"/>
            <a:ext cx="56802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842590fd88_2_18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457200" y="228600"/>
            <a:ext cx="7772400" cy="4571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457200" y="48006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163068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381000" lvl="1" marL="9144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28" name="Google Shape;28;p3"/>
          <p:cNvSpPr txBox="1"/>
          <p:nvPr>
            <p:ph idx="2" type="body"/>
          </p:nvPr>
        </p:nvSpPr>
        <p:spPr>
          <a:xfrm>
            <a:off x="509016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381000" lvl="1" marL="9144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ice vs Memoria">
  <p:cSld name="Codice vs Memoria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idx="1" type="body"/>
          </p:nvPr>
        </p:nvSpPr>
        <p:spPr>
          <a:xfrm>
            <a:off x="467544" y="908720"/>
            <a:ext cx="4546848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539552" y="1412776"/>
            <a:ext cx="2520280" cy="46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latin typeface="Courier New"/>
                <a:ea typeface="Courier New"/>
                <a:cs typeface="Courier New"/>
                <a:sym typeface="Courier New"/>
              </a:defRPr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9" name="Google Shape;49;p6"/>
          <p:cNvSpPr txBox="1"/>
          <p:nvPr>
            <p:ph type="title"/>
          </p:nvPr>
        </p:nvSpPr>
        <p:spPr>
          <a:xfrm>
            <a:off x="467544" y="274638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3" type="body"/>
          </p:nvPr>
        </p:nvSpPr>
        <p:spPr>
          <a:xfrm>
            <a:off x="3131840" y="1412776"/>
            <a:ext cx="3538736" cy="4320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4" type="body"/>
          </p:nvPr>
        </p:nvSpPr>
        <p:spPr>
          <a:xfrm>
            <a:off x="3131840" y="3356992"/>
            <a:ext cx="3538736" cy="4320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/>
        </p:nvSpPr>
        <p:spPr>
          <a:xfrm flipH="1">
            <a:off x="179512" y="1412776"/>
            <a:ext cx="504056" cy="476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01.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02.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03.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04.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05.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06.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07.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08.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09.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10.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11.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12.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13.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14.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15.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16.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17.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18.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19.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20.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21.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22.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7F7F7F"/>
                </a:solidFill>
                <a:latin typeface="Courier"/>
                <a:ea typeface="Courier"/>
                <a:cs typeface="Courier"/>
                <a:sym typeface="Courier"/>
              </a:rPr>
              <a:t>23.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idx="1" type="body"/>
          </p:nvPr>
        </p:nvSpPr>
        <p:spPr>
          <a:xfrm>
            <a:off x="3575050" y="1600200"/>
            <a:ext cx="511175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406400" lvl="1" marL="914400" algn="l"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7"/>
          <p:cNvSpPr txBox="1"/>
          <p:nvPr>
            <p:ph idx="2" type="body"/>
          </p:nvPr>
        </p:nvSpPr>
        <p:spPr>
          <a:xfrm>
            <a:off x="457200" y="1600200"/>
            <a:ext cx="3008313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9" name="Google Shape;59;p7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457200" y="1447800"/>
            <a:ext cx="7772400" cy="432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b="0" sz="88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" type="body"/>
          </p:nvPr>
        </p:nvSpPr>
        <p:spPr>
          <a:xfrm>
            <a:off x="457200" y="228601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sz="200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1627632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18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1627632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70" name="Google Shape;70;p9"/>
          <p:cNvSpPr txBox="1"/>
          <p:nvPr>
            <p:ph idx="3" type="body"/>
          </p:nvPr>
        </p:nvSpPr>
        <p:spPr>
          <a:xfrm>
            <a:off x="5093208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18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9"/>
          <p:cNvSpPr txBox="1"/>
          <p:nvPr>
            <p:ph idx="4" type="body"/>
          </p:nvPr>
        </p:nvSpPr>
        <p:spPr>
          <a:xfrm>
            <a:off x="5093208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1"/>
          <p:cNvSpPr/>
          <p:nvPr>
            <p:ph idx="2" type="pic"/>
          </p:nvPr>
        </p:nvSpPr>
        <p:spPr>
          <a:xfrm>
            <a:off x="-1" y="0"/>
            <a:ext cx="9000877" cy="484632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457200" y="5715000"/>
            <a:ext cx="815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6" name="Google Shape;86;p11"/>
          <p:cNvSpPr txBox="1"/>
          <p:nvPr>
            <p:ph type="title"/>
          </p:nvPr>
        </p:nvSpPr>
        <p:spPr>
          <a:xfrm>
            <a:off x="457200" y="49530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 rot="5400000">
            <a:off x="2080418" y="129382"/>
            <a:ext cx="4373563" cy="7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 b="0" i="0" sz="36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dcode.fr/maze-generator" TargetMode="External"/><Relationship Id="rId4" Type="http://schemas.openxmlformats.org/officeDocument/2006/relationships/hyperlink" Target="http://www.jamisbuck.org/presentations/rubyconf2011/index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-I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4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</a:pPr>
            <a:r>
              <a:rPr lang="it-IT"/>
              <a:t>FUNZIONI RICORSIVE</a:t>
            </a:r>
            <a:endParaRPr/>
          </a:p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/>
              <a:t>Sono funzioni che </a:t>
            </a:r>
            <a:r>
              <a:rPr lang="it-IT" sz="2400">
                <a:solidFill>
                  <a:srgbClr val="00B0F0"/>
                </a:solidFill>
              </a:rPr>
              <a:t>chiamano se stesse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/>
              <a:t>Sono composte da due parti:</a:t>
            </a:r>
            <a:endParaRPr/>
          </a:p>
          <a:p>
            <a:pPr indent="-182880" lvl="1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it-IT" sz="2000">
                <a:solidFill>
                  <a:schemeClr val="dk2"/>
                </a:solidFill>
              </a:rPr>
              <a:t>Passo Ricorsivo</a:t>
            </a:r>
            <a:r>
              <a:rPr lang="it-IT" sz="2000"/>
              <a:t>: in cui la funzione chiama se stessa</a:t>
            </a:r>
            <a:endParaRPr sz="2000"/>
          </a:p>
          <a:p>
            <a:pPr indent="-182880" lvl="1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b="1" lang="it-IT" sz="2000">
                <a:solidFill>
                  <a:srgbClr val="00B050"/>
                </a:solidFill>
              </a:rPr>
              <a:t>Passo Base</a:t>
            </a:r>
            <a:r>
              <a:rPr lang="it-IT" sz="2000"/>
              <a:t>: in cui la funzione ritorna la </a:t>
            </a:r>
            <a:r>
              <a:rPr lang="it-IT"/>
              <a:t>soluzione</a:t>
            </a:r>
            <a:r>
              <a:rPr lang="it-IT" sz="2000"/>
              <a:t> nota</a:t>
            </a:r>
            <a:endParaRPr/>
          </a:p>
          <a:p>
            <a:pPr indent="-55879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/>
              <a:t>La funzione SELEZIONA il passo da eseguire in base a qualche criterio (==&gt; Condizione)</a:t>
            </a:r>
            <a:endParaRPr sz="2400"/>
          </a:p>
          <a:p>
            <a:pPr indent="0" lvl="0" marL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-I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</a:pPr>
            <a:r>
              <a:rPr lang="it-IT"/>
              <a:t>FUNZIONI RICORSIVE</a:t>
            </a:r>
            <a:endParaRPr/>
          </a:p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457200" y="1752601"/>
            <a:ext cx="7620000" cy="45567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9" r="0" t="-66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it-IT"/>
              <a:t>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-I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6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</a:pPr>
            <a:r>
              <a:rPr lang="it-IT"/>
              <a:t>FUNZIONI RICORSIVE</a:t>
            </a: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457200" y="1752600"/>
            <a:ext cx="7620000" cy="4740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/>
              <a:t>Quindi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/>
              <a:t>fact(4)	= 4 * fact(3) </a:t>
            </a:r>
            <a:br>
              <a:rPr lang="it-IT"/>
            </a:br>
            <a:r>
              <a:rPr lang="it-IT"/>
              <a:t>		= 4 * (3 * fact(2)) </a:t>
            </a:r>
            <a:br>
              <a:rPr lang="it-IT"/>
            </a:br>
            <a:r>
              <a:rPr lang="it-IT"/>
              <a:t>		= 4 * (3 * (2 * fact(1)))</a:t>
            </a:r>
            <a:br>
              <a:rPr lang="it-IT"/>
            </a:br>
            <a:r>
              <a:rPr lang="it-IT"/>
              <a:t>		= 4 * (3 * (2 * (1 * fact(0)))) </a:t>
            </a:r>
            <a:br>
              <a:rPr lang="it-IT"/>
            </a:br>
            <a:r>
              <a:rPr lang="it-IT"/>
              <a:t>		= 4 * (3 * (2 * (1 * 1))) </a:t>
            </a:r>
            <a:br>
              <a:rPr lang="it-IT"/>
            </a:br>
            <a:r>
              <a:rPr lang="it-IT"/>
              <a:t>		= 4 * (3 * (2 * 1)) </a:t>
            </a:r>
            <a:br>
              <a:rPr lang="it-IT"/>
            </a:br>
            <a:r>
              <a:rPr lang="it-IT"/>
              <a:t>		= 4 * (3 * 2) </a:t>
            </a:r>
            <a:br>
              <a:rPr lang="it-IT"/>
            </a:br>
            <a:r>
              <a:rPr lang="it-IT"/>
              <a:t>		= 4 * 6 </a:t>
            </a:r>
            <a:br>
              <a:rPr lang="it-IT"/>
            </a:br>
            <a:r>
              <a:rPr lang="it-IT"/>
              <a:t>		= 24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/>
              <a:t>Possiamo quindi determinare</a:t>
            </a:r>
            <a:endParaRPr sz="2400"/>
          </a:p>
          <a:p>
            <a:pPr indent="-182880" lvl="1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it-IT"/>
              <a:t>Passo Base:  fact(0) = 1  </a:t>
            </a:r>
            <a:endParaRPr/>
          </a:p>
          <a:p>
            <a:pPr indent="-182880" lvl="1" marL="45720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it-IT"/>
              <a:t>Passo Ricorsivo: fact(n) = n * fact(n-1)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-I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</a:pPr>
            <a:r>
              <a:rPr lang="it-IT"/>
              <a:t>FUNZIONI RICORSIVE</a:t>
            </a:r>
            <a:endParaRPr/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/>
              <a:t>L’idea generale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/>
              <a:t>Se (Condizione di Stop) allora</a:t>
            </a:r>
            <a:endParaRPr/>
          </a:p>
          <a:p>
            <a:pPr indent="-182880" lvl="1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it-IT"/>
              <a:t> Risolvi il caso banale (Passo Base)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/>
              <a:t> else</a:t>
            </a:r>
            <a:endParaRPr/>
          </a:p>
          <a:p>
            <a:pPr indent="-182880" lvl="1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it-IT"/>
              <a:t>Risolvi il caso più semplice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it-IT"/>
              <a:t>Combina le soluzioni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/>
              <a:t>il caso precedente diventa:</a:t>
            </a:r>
            <a:endParaRPr/>
          </a:p>
          <a:p>
            <a:pPr indent="-342899" lvl="1" marL="617220" rtl="0" algn="l">
              <a:spcBef>
                <a:spcPts val="920"/>
              </a:spcBef>
              <a:spcAft>
                <a:spcPts val="0"/>
              </a:spcAft>
              <a:buSzPts val="1600"/>
              <a:buFont typeface="Arial Black"/>
              <a:buAutoNum type="arabicPeriod"/>
            </a:pPr>
            <a:r>
              <a:rPr b="1" lang="it-IT" sz="1600">
                <a:latin typeface="Courier"/>
                <a:ea typeface="Courier"/>
                <a:cs typeface="Courier"/>
                <a:sym typeface="Courier"/>
              </a:rPr>
              <a:t>Se n=0 allora f(n) = 1 		(passo base)</a:t>
            </a:r>
            <a:endParaRPr/>
          </a:p>
          <a:p>
            <a:pPr indent="-342899" lvl="1" marL="617220" rtl="0" algn="l">
              <a:spcBef>
                <a:spcPts val="320"/>
              </a:spcBef>
              <a:spcAft>
                <a:spcPts val="0"/>
              </a:spcAft>
              <a:buSzPts val="1600"/>
              <a:buFont typeface="Arial Black"/>
              <a:buAutoNum type="arabicPeriod"/>
            </a:pPr>
            <a:r>
              <a:rPr b="1" lang="it-IT" sz="1600">
                <a:latin typeface="Courier"/>
                <a:ea typeface="Courier"/>
                <a:cs typeface="Courier"/>
                <a:sym typeface="Courier"/>
              </a:rPr>
              <a:t>Se n&gt;0 allora f(n) = n * f(n-1) 	(</a:t>
            </a:r>
            <a:r>
              <a:rPr b="1" lang="it-IT" sz="16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passo ricorsivo</a:t>
            </a:r>
            <a:r>
              <a:rPr b="1" lang="it-IT" sz="1600">
                <a:latin typeface="Courier"/>
                <a:ea typeface="Courier"/>
                <a:cs typeface="Courier"/>
                <a:sym typeface="Courier"/>
              </a:rPr>
              <a:t>)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</a:pPr>
            <a:r>
              <a:rPr lang="it-IT"/>
              <a:t>FUNZIONI RICORSIVE</a:t>
            </a:r>
            <a:endParaRPr/>
          </a:p>
        </p:txBody>
      </p:sp>
      <p:sp>
        <p:nvSpPr>
          <p:cNvPr id="134" name="Google Shape;134;p18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35" name="Google Shape;135;p18"/>
          <p:cNvSpPr/>
          <p:nvPr/>
        </p:nvSpPr>
        <p:spPr>
          <a:xfrm rot="-5400000">
            <a:off x="5589894" y="5923188"/>
            <a:ext cx="720080" cy="255165"/>
          </a:xfrm>
          <a:prstGeom prst="rightArrow">
            <a:avLst>
              <a:gd fmla="val 83797" name="adj1"/>
              <a:gd fmla="val 50000" name="adj2"/>
            </a:avLst>
          </a:prstGeom>
          <a:gradFill>
            <a:gsLst>
              <a:gs pos="0">
                <a:srgbClr val="E2DFB9"/>
              </a:gs>
              <a:gs pos="35000">
                <a:srgbClr val="EAE7C9"/>
              </a:gs>
              <a:gs pos="100000">
                <a:srgbClr val="F5F5E2"/>
              </a:gs>
            </a:gsLst>
            <a:lin ang="16200000" scaled="0"/>
          </a:gra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fatc(4)</a:t>
            </a:r>
            <a:endParaRPr b="1"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6" name="Google Shape;136;p18"/>
          <p:cNvSpPr/>
          <p:nvPr/>
        </p:nvSpPr>
        <p:spPr>
          <a:xfrm rot="-5400000">
            <a:off x="5336686" y="5278678"/>
            <a:ext cx="720080" cy="255165"/>
          </a:xfrm>
          <a:prstGeom prst="rightArrow">
            <a:avLst>
              <a:gd fmla="val 83797" name="adj1"/>
              <a:gd fmla="val 50000" name="adj2"/>
            </a:avLst>
          </a:prstGeom>
          <a:gradFill>
            <a:gsLst>
              <a:gs pos="0">
                <a:srgbClr val="E2DFB9"/>
              </a:gs>
              <a:gs pos="35000">
                <a:srgbClr val="EAE7C9"/>
              </a:gs>
              <a:gs pos="100000">
                <a:srgbClr val="F5F5E2"/>
              </a:gs>
            </a:gsLst>
            <a:lin ang="16200000" scaled="0"/>
          </a:gradFill>
          <a:ln cap="flat" cmpd="sng" w="12700">
            <a:solidFill>
              <a:srgbClr val="AFAE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fatc(3)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 rot="-5400000">
            <a:off x="5585360" y="4633989"/>
            <a:ext cx="720080" cy="255165"/>
          </a:xfrm>
          <a:prstGeom prst="rightArrow">
            <a:avLst>
              <a:gd fmla="val 83797" name="adj1"/>
              <a:gd fmla="val 50000" name="adj2"/>
            </a:avLst>
          </a:prstGeom>
          <a:gradFill>
            <a:gsLst>
              <a:gs pos="0">
                <a:srgbClr val="E2DFB9"/>
              </a:gs>
              <a:gs pos="35000">
                <a:srgbClr val="EAE7C9"/>
              </a:gs>
              <a:gs pos="100000">
                <a:srgbClr val="F5F5E2"/>
              </a:gs>
            </a:gsLst>
            <a:lin ang="16200000" scaled="0"/>
          </a:gra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fatc(2)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 rot="-5400000">
            <a:off x="5339798" y="3976021"/>
            <a:ext cx="720080" cy="255165"/>
          </a:xfrm>
          <a:prstGeom prst="rightArrow">
            <a:avLst>
              <a:gd fmla="val 83797" name="adj1"/>
              <a:gd fmla="val 50000" name="adj2"/>
            </a:avLst>
          </a:prstGeom>
          <a:gradFill>
            <a:gsLst>
              <a:gs pos="0">
                <a:srgbClr val="E2DFB9"/>
              </a:gs>
              <a:gs pos="35000">
                <a:srgbClr val="EAE7C9"/>
              </a:gs>
              <a:gs pos="100000">
                <a:srgbClr val="F5F5E2"/>
              </a:gs>
            </a:gsLst>
            <a:lin ang="16200000" scaled="0"/>
          </a:gra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fatc(1)</a:t>
            </a:r>
            <a:endParaRPr/>
          </a:p>
        </p:txBody>
      </p:sp>
      <p:grpSp>
        <p:nvGrpSpPr>
          <p:cNvPr id="139" name="Google Shape;139;p18"/>
          <p:cNvGrpSpPr/>
          <p:nvPr/>
        </p:nvGrpSpPr>
        <p:grpSpPr>
          <a:xfrm>
            <a:off x="381260" y="2284771"/>
            <a:ext cx="4806457" cy="4378832"/>
            <a:chOff x="381260" y="2060848"/>
            <a:chExt cx="5630900" cy="4378832"/>
          </a:xfrm>
        </p:grpSpPr>
        <p:grpSp>
          <p:nvGrpSpPr>
            <p:cNvPr id="140" name="Google Shape;140;p18"/>
            <p:cNvGrpSpPr/>
            <p:nvPr/>
          </p:nvGrpSpPr>
          <p:grpSpPr>
            <a:xfrm>
              <a:off x="381260" y="2060848"/>
              <a:ext cx="5630900" cy="4341007"/>
              <a:chOff x="395535" y="3284984"/>
              <a:chExt cx="5630900" cy="4341007"/>
            </a:xfrm>
          </p:grpSpPr>
          <p:sp>
            <p:nvSpPr>
              <p:cNvPr id="141" name="Google Shape;141;p18"/>
              <p:cNvSpPr txBox="1"/>
              <p:nvPr/>
            </p:nvSpPr>
            <p:spPr>
              <a:xfrm>
                <a:off x="971600" y="3655673"/>
                <a:ext cx="5054835" cy="3970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int fact(int a);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int main ()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{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  long num = 4;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  printf(“%d! = %d“, num, fact (num));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  return 0;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}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int fact (int a)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{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  if (a &gt; 1)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    return (a * fact (a-1));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  else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    return 1;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-IT" sz="1400">
                    <a:solidFill>
                      <a:schemeClr val="dk1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}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</p:txBody>
          </p:sp>
          <p:sp>
            <p:nvSpPr>
              <p:cNvPr id="142" name="Google Shape;142;p18"/>
              <p:cNvSpPr txBox="1"/>
              <p:nvPr/>
            </p:nvSpPr>
            <p:spPr>
              <a:xfrm>
                <a:off x="395535" y="3284984"/>
                <a:ext cx="383069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800" u="sng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Esempio</a:t>
                </a:r>
                <a:r>
                  <a:rPr lang="it-IT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3" name="Google Shape;143;p18"/>
            <p:cNvSpPr txBox="1"/>
            <p:nvPr/>
          </p:nvSpPr>
          <p:spPr>
            <a:xfrm flipH="1">
              <a:off x="395536" y="2420888"/>
              <a:ext cx="576064" cy="4018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01.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02.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03.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04.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05.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06.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07.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08.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09.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10.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11.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12.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13.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14.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15.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16.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17.</a:t>
              </a:r>
              <a:endParaRPr/>
            </a:p>
            <a:p>
              <a:pPr indent="0" lvl="0" marL="0" marR="0" rtl="0" algn="r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>
                  <a:solidFill>
                    <a:srgbClr val="7F7F7F"/>
                  </a:solidFill>
                  <a:latin typeface="Courier"/>
                  <a:ea typeface="Courier"/>
                  <a:cs typeface="Courier"/>
                  <a:sym typeface="Courier"/>
                </a:rPr>
                <a:t>18.</a:t>
              </a:r>
              <a:endParaRPr/>
            </a:p>
          </p:txBody>
        </p:sp>
      </p:grpSp>
      <p:sp>
        <p:nvSpPr>
          <p:cNvPr id="144" name="Google Shape;144;p18"/>
          <p:cNvSpPr txBox="1"/>
          <p:nvPr/>
        </p:nvSpPr>
        <p:spPr>
          <a:xfrm>
            <a:off x="6646852" y="1876762"/>
            <a:ext cx="194421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STACK</a:t>
            </a:r>
            <a:endParaRPr b="1"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6156176" y="2353041"/>
            <a:ext cx="2160000" cy="4156433"/>
          </a:xfrm>
          <a:prstGeom prst="rect">
            <a:avLst/>
          </a:prstGeom>
          <a:solidFill>
            <a:srgbClr val="C8C8B1">
              <a:alpha val="2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6156176" y="2348880"/>
            <a:ext cx="2179320" cy="4162028"/>
          </a:xfrm>
          <a:custGeom>
            <a:rect b="b" l="l" r="r" t="t"/>
            <a:pathLst>
              <a:path extrusionOk="0" h="4686300" w="2179320">
                <a:moveTo>
                  <a:pt x="0" y="0"/>
                </a:moveTo>
                <a:lnTo>
                  <a:pt x="0" y="4686300"/>
                </a:lnTo>
                <a:lnTo>
                  <a:pt x="2164080" y="4686300"/>
                </a:lnTo>
                <a:lnTo>
                  <a:pt x="2164080" y="7620"/>
                </a:lnTo>
                <a:lnTo>
                  <a:pt x="2179320" y="7620"/>
                </a:lnTo>
              </a:path>
            </a:pathLst>
          </a:cu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6156176" y="5790434"/>
            <a:ext cx="2160000" cy="35952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rgbClr val="6E7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156176" y="5430914"/>
            <a:ext cx="2160000" cy="35952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rgbClr val="6E7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6156176" y="5251154"/>
            <a:ext cx="2160000" cy="17976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rgbClr val="6E7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6156176" y="6149954"/>
            <a:ext cx="2160000" cy="35952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rgbClr val="6E7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Parametri di main()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6160740" y="5251154"/>
            <a:ext cx="2155436" cy="53928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6160740" y="5789668"/>
            <a:ext cx="2155436" cy="71904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18"/>
          <p:cNvGrpSpPr/>
          <p:nvPr/>
        </p:nvGrpSpPr>
        <p:grpSpPr>
          <a:xfrm>
            <a:off x="7164288" y="5862182"/>
            <a:ext cx="1080119" cy="246221"/>
            <a:chOff x="6156176" y="5862182"/>
            <a:chExt cx="1080119" cy="246221"/>
          </a:xfrm>
        </p:grpSpPr>
        <p:sp>
          <p:nvSpPr>
            <p:cNvPr id="154" name="Google Shape;154;p18"/>
            <p:cNvSpPr/>
            <p:nvPr/>
          </p:nvSpPr>
          <p:spPr>
            <a:xfrm>
              <a:off x="6610848" y="5877272"/>
              <a:ext cx="625448" cy="21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6156176" y="5862182"/>
              <a:ext cx="576064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6000" spcFirstLastPara="1" rIns="36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-IT" sz="16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num</a:t>
              </a:r>
              <a:endParaRPr b="1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156" name="Google Shape;156;p18"/>
          <p:cNvGrpSpPr/>
          <p:nvPr/>
        </p:nvGrpSpPr>
        <p:grpSpPr>
          <a:xfrm>
            <a:off x="6354184" y="5487563"/>
            <a:ext cx="1527020" cy="246221"/>
            <a:chOff x="5709276" y="5862182"/>
            <a:chExt cx="1527020" cy="246221"/>
          </a:xfrm>
        </p:grpSpPr>
        <p:sp>
          <p:nvSpPr>
            <p:cNvPr id="157" name="Google Shape;157;p18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5709276" y="5862182"/>
              <a:ext cx="80694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6000" spcFirstLastPara="1" rIns="3600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-IT" sz="16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a</a:t>
              </a:r>
              <a:endParaRPr/>
            </a:p>
          </p:txBody>
        </p:sp>
      </p:grpSp>
      <p:sp>
        <p:nvSpPr>
          <p:cNvPr id="159" name="Google Shape;159;p18"/>
          <p:cNvSpPr/>
          <p:nvPr/>
        </p:nvSpPr>
        <p:spPr>
          <a:xfrm rot="-7611250">
            <a:off x="7831909" y="5480539"/>
            <a:ext cx="602329" cy="342175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gradFill>
            <a:gsLst>
              <a:gs pos="0">
                <a:srgbClr val="FF8F79"/>
              </a:gs>
              <a:gs pos="35000">
                <a:srgbClr val="FFAA96"/>
              </a:gs>
              <a:gs pos="100000">
                <a:srgbClr val="FFD1C8"/>
              </a:gs>
            </a:gsLst>
            <a:lin ang="16200000" scaled="0"/>
          </a:gradFill>
          <a:ln cap="flat" cmpd="sng" w="12700">
            <a:solidFill>
              <a:srgbClr val="DA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7164288" y="5510143"/>
            <a:ext cx="716916" cy="2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 rot="5400000">
            <a:off x="6004047" y="5820177"/>
            <a:ext cx="583503" cy="246401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gradFill>
            <a:gsLst>
              <a:gs pos="0">
                <a:srgbClr val="96AAEE"/>
              </a:gs>
              <a:gs pos="35000">
                <a:srgbClr val="AFBFF3"/>
              </a:gs>
              <a:gs pos="100000">
                <a:srgbClr val="D8DEF9"/>
              </a:gs>
            </a:gsLst>
            <a:lin ang="16200000" scaled="0"/>
          </a:gradFill>
          <a:ln cap="flat" cmpd="sng" w="12700">
            <a:solidFill>
              <a:srgbClr val="4D69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6151612" y="4891634"/>
            <a:ext cx="2160000" cy="35952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rgbClr val="6E7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151612" y="4711874"/>
            <a:ext cx="2160000" cy="17976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rgbClr val="6E7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156176" y="4711874"/>
            <a:ext cx="2155436" cy="53928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18"/>
          <p:cNvGrpSpPr/>
          <p:nvPr/>
        </p:nvGrpSpPr>
        <p:grpSpPr>
          <a:xfrm>
            <a:off x="6349620" y="4948283"/>
            <a:ext cx="1527020" cy="246221"/>
            <a:chOff x="5709276" y="5862182"/>
            <a:chExt cx="1527020" cy="246221"/>
          </a:xfrm>
        </p:grpSpPr>
        <p:sp>
          <p:nvSpPr>
            <p:cNvPr id="166" name="Google Shape;166;p18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8"/>
            <p:cNvSpPr txBox="1"/>
            <p:nvPr/>
          </p:nvSpPr>
          <p:spPr>
            <a:xfrm>
              <a:off x="5709276" y="5862182"/>
              <a:ext cx="80694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6000" spcFirstLastPara="1" rIns="3600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-IT" sz="16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a</a:t>
              </a:r>
              <a:endParaRPr/>
            </a:p>
          </p:txBody>
        </p:sp>
      </p:grpSp>
      <p:sp>
        <p:nvSpPr>
          <p:cNvPr id="168" name="Google Shape;168;p18"/>
          <p:cNvSpPr/>
          <p:nvPr/>
        </p:nvSpPr>
        <p:spPr>
          <a:xfrm>
            <a:off x="7159724" y="4970863"/>
            <a:ext cx="716916" cy="2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6151612" y="4340014"/>
            <a:ext cx="2160000" cy="35952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rgbClr val="6E7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151612" y="4160254"/>
            <a:ext cx="2160000" cy="17976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rgbClr val="6E7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156176" y="4160254"/>
            <a:ext cx="2155436" cy="539280"/>
          </a:xfrm>
          <a:prstGeom prst="rect">
            <a:avLst/>
          </a:prstGeom>
          <a:noFill/>
          <a:ln cap="flat" cmpd="sng" w="1905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18"/>
          <p:cNvGrpSpPr/>
          <p:nvPr/>
        </p:nvGrpSpPr>
        <p:grpSpPr>
          <a:xfrm>
            <a:off x="6349620" y="4396663"/>
            <a:ext cx="1527020" cy="246221"/>
            <a:chOff x="5709276" y="5862182"/>
            <a:chExt cx="1527020" cy="246221"/>
          </a:xfrm>
        </p:grpSpPr>
        <p:sp>
          <p:nvSpPr>
            <p:cNvPr id="173" name="Google Shape;173;p18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5709276" y="5862182"/>
              <a:ext cx="80694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6000" spcFirstLastPara="1" rIns="3600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-IT" sz="16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a</a:t>
              </a:r>
              <a:endParaRPr/>
            </a:p>
          </p:txBody>
        </p:sp>
      </p:grpSp>
      <p:sp>
        <p:nvSpPr>
          <p:cNvPr id="175" name="Google Shape;175;p18"/>
          <p:cNvSpPr/>
          <p:nvPr/>
        </p:nvSpPr>
        <p:spPr>
          <a:xfrm>
            <a:off x="7159724" y="4419243"/>
            <a:ext cx="716916" cy="2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6158448" y="3800734"/>
            <a:ext cx="2160000" cy="35952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rgbClr val="6E7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158448" y="3620974"/>
            <a:ext cx="2160000" cy="17976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rgbClr val="6E7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163012" y="3620974"/>
            <a:ext cx="2155436" cy="539280"/>
          </a:xfrm>
          <a:prstGeom prst="rect">
            <a:avLst/>
          </a:prstGeom>
          <a:noFill/>
          <a:ln cap="flat" cmpd="sng" w="19050">
            <a:solidFill>
              <a:srgbClr val="7030A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18"/>
          <p:cNvGrpSpPr/>
          <p:nvPr/>
        </p:nvGrpSpPr>
        <p:grpSpPr>
          <a:xfrm>
            <a:off x="6356456" y="3857383"/>
            <a:ext cx="1527020" cy="246221"/>
            <a:chOff x="5709276" y="5862182"/>
            <a:chExt cx="1527020" cy="246221"/>
          </a:xfrm>
        </p:grpSpPr>
        <p:sp>
          <p:nvSpPr>
            <p:cNvPr id="180" name="Google Shape;180;p18"/>
            <p:cNvSpPr/>
            <p:nvPr/>
          </p:nvSpPr>
          <p:spPr>
            <a:xfrm>
              <a:off x="6516296" y="5877272"/>
              <a:ext cx="720000" cy="21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5709276" y="5862182"/>
              <a:ext cx="80694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6000" spcFirstLastPara="1" rIns="3600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-IT" sz="16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a</a:t>
              </a:r>
              <a:endParaRPr/>
            </a:p>
          </p:txBody>
        </p:sp>
      </p:grpSp>
      <p:sp>
        <p:nvSpPr>
          <p:cNvPr id="182" name="Google Shape;182;p18"/>
          <p:cNvSpPr/>
          <p:nvPr/>
        </p:nvSpPr>
        <p:spPr>
          <a:xfrm>
            <a:off x="7166560" y="3879963"/>
            <a:ext cx="716916" cy="2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 rot="7973276">
            <a:off x="6352195" y="3882222"/>
            <a:ext cx="890452" cy="339472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gradFill>
            <a:gsLst>
              <a:gs pos="0">
                <a:srgbClr val="96AAEE"/>
              </a:gs>
              <a:gs pos="35000">
                <a:srgbClr val="AFBFF3"/>
              </a:gs>
              <a:gs pos="100000">
                <a:srgbClr val="D8DEF9"/>
              </a:gs>
            </a:gsLst>
            <a:lin ang="16200000" scaled="0"/>
          </a:gradFill>
          <a:ln cap="flat" cmpd="sng" w="12700">
            <a:solidFill>
              <a:srgbClr val="4D69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304852" y="4393277"/>
            <a:ext cx="684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92D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1*2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6295799" y="4923190"/>
            <a:ext cx="684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05F4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2*3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6304852" y="5480974"/>
            <a:ext cx="684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6*4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6457252" y="5995223"/>
            <a:ext cx="5316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24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 rot="5400000">
            <a:off x="5923736" y="4697481"/>
            <a:ext cx="488933" cy="208548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gradFill>
            <a:gsLst>
              <a:gs pos="0">
                <a:srgbClr val="96AAEE"/>
              </a:gs>
              <a:gs pos="35000">
                <a:srgbClr val="AFBFF3"/>
              </a:gs>
              <a:gs pos="100000">
                <a:srgbClr val="D8DEF9"/>
              </a:gs>
            </a:gsLst>
            <a:lin ang="16200000" scaled="0"/>
          </a:gradFill>
          <a:ln cap="flat" cmpd="sng" w="12700">
            <a:solidFill>
              <a:srgbClr val="4D69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8"/>
          <p:cNvSpPr/>
          <p:nvPr/>
        </p:nvSpPr>
        <p:spPr>
          <a:xfrm rot="5400000">
            <a:off x="5932789" y="5255265"/>
            <a:ext cx="488933" cy="208548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gradFill>
            <a:gsLst>
              <a:gs pos="0">
                <a:srgbClr val="96AAEE"/>
              </a:gs>
              <a:gs pos="35000">
                <a:srgbClr val="AFBFF3"/>
              </a:gs>
              <a:gs pos="100000">
                <a:srgbClr val="D8DEF9"/>
              </a:gs>
            </a:gsLst>
            <a:lin ang="16200000" scaled="0"/>
          </a:gradFill>
          <a:ln cap="flat" cmpd="sng" w="12700">
            <a:solidFill>
              <a:srgbClr val="4D69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-I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9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</a:pPr>
            <a:r>
              <a:rPr lang="it-IT"/>
              <a:t>FUNZIONI RICORSIVE</a:t>
            </a:r>
            <a:endParaRPr/>
          </a:p>
        </p:txBody>
      </p:sp>
      <p:sp>
        <p:nvSpPr>
          <p:cNvPr id="196" name="Google Shape;196;p19"/>
          <p:cNvSpPr txBox="1"/>
          <p:nvPr>
            <p:ph idx="1" type="body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/>
              <a:t>In definitiva: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/>
              <a:t>Il passo ricorsivo si ripete per raggiungere la soluzione e il passo base fornisce la </a:t>
            </a:r>
            <a:r>
              <a:rPr i="1" lang="it-IT"/>
              <a:t>condizione di terminazione</a:t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/>
              <a:t>Si determinano sempre due fasi:</a:t>
            </a:r>
            <a:endParaRPr/>
          </a:p>
          <a:p>
            <a:pPr indent="-182880" lvl="1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it-IT"/>
              <a:t>Espansione: la funzione richiama se stessa fino a raggiungere il passo base.</a:t>
            </a:r>
            <a:endParaRPr/>
          </a:p>
          <a:p>
            <a:pPr indent="-182880" lvl="1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it-IT"/>
              <a:t>“Sostituzione”: la soluzione viene ricostruita all’indietro partendo dal Passo Base.</a:t>
            </a:r>
            <a:endParaRPr/>
          </a:p>
          <a:p>
            <a:pPr indent="-55879" lvl="1" marL="4572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>
            <p:ph type="title"/>
          </p:nvPr>
        </p:nvSpPr>
        <p:spPr>
          <a:xfrm>
            <a:off x="457200" y="152725"/>
            <a:ext cx="8245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</a:pPr>
            <a:r>
              <a:rPr lang="it-IT"/>
              <a:t>FUNZIONI RICORSIVE: PROBLEMA</a:t>
            </a:r>
            <a:endParaRPr/>
          </a:p>
        </p:txBody>
      </p:sp>
      <p:sp>
        <p:nvSpPr>
          <p:cNvPr id="203" name="Google Shape;203;p20"/>
          <p:cNvSpPr txBox="1"/>
          <p:nvPr>
            <p:ph idx="1" type="body"/>
          </p:nvPr>
        </p:nvSpPr>
        <p:spPr>
          <a:xfrm>
            <a:off x="457200" y="1752600"/>
            <a:ext cx="7620000" cy="48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</a:pPr>
            <a:r>
              <a:rPr lang="it-IT" sz="1360"/>
              <a:t>Leggere sequenza di caratteri interrotte da “\n” e stampare invertite. </a:t>
            </a:r>
            <a:br>
              <a:rPr lang="it-IT" sz="1360"/>
            </a:br>
            <a:endParaRPr sz="1360"/>
          </a:p>
          <a:p>
            <a:pPr indent="0" lvl="0" marL="0" rtl="0" algn="l">
              <a:lnSpc>
                <a:spcPct val="80000"/>
              </a:lnSpc>
              <a:spcBef>
                <a:spcPts val="872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</a:pPr>
            <a:r>
              <a:rPr lang="it-IT" sz="1360"/>
              <a:t>Es. legge: “arco” e stampa “ocra”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72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</a:pPr>
            <a:r>
              <a:t/>
            </a:r>
            <a:endParaRPr sz="1360"/>
          </a:p>
          <a:p>
            <a:pPr indent="0" lvl="0" marL="0" rtl="0" algn="l">
              <a:lnSpc>
                <a:spcPct val="80000"/>
              </a:lnSpc>
              <a:spcBef>
                <a:spcPts val="872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</a:pPr>
            <a:r>
              <a:rPr lang="it-IT" sz="1360"/>
              <a:t>Problema: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72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</a:pPr>
            <a:r>
              <a:rPr lang="it-IT" sz="1360"/>
              <a:t>per invertire occorre prima memorizzare tutta le lettere 🡪 occorre una struttura per la memorizzazione, ovvero:</a:t>
            </a:r>
            <a:endParaRPr/>
          </a:p>
          <a:p>
            <a:pPr indent="-342899" lvl="1" marL="617220" rtl="0" algn="l">
              <a:lnSpc>
                <a:spcPct val="80000"/>
              </a:lnSpc>
              <a:spcBef>
                <a:spcPts val="872"/>
              </a:spcBef>
              <a:spcAft>
                <a:spcPts val="0"/>
              </a:spcAft>
              <a:buSzPts val="1360"/>
              <a:buFont typeface="Arial Black"/>
              <a:buAutoNum type="arabicPeriod"/>
            </a:pPr>
            <a:r>
              <a:rPr lang="it-IT" sz="1360"/>
              <a:t>Vettore </a:t>
            </a:r>
            <a:endParaRPr/>
          </a:p>
          <a:p>
            <a:pPr indent="-342899" lvl="1" marL="61722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SzPts val="1360"/>
              <a:buFont typeface="Arial Black"/>
              <a:buAutoNum type="arabicPeriod"/>
            </a:pPr>
            <a:r>
              <a:rPr lang="it-IT" sz="1360"/>
              <a:t>Sfruttare lo stack di RDA per stampare partendo dall’ultima lettera</a:t>
            </a:r>
            <a:endParaRPr sz="1360"/>
          </a:p>
          <a:p>
            <a:pPr indent="-256539" lvl="1" marL="61722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SzPts val="1360"/>
              <a:buFont typeface="Arial Black"/>
              <a:buNone/>
            </a:pPr>
            <a:r>
              <a:t/>
            </a:r>
            <a:endParaRPr sz="1360"/>
          </a:p>
          <a:p>
            <a:pPr indent="0" lvl="0" marL="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</a:pPr>
            <a:r>
              <a:rPr lang="it-IT" sz="1360"/>
              <a:t>Algoritmo:</a:t>
            </a:r>
            <a:endParaRPr/>
          </a:p>
          <a:p>
            <a:pPr indent="0" lvl="1" marL="274320" rtl="0" algn="l">
              <a:lnSpc>
                <a:spcPct val="80000"/>
              </a:lnSpc>
              <a:spcBef>
                <a:spcPts val="872"/>
              </a:spcBef>
              <a:spcAft>
                <a:spcPts val="0"/>
              </a:spcAft>
              <a:buSzPts val="1360"/>
              <a:buNone/>
            </a:pPr>
            <a:r>
              <a:rPr b="0" lang="it-IT" sz="1360"/>
              <a:t>leggi carattere i-esimo</a:t>
            </a:r>
            <a:endParaRPr/>
          </a:p>
          <a:p>
            <a:pPr indent="0" lvl="1" marL="27432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SzPts val="1360"/>
              <a:buNone/>
            </a:pPr>
            <a:r>
              <a:rPr b="0" lang="it-IT" sz="1360"/>
              <a:t>if carattere letto “\n” </a:t>
            </a:r>
            <a:endParaRPr/>
          </a:p>
          <a:p>
            <a:pPr indent="0" lvl="1" marL="27432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SzPts val="1360"/>
              <a:buNone/>
            </a:pPr>
            <a:r>
              <a:rPr b="0" lang="it-IT" sz="1360"/>
              <a:t>    fine</a:t>
            </a:r>
            <a:endParaRPr/>
          </a:p>
          <a:p>
            <a:pPr indent="0" lvl="1" marL="27432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SzPts val="1360"/>
              <a:buNone/>
            </a:pPr>
            <a:r>
              <a:rPr b="0" lang="it-IT" sz="1360"/>
              <a:t>else {</a:t>
            </a:r>
            <a:endParaRPr/>
          </a:p>
          <a:p>
            <a:pPr indent="0" lvl="1" marL="27432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SzPts val="1360"/>
              <a:buNone/>
            </a:pPr>
            <a:r>
              <a:rPr b="0" lang="it-IT" sz="1360"/>
              <a:t>    stampa il carattere i+1 ()</a:t>
            </a:r>
            <a:endParaRPr/>
          </a:p>
          <a:p>
            <a:pPr indent="0" lvl="1" marL="27432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SzPts val="1360"/>
              <a:buNone/>
            </a:pPr>
            <a:r>
              <a:rPr b="0" lang="it-IT" sz="1360"/>
              <a:t>    stampa corrente i-esimo</a:t>
            </a:r>
            <a:endParaRPr/>
          </a:p>
          <a:p>
            <a:pPr indent="0" lvl="1" marL="27432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SzPts val="1360"/>
              <a:buNone/>
            </a:pPr>
            <a:r>
              <a:rPr b="0" lang="it-IT" sz="1360"/>
              <a:t>}</a:t>
            </a:r>
            <a:endParaRPr b="0" sz="1360"/>
          </a:p>
          <a:p>
            <a:pPr indent="0" lvl="1" marL="27432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SzPts val="1360"/>
              <a:buNone/>
            </a:pPr>
            <a:r>
              <a:t/>
            </a:r>
            <a:endParaRPr sz="1360"/>
          </a:p>
          <a:p>
            <a:pPr indent="0" lvl="1" marL="27432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SzPts val="1360"/>
              <a:buNone/>
            </a:pPr>
            <a:r>
              <a:rPr lang="it-IT" sz="1360"/>
              <a:t>In questo caso l’istruzione di stampa è dopo la chiamata ricorsiva: in questo modo viene eseguita durante lo svuotamento dello stack. </a:t>
            </a:r>
            <a:endParaRPr sz="1360"/>
          </a:p>
          <a:p>
            <a:pPr indent="0" lvl="0" marL="0" rtl="0" algn="l">
              <a:lnSpc>
                <a:spcPct val="80000"/>
              </a:lnSpc>
              <a:spcBef>
                <a:spcPts val="272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</a:pPr>
            <a:r>
              <a:t/>
            </a:r>
            <a:endParaRPr b="1" sz="136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4" name="Google Shape;204;p20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</a:pPr>
            <a:r>
              <a:rPr lang="it-IT"/>
              <a:t>FUNZIONI RICORSIVE</a:t>
            </a:r>
            <a:endParaRPr/>
          </a:p>
        </p:txBody>
      </p:sp>
      <p:sp>
        <p:nvSpPr>
          <p:cNvPr id="211" name="Google Shape;211;p21"/>
          <p:cNvSpPr txBox="1"/>
          <p:nvPr>
            <p:ph idx="1" type="body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>
              <a:latin typeface="Courier"/>
              <a:ea typeface="Courier"/>
              <a:cs typeface="Courier"/>
              <a:sym typeface="Courier"/>
            </a:endParaRPr>
          </a:p>
          <a:p>
            <a:pPr indent="-241299" lvl="1" marL="61722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 Black"/>
              <a:buNone/>
            </a:pPr>
            <a:r>
              <a:t/>
            </a:r>
            <a:endParaRPr b="1"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/>
              <a:t>Altri Esempi: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SzPts val="1400"/>
              <a:buNone/>
            </a:pPr>
            <a:r>
              <a:rPr b="1" lang="it-IT" sz="1400"/>
              <a:t>Numeri di Fibonacci (modello di crescita di animali in parecchie generazioni) ,</a:t>
            </a:r>
            <a:endParaRPr/>
          </a:p>
          <a:p>
            <a:pPr indent="-342900" lvl="2" marL="1303020" rtl="0" algn="l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SzPts val="1400"/>
              <a:buFont typeface="Arial Black"/>
              <a:buAutoNum type="arabicPeriod"/>
            </a:pPr>
            <a:r>
              <a:rPr b="1" lang="it-IT" sz="1400">
                <a:latin typeface="Courier"/>
                <a:ea typeface="Courier"/>
                <a:cs typeface="Courier"/>
                <a:sym typeface="Courier"/>
              </a:rPr>
              <a:t>f 0 = 0 	(passo base)</a:t>
            </a:r>
            <a:endParaRPr/>
          </a:p>
          <a:p>
            <a:pPr indent="-342900" lvl="2" marL="130302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 Black"/>
              <a:buAutoNum type="arabicPeriod"/>
            </a:pPr>
            <a:r>
              <a:rPr b="1" lang="it-IT" sz="1400">
                <a:latin typeface="Courier"/>
                <a:ea typeface="Courier"/>
                <a:cs typeface="Courier"/>
                <a:sym typeface="Courier"/>
              </a:rPr>
              <a:t>f 1 = 1 	(passo base)</a:t>
            </a:r>
            <a:endParaRPr/>
          </a:p>
          <a:p>
            <a:pPr indent="-342900" lvl="2" marL="130302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 Black"/>
              <a:buAutoNum type="arabicPeriod"/>
            </a:pPr>
            <a:r>
              <a:rPr b="1" lang="it-IT" sz="1400">
                <a:latin typeface="Courier"/>
                <a:ea typeface="Courier"/>
                <a:cs typeface="Courier"/>
                <a:sym typeface="Courier"/>
              </a:rPr>
              <a:t>Per n &gt; 1, f(n) = f(n–1) + f(n–2)  (passo ricorsivo)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-IT" sz="1400"/>
              <a:t>Massimo comune divisore, MCD(m, n) di due numeri m ed n in base all’algoritmo di Euclide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SzPts val="1400"/>
              <a:buFont typeface="Arial Black"/>
              <a:buAutoNum type="arabicPeriod"/>
            </a:pPr>
            <a:r>
              <a:rPr b="1" lang="it-IT" sz="1400">
                <a:latin typeface="Courier"/>
                <a:ea typeface="Courier"/>
                <a:cs typeface="Courier"/>
                <a:sym typeface="Courier"/>
              </a:rPr>
              <a:t> se m = n, MCD(m, n) = m 		(passo base)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 Black"/>
              <a:buAutoNum type="arabicPeriod"/>
            </a:pPr>
            <a:r>
              <a:rPr b="1" lang="it-IT" sz="1400">
                <a:latin typeface="Courier"/>
                <a:ea typeface="Courier"/>
                <a:cs typeface="Courier"/>
                <a:sym typeface="Courier"/>
              </a:rPr>
              <a:t> se m &gt; n, MCD(m, n) = MCD(m-n, n) 	(</a:t>
            </a:r>
            <a:r>
              <a:rPr b="1" lang="it-IT" sz="1400">
                <a:latin typeface="Courier"/>
                <a:ea typeface="Courier"/>
                <a:cs typeface="Courier"/>
                <a:sym typeface="Courier"/>
              </a:rPr>
              <a:t>passo</a:t>
            </a:r>
            <a:r>
              <a:rPr b="1" lang="it-IT" sz="1400">
                <a:latin typeface="Courier"/>
                <a:ea typeface="Courier"/>
                <a:cs typeface="Courier"/>
                <a:sym typeface="Courier"/>
              </a:rPr>
              <a:t> ricorsivo)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 Black"/>
              <a:buAutoNum type="arabicPeriod"/>
            </a:pPr>
            <a:r>
              <a:rPr b="1" lang="it-IT" sz="1400">
                <a:latin typeface="Courier"/>
                <a:ea typeface="Courier"/>
                <a:cs typeface="Courier"/>
                <a:sym typeface="Courier"/>
              </a:rPr>
              <a:t> se m &lt; n MCD(m, n) = MCD(m, n-m) 	(</a:t>
            </a:r>
            <a:r>
              <a:rPr b="1" lang="it-IT" sz="1400">
                <a:latin typeface="Courier"/>
                <a:ea typeface="Courier"/>
                <a:cs typeface="Courier"/>
                <a:sym typeface="Courier"/>
              </a:rPr>
              <a:t>passo</a:t>
            </a:r>
            <a:r>
              <a:rPr b="1" lang="it-IT" sz="1400">
                <a:latin typeface="Courier"/>
                <a:ea typeface="Courier"/>
                <a:cs typeface="Courier"/>
                <a:sym typeface="Courier"/>
              </a:rPr>
              <a:t> ricorsivo)</a:t>
            </a:r>
            <a:endParaRPr/>
          </a:p>
          <a:p>
            <a:pPr indent="-1397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 Black"/>
              <a:buNone/>
            </a:pPr>
            <a:r>
              <a:t/>
            </a:r>
            <a:endParaRPr b="1" sz="1400">
              <a:latin typeface="Courier"/>
              <a:ea typeface="Courier"/>
              <a:cs typeface="Courier"/>
              <a:sym typeface="Courier"/>
            </a:endParaRPr>
          </a:p>
          <a:p>
            <a:pPr indent="0" lvl="2" marL="9144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b="0" lang="it-IT" sz="1400">
                <a:latin typeface="Courier"/>
                <a:ea typeface="Courier"/>
                <a:cs typeface="Courier"/>
                <a:sym typeface="Courier"/>
              </a:rPr>
              <a:t>(infatti se m &gt; n divisori comuni a m e n coincidono con divisori comuni a m − n e n)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2" name="Google Shape;212;p21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457200" y="152718"/>
            <a:ext cx="800323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</a:pPr>
            <a:r>
              <a:rPr lang="it-IT"/>
              <a:t>FUNZIONI RICORSIVE: SFIDA!</a:t>
            </a:r>
            <a:endParaRPr/>
          </a:p>
        </p:txBody>
      </p:sp>
      <p:sp>
        <p:nvSpPr>
          <p:cNvPr id="219" name="Google Shape;219;p22"/>
          <p:cNvSpPr txBox="1"/>
          <p:nvPr>
            <p:ph idx="1" type="body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20" name="Google Shape;220;p22"/>
          <p:cNvPicPr preferRelativeResize="0"/>
          <p:nvPr/>
        </p:nvPicPr>
        <p:blipFill rotWithShape="1">
          <a:blip r:embed="rId3">
            <a:alphaModFix/>
          </a:blip>
          <a:srcRect b="10834" l="13019" r="16667" t="19833"/>
          <a:stretch/>
        </p:blipFill>
        <p:spPr>
          <a:xfrm>
            <a:off x="395536" y="1438320"/>
            <a:ext cx="7727533" cy="47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>
            <p:ph idx="12" type="sldNum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Esercizi ricorsione</a:t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457200" y="1453850"/>
            <a:ext cx="6330600" cy="53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Stampa di numeri naturali fino a N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Stampa la somma dei numeri fino a N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Stampa la somma delle cifre di un numero intero N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Stampa la conversione in base 2 di N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Stampa un array di interi di dimensione dim al contrario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Verifica se gli elementi di un array sono tutti dispari (1) o meno (0)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Trova il minimo in un array di dimensione dim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Verifica se una stringa è palindroma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Ricerca dicotomica in un array ordinato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Data una stringa generare tutti i possibili anagrammi (anche senza senso), anche dette permutazioni.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Calcolo del determinante di una Matrice di dimensione N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-IT" sz="1400"/>
              <a:t>Risoluzione di labirinti di dimensione NxN: si parte da (0,0) e si esce da (n-1, n-1), i muri interni sono ‘#’.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it-IT" sz="1400" u="sng">
                <a:solidFill>
                  <a:schemeClr val="hlink"/>
                </a:solidFill>
                <a:hlinkClick r:id="rId3"/>
              </a:rPr>
              <a:t>qui</a:t>
            </a:r>
            <a:r>
              <a:rPr lang="it-IT" sz="1400"/>
              <a:t> per ottenere un labirinto (da salvare in una matrice)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it-IT" sz="1400" u="sng">
                <a:solidFill>
                  <a:schemeClr val="hlink"/>
                </a:solidFill>
                <a:hlinkClick r:id="rId4"/>
              </a:rPr>
              <a:t>qui</a:t>
            </a:r>
            <a:r>
              <a:rPr lang="it-IT" sz="1400"/>
              <a:t> per imparare a generarli</a:t>
            </a:r>
            <a:endParaRPr sz="1400"/>
          </a:p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 rot="-5400000">
            <a:off x="8227325" y="5885470"/>
            <a:ext cx="131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7290000" y="1545075"/>
            <a:ext cx="542100" cy="4518300"/>
          </a:xfrm>
          <a:prstGeom prst="downArrow">
            <a:avLst>
              <a:gd fmla="val 37022" name="adj1"/>
              <a:gd fmla="val 50000" name="adj2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Tail Recursion</a:t>
            </a:r>
            <a:endParaRPr/>
          </a:p>
        </p:txBody>
      </p:sp>
      <p:sp>
        <p:nvSpPr>
          <p:cNvPr id="237" name="Google Shape;237;p24"/>
          <p:cNvSpPr txBox="1"/>
          <p:nvPr>
            <p:ph idx="1" type="body"/>
          </p:nvPr>
        </p:nvSpPr>
        <p:spPr>
          <a:xfrm>
            <a:off x="457200" y="1752600"/>
            <a:ext cx="7620000" cy="477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// An example of tail recursive function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void print(int n)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	if (n &lt; 0) return;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	cout &lt;&lt; " " &lt;&lt; n;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	print(n-1); </a:t>
            </a:r>
            <a:r>
              <a:rPr lang="it-IT" sz="1400">
                <a:latin typeface="Courier New"/>
                <a:ea typeface="Courier New"/>
                <a:cs typeface="Courier New"/>
                <a:sym typeface="Courier New"/>
              </a:rPr>
              <a:t>// The last statement is recursive call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/>
              <a:t>Quando possibile è preferibile lasciare la chiamata ricorsiva come ultima istruzione: in tal caso il compilatore può operare un ottimizzazione. Visto che la chiamata non ha esigenza di ‘rientrare’, non occorre salvare l’RDA nello Stack.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 txBox="1"/>
          <p:nvPr>
            <p:ph idx="12" type="sldNum"/>
          </p:nvPr>
        </p:nvSpPr>
        <p:spPr>
          <a:xfrm rot="-5400000">
            <a:off x="8227325" y="5885470"/>
            <a:ext cx="131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457200" y="152725"/>
            <a:ext cx="7464000" cy="1371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Ricorsione e BackTracking</a:t>
            </a:r>
            <a:endParaRPr/>
          </a:p>
        </p:txBody>
      </p:sp>
      <p:sp>
        <p:nvSpPr>
          <p:cNvPr id="245" name="Google Shape;245;p25"/>
          <p:cNvSpPr txBox="1"/>
          <p:nvPr>
            <p:ph idx="1" type="body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rPr lang="it-IT"/>
              <a:t>Consideriamo </a:t>
            </a:r>
            <a:r>
              <a:rPr lang="it-IT"/>
              <a:t>la sequenza di chiamate di </a:t>
            </a:r>
            <a:r>
              <a:rPr lang="it-IT"/>
              <a:t>Fibonacci ricorsivo  è</a:t>
            </a:r>
            <a:endParaRPr/>
          </a:p>
        </p:txBody>
      </p:sp>
      <p:sp>
        <p:nvSpPr>
          <p:cNvPr id="246" name="Google Shape;246;p25"/>
          <p:cNvSpPr txBox="1"/>
          <p:nvPr>
            <p:ph idx="12" type="sldNum"/>
          </p:nvPr>
        </p:nvSpPr>
        <p:spPr>
          <a:xfrm rot="-5400000">
            <a:off x="8227325" y="5885470"/>
            <a:ext cx="131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25" y="2507250"/>
            <a:ext cx="6346050" cy="23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457200" y="5053950"/>
            <a:ext cx="6822300" cy="1371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0" lang="it-IT" sz="1800"/>
              <a:t>E’ chiaro che già f(6) richiede l’allocazione di 24 RDA e f(7) ne alloca 40. SI capisce che già f(100) potrebbe causare uno stack overflow con migliaia di chiamate.</a:t>
            </a:r>
            <a:endParaRPr b="0" sz="1800"/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sz="1800"/>
          </a:p>
        </p:txBody>
      </p:sp>
      <p:graphicFrame>
        <p:nvGraphicFramePr>
          <p:cNvPr id="249" name="Google Shape;249;p25"/>
          <p:cNvGraphicFramePr/>
          <p:nvPr/>
        </p:nvGraphicFramePr>
        <p:xfrm>
          <a:off x="7349300" y="222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{C3E4A3E7-D269-41F1-95C9-ACD175210182}</a:tableStyleId>
              </a:tblPr>
              <a:tblGrid>
                <a:gridCol w="615000"/>
                <a:gridCol w="805225"/>
              </a:tblGrid>
              <a:tr h="30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#RDA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2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3</a:t>
                      </a:r>
                      <a:endParaRPr b="1" sz="1200"/>
                    </a:p>
                  </a:txBody>
                  <a:tcPr marT="18000" marB="18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4</a:t>
                      </a:r>
                      <a:endParaRPr b="1" sz="1200"/>
                    </a:p>
                  </a:txBody>
                  <a:tcPr marT="18000" marB="18000" marR="54000" marL="54000"/>
                </a:tc>
              </a:tr>
              <a:tr h="32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4</a:t>
                      </a:r>
                      <a:endParaRPr b="1" sz="1200"/>
                    </a:p>
                  </a:txBody>
                  <a:tcPr marT="18000" marB="18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8</a:t>
                      </a:r>
                      <a:endParaRPr b="1" sz="1200"/>
                    </a:p>
                  </a:txBody>
                  <a:tcPr marT="18000" marB="18000" marR="54000" marL="54000"/>
                </a:tc>
              </a:tr>
              <a:tr h="32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5</a:t>
                      </a:r>
                      <a:endParaRPr b="1" sz="1200"/>
                    </a:p>
                  </a:txBody>
                  <a:tcPr marT="18000" marB="18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14</a:t>
                      </a:r>
                      <a:endParaRPr b="1" sz="1200"/>
                    </a:p>
                  </a:txBody>
                  <a:tcPr marT="18000" marB="18000" marR="54000" marL="54000"/>
                </a:tc>
              </a:tr>
              <a:tr h="32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6</a:t>
                      </a:r>
                      <a:endParaRPr b="1" sz="1200"/>
                    </a:p>
                  </a:txBody>
                  <a:tcPr marT="18000" marB="18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24</a:t>
                      </a:r>
                      <a:endParaRPr b="1" sz="1200"/>
                    </a:p>
                  </a:txBody>
                  <a:tcPr marT="18000" marB="18000" marR="54000" marL="54000"/>
                </a:tc>
              </a:tr>
              <a:tr h="32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7</a:t>
                      </a:r>
                      <a:endParaRPr b="1" sz="1200"/>
                    </a:p>
                  </a:txBody>
                  <a:tcPr marT="18000" marB="18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40</a:t>
                      </a:r>
                      <a:endParaRPr b="1" sz="1200"/>
                    </a:p>
                  </a:txBody>
                  <a:tcPr marT="18000" marB="18000" marR="54000" marL="54000"/>
                </a:tc>
              </a:tr>
              <a:tr h="32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8</a:t>
                      </a:r>
                      <a:endParaRPr b="1" sz="1200"/>
                    </a:p>
                  </a:txBody>
                  <a:tcPr marT="18000" marB="18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66</a:t>
                      </a:r>
                      <a:endParaRPr b="1" sz="1200"/>
                    </a:p>
                  </a:txBody>
                  <a:tcPr marT="18000" marB="18000" marR="54000" marL="54000"/>
                </a:tc>
              </a:tr>
              <a:tr h="32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9</a:t>
                      </a:r>
                      <a:endParaRPr b="1" sz="1200"/>
                    </a:p>
                  </a:txBody>
                  <a:tcPr marT="18000" marB="18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108</a:t>
                      </a:r>
                      <a:endParaRPr b="1" sz="1200"/>
                    </a:p>
                  </a:txBody>
                  <a:tcPr marT="18000" marB="18000" marR="54000" marL="54000"/>
                </a:tc>
              </a:tr>
              <a:tr h="32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10</a:t>
                      </a:r>
                      <a:endParaRPr b="1" sz="1200"/>
                    </a:p>
                  </a:txBody>
                  <a:tcPr marT="18000" marB="18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176</a:t>
                      </a:r>
                      <a:endParaRPr b="1" sz="1200"/>
                    </a:p>
                  </a:txBody>
                  <a:tcPr marT="18000" marB="18000" marR="54000" marL="5400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>
            <p:ph type="title"/>
          </p:nvPr>
        </p:nvSpPr>
        <p:spPr>
          <a:xfrm>
            <a:off x="457200" y="152725"/>
            <a:ext cx="7464000" cy="1371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Ricorsione e BackTracking</a:t>
            </a:r>
            <a:endParaRPr/>
          </a:p>
        </p:txBody>
      </p:sp>
      <p:sp>
        <p:nvSpPr>
          <p:cNvPr id="256" name="Google Shape;256;p26"/>
          <p:cNvSpPr txBox="1"/>
          <p:nvPr>
            <p:ph idx="12" type="sldNum"/>
          </p:nvPr>
        </p:nvSpPr>
        <p:spPr>
          <a:xfrm rot="-5400000">
            <a:off x="8227325" y="5885470"/>
            <a:ext cx="131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7" name="Google Shape;257;p26"/>
          <p:cNvSpPr txBox="1"/>
          <p:nvPr>
            <p:ph idx="1" type="body"/>
          </p:nvPr>
        </p:nvSpPr>
        <p:spPr>
          <a:xfrm>
            <a:off x="457200" y="1923825"/>
            <a:ext cx="7620000" cy="450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it-IT" sz="1800"/>
              <a:t>Il motivo di tale inefficienza è duplice:</a:t>
            </a:r>
            <a:endParaRPr b="0"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b="0" lang="it-IT" sz="1800"/>
              <a:t>Ad ogni passo ricorsivo si effettuano 2 chiamate: f(n-1) e f(n-2)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0" lang="it-IT" sz="1800"/>
              <a:t>Gran parte delle chiamate sono calcolate più volte: ad esempio, per calcolare f(6), f(1) è invocata 7 volte.</a:t>
            </a:r>
            <a:endParaRPr b="0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it-IT" sz="1800"/>
              <a:t>Possiamo migliorare le cose:</a:t>
            </a:r>
            <a:endParaRPr b="0"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b="0" lang="it-IT" sz="1800"/>
              <a:t>Evitando chiamate multiple nel passo ricorsivo (in questo caso inevitabile)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0" lang="it-IT" sz="1800"/>
              <a:t>Memorizzando un passo precedente in memoria, per evitare di ricalcolarlo in future chiamate (</a:t>
            </a:r>
            <a:r>
              <a:rPr lang="it-IT" sz="1800"/>
              <a:t>backtracking</a:t>
            </a:r>
            <a:r>
              <a:rPr b="0" lang="it-IT" sz="1800"/>
              <a:t>)</a:t>
            </a:r>
            <a:endParaRPr b="0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>
            <p:ph type="title"/>
          </p:nvPr>
        </p:nvSpPr>
        <p:spPr>
          <a:xfrm>
            <a:off x="457200" y="152725"/>
            <a:ext cx="7464000" cy="1371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Ricorsione e BackTracking</a:t>
            </a:r>
            <a:endParaRPr/>
          </a:p>
        </p:txBody>
      </p:sp>
      <p:sp>
        <p:nvSpPr>
          <p:cNvPr id="264" name="Google Shape;264;p27"/>
          <p:cNvSpPr txBox="1"/>
          <p:nvPr>
            <p:ph idx="12" type="sldNum"/>
          </p:nvPr>
        </p:nvSpPr>
        <p:spPr>
          <a:xfrm rot="-5400000">
            <a:off x="8227325" y="5885470"/>
            <a:ext cx="131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5" name="Google Shape;265;p27"/>
          <p:cNvSpPr txBox="1"/>
          <p:nvPr>
            <p:ph idx="1" type="body"/>
          </p:nvPr>
        </p:nvSpPr>
        <p:spPr>
          <a:xfrm>
            <a:off x="457200" y="1923825"/>
            <a:ext cx="7620000" cy="450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int f[MAX] = {0,1};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int fibo(int n) 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		if(n==0) return 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		if(n==1) return 1;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		if(f[n])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			return f[n];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        f[n] = fib(n-1) + fib(n-2);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        return f[n];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8"/>
          <p:cNvSpPr txBox="1"/>
          <p:nvPr>
            <p:ph idx="1" type="body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 txBox="1"/>
          <p:nvPr>
            <p:ph idx="12" type="sldNum"/>
          </p:nvPr>
        </p:nvSpPr>
        <p:spPr>
          <a:xfrm rot="-5400000">
            <a:off x="8227325" y="5885470"/>
            <a:ext cx="131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ssenziale">
  <a:themeElements>
    <a:clrScheme name="Essenziale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